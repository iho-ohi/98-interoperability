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59" r:id="rId5"/>
    <p:sldId id="269" r:id="rId6"/>
    <p:sldId id="262" r:id="rId7"/>
    <p:sldId id="272" r:id="rId8"/>
    <p:sldId id="261" r:id="rId9"/>
    <p:sldId id="271" r:id="rId10"/>
    <p:sldId id="264" r:id="rId11"/>
    <p:sldId id="265" r:id="rId12"/>
    <p:sldId id="258" r:id="rId13"/>
    <p:sldId id="263" r:id="rId14"/>
    <p:sldId id="266" r:id="rId15"/>
    <p:sldId id="267" r:id="rId16"/>
    <p:sldId id="268"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D0986-902F-8155-4F71-493EC6D8AD3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84D98E0E-C1C8-D801-AF31-EB1FD35F70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1BE0A887-EFC9-9F54-0950-94BC09D87CCA}"/>
              </a:ext>
            </a:extLst>
          </p:cNvPr>
          <p:cNvSpPr>
            <a:spLocks noGrp="1"/>
          </p:cNvSpPr>
          <p:nvPr>
            <p:ph type="dt" sz="half" idx="10"/>
          </p:nvPr>
        </p:nvSpPr>
        <p:spPr/>
        <p:txBody>
          <a:bodyPr/>
          <a:lstStyle/>
          <a:p>
            <a:fld id="{BE0EAED6-DB4D-B34C-BD0B-96FD7D67882E}" type="datetimeFigureOut">
              <a:rPr lang="en-GB" smtClean="0"/>
              <a:t>08/07/2026</a:t>
            </a:fld>
            <a:endParaRPr lang="en-GB"/>
          </a:p>
        </p:txBody>
      </p:sp>
      <p:sp>
        <p:nvSpPr>
          <p:cNvPr id="5" name="Footer Placeholder 4">
            <a:extLst>
              <a:ext uri="{FF2B5EF4-FFF2-40B4-BE49-F238E27FC236}">
                <a16:creationId xmlns:a16="http://schemas.microsoft.com/office/drawing/2014/main" id="{E92AAC6F-7301-89E6-60F6-5F99BAAA131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D8314F6-9A71-BA4D-A509-B7F329CEE2EE}"/>
              </a:ext>
            </a:extLst>
          </p:cNvPr>
          <p:cNvSpPr>
            <a:spLocks noGrp="1"/>
          </p:cNvSpPr>
          <p:nvPr>
            <p:ph type="sldNum" sz="quarter" idx="12"/>
          </p:nvPr>
        </p:nvSpPr>
        <p:spPr/>
        <p:txBody>
          <a:bodyPr/>
          <a:lstStyle/>
          <a:p>
            <a:fld id="{626DD37B-7AE2-634A-A47A-4C54E787DEDD}" type="slidenum">
              <a:rPr lang="en-GB" smtClean="0"/>
              <a:t>‹#›</a:t>
            </a:fld>
            <a:endParaRPr lang="en-GB"/>
          </a:p>
        </p:txBody>
      </p:sp>
    </p:spTree>
    <p:extLst>
      <p:ext uri="{BB962C8B-B14F-4D97-AF65-F5344CB8AC3E}">
        <p14:creationId xmlns:p14="http://schemas.microsoft.com/office/powerpoint/2010/main" val="4286793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6DD47-1A59-94DA-ACBC-5BBA7DBFD2E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B9F2BF8-FD25-6B1A-8862-A6353BD1607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6A38F69-EA2D-FFE9-7C87-A5B573965AE5}"/>
              </a:ext>
            </a:extLst>
          </p:cNvPr>
          <p:cNvSpPr>
            <a:spLocks noGrp="1"/>
          </p:cNvSpPr>
          <p:nvPr>
            <p:ph type="dt" sz="half" idx="10"/>
          </p:nvPr>
        </p:nvSpPr>
        <p:spPr/>
        <p:txBody>
          <a:bodyPr/>
          <a:lstStyle/>
          <a:p>
            <a:fld id="{BE0EAED6-DB4D-B34C-BD0B-96FD7D67882E}" type="datetimeFigureOut">
              <a:rPr lang="en-GB" smtClean="0"/>
              <a:t>08/07/2026</a:t>
            </a:fld>
            <a:endParaRPr lang="en-GB"/>
          </a:p>
        </p:txBody>
      </p:sp>
      <p:sp>
        <p:nvSpPr>
          <p:cNvPr id="5" name="Footer Placeholder 4">
            <a:extLst>
              <a:ext uri="{FF2B5EF4-FFF2-40B4-BE49-F238E27FC236}">
                <a16:creationId xmlns:a16="http://schemas.microsoft.com/office/drawing/2014/main" id="{E84A889A-6F07-628D-EFFA-DDE58BA289C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EA34DDA-05D1-9EFA-BC2C-5E2D14519BC6}"/>
              </a:ext>
            </a:extLst>
          </p:cNvPr>
          <p:cNvSpPr>
            <a:spLocks noGrp="1"/>
          </p:cNvSpPr>
          <p:nvPr>
            <p:ph type="sldNum" sz="quarter" idx="12"/>
          </p:nvPr>
        </p:nvSpPr>
        <p:spPr/>
        <p:txBody>
          <a:bodyPr/>
          <a:lstStyle/>
          <a:p>
            <a:fld id="{626DD37B-7AE2-634A-A47A-4C54E787DEDD}" type="slidenum">
              <a:rPr lang="en-GB" smtClean="0"/>
              <a:t>‹#›</a:t>
            </a:fld>
            <a:endParaRPr lang="en-GB"/>
          </a:p>
        </p:txBody>
      </p:sp>
    </p:spTree>
    <p:extLst>
      <p:ext uri="{BB962C8B-B14F-4D97-AF65-F5344CB8AC3E}">
        <p14:creationId xmlns:p14="http://schemas.microsoft.com/office/powerpoint/2010/main" val="636650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5621F-347C-9B8D-0198-C6C3DF660B6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8422B2B6-687A-5DC4-3A5D-B8F73A1011F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628140A-2563-D1B2-66AF-F84B3F729054}"/>
              </a:ext>
            </a:extLst>
          </p:cNvPr>
          <p:cNvSpPr>
            <a:spLocks noGrp="1"/>
          </p:cNvSpPr>
          <p:nvPr>
            <p:ph type="dt" sz="half" idx="10"/>
          </p:nvPr>
        </p:nvSpPr>
        <p:spPr/>
        <p:txBody>
          <a:bodyPr/>
          <a:lstStyle/>
          <a:p>
            <a:fld id="{BE0EAED6-DB4D-B34C-BD0B-96FD7D67882E}" type="datetimeFigureOut">
              <a:rPr lang="en-GB" smtClean="0"/>
              <a:t>08/07/2026</a:t>
            </a:fld>
            <a:endParaRPr lang="en-GB"/>
          </a:p>
        </p:txBody>
      </p:sp>
      <p:sp>
        <p:nvSpPr>
          <p:cNvPr id="5" name="Footer Placeholder 4">
            <a:extLst>
              <a:ext uri="{FF2B5EF4-FFF2-40B4-BE49-F238E27FC236}">
                <a16:creationId xmlns:a16="http://schemas.microsoft.com/office/drawing/2014/main" id="{2CBBAB0A-26A2-FD3E-51C1-5A061BA4750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6AD2FA3-484C-78A5-4D05-7E929CA5C6D3}"/>
              </a:ext>
            </a:extLst>
          </p:cNvPr>
          <p:cNvSpPr>
            <a:spLocks noGrp="1"/>
          </p:cNvSpPr>
          <p:nvPr>
            <p:ph type="sldNum" sz="quarter" idx="12"/>
          </p:nvPr>
        </p:nvSpPr>
        <p:spPr/>
        <p:txBody>
          <a:bodyPr/>
          <a:lstStyle/>
          <a:p>
            <a:fld id="{626DD37B-7AE2-634A-A47A-4C54E787DEDD}" type="slidenum">
              <a:rPr lang="en-GB" smtClean="0"/>
              <a:t>‹#›</a:t>
            </a:fld>
            <a:endParaRPr lang="en-GB"/>
          </a:p>
        </p:txBody>
      </p:sp>
    </p:spTree>
    <p:extLst>
      <p:ext uri="{BB962C8B-B14F-4D97-AF65-F5344CB8AC3E}">
        <p14:creationId xmlns:p14="http://schemas.microsoft.com/office/powerpoint/2010/main" val="2311605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24D5-1BDB-88BE-E202-1C73F69FBC9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2EF3C71-F802-F36F-344D-FBFEB294288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2BCFB077-FC0A-2E6C-11B6-F8C58D719D1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FA4B7E60-5734-B356-9AC7-70398065AF88}"/>
              </a:ext>
            </a:extLst>
          </p:cNvPr>
          <p:cNvSpPr>
            <a:spLocks noGrp="1"/>
          </p:cNvSpPr>
          <p:nvPr>
            <p:ph type="dt" sz="half" idx="10"/>
          </p:nvPr>
        </p:nvSpPr>
        <p:spPr/>
        <p:txBody>
          <a:bodyPr/>
          <a:lstStyle/>
          <a:p>
            <a:fld id="{BE0EAED6-DB4D-B34C-BD0B-96FD7D67882E}" type="datetimeFigureOut">
              <a:rPr lang="en-GB" smtClean="0"/>
              <a:t>08/07/2026</a:t>
            </a:fld>
            <a:endParaRPr lang="en-GB"/>
          </a:p>
        </p:txBody>
      </p:sp>
      <p:sp>
        <p:nvSpPr>
          <p:cNvPr id="6" name="Footer Placeholder 5">
            <a:extLst>
              <a:ext uri="{FF2B5EF4-FFF2-40B4-BE49-F238E27FC236}">
                <a16:creationId xmlns:a16="http://schemas.microsoft.com/office/drawing/2014/main" id="{8D39AE9E-EF5D-242C-126F-B51F50EE5EC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41B2817-E0B7-BB70-4C48-386FBAFA3692}"/>
              </a:ext>
            </a:extLst>
          </p:cNvPr>
          <p:cNvSpPr>
            <a:spLocks noGrp="1"/>
          </p:cNvSpPr>
          <p:nvPr>
            <p:ph type="sldNum" sz="quarter" idx="12"/>
          </p:nvPr>
        </p:nvSpPr>
        <p:spPr/>
        <p:txBody>
          <a:bodyPr/>
          <a:lstStyle/>
          <a:p>
            <a:fld id="{626DD37B-7AE2-634A-A47A-4C54E787DEDD}" type="slidenum">
              <a:rPr lang="en-GB" smtClean="0"/>
              <a:t>‹#›</a:t>
            </a:fld>
            <a:endParaRPr lang="en-GB"/>
          </a:p>
        </p:txBody>
      </p:sp>
    </p:spTree>
    <p:extLst>
      <p:ext uri="{BB962C8B-B14F-4D97-AF65-F5344CB8AC3E}">
        <p14:creationId xmlns:p14="http://schemas.microsoft.com/office/powerpoint/2010/main" val="3133590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21BC7-B2F9-2A7D-420D-3480A4C3EA36}"/>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50767C78-BC3D-C928-EA36-ADA741BB73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4108422-B57A-C1E6-5449-A5C3865F52E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9203B377-1C7A-BD34-D04E-748E5EAC14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9125A1A-D149-EF84-998D-8FD225BD042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521AC033-4632-C26D-7503-908CDFAACAD3}"/>
              </a:ext>
            </a:extLst>
          </p:cNvPr>
          <p:cNvSpPr>
            <a:spLocks noGrp="1"/>
          </p:cNvSpPr>
          <p:nvPr>
            <p:ph type="dt" sz="half" idx="10"/>
          </p:nvPr>
        </p:nvSpPr>
        <p:spPr/>
        <p:txBody>
          <a:bodyPr/>
          <a:lstStyle/>
          <a:p>
            <a:fld id="{BE0EAED6-DB4D-B34C-BD0B-96FD7D67882E}" type="datetimeFigureOut">
              <a:rPr lang="en-GB" smtClean="0"/>
              <a:t>08/07/2026</a:t>
            </a:fld>
            <a:endParaRPr lang="en-GB"/>
          </a:p>
        </p:txBody>
      </p:sp>
      <p:sp>
        <p:nvSpPr>
          <p:cNvPr id="8" name="Footer Placeholder 7">
            <a:extLst>
              <a:ext uri="{FF2B5EF4-FFF2-40B4-BE49-F238E27FC236}">
                <a16:creationId xmlns:a16="http://schemas.microsoft.com/office/drawing/2014/main" id="{2E3ACD65-A03F-14CB-C8CC-7E545843AF8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033CA50-B3E5-4485-3DE2-96CCB654BB3D}"/>
              </a:ext>
            </a:extLst>
          </p:cNvPr>
          <p:cNvSpPr>
            <a:spLocks noGrp="1"/>
          </p:cNvSpPr>
          <p:nvPr>
            <p:ph type="sldNum" sz="quarter" idx="12"/>
          </p:nvPr>
        </p:nvSpPr>
        <p:spPr/>
        <p:txBody>
          <a:bodyPr/>
          <a:lstStyle/>
          <a:p>
            <a:fld id="{626DD37B-7AE2-634A-A47A-4C54E787DEDD}" type="slidenum">
              <a:rPr lang="en-GB" smtClean="0"/>
              <a:t>‹#›</a:t>
            </a:fld>
            <a:endParaRPr lang="en-GB"/>
          </a:p>
        </p:txBody>
      </p:sp>
    </p:spTree>
    <p:extLst>
      <p:ext uri="{BB962C8B-B14F-4D97-AF65-F5344CB8AC3E}">
        <p14:creationId xmlns:p14="http://schemas.microsoft.com/office/powerpoint/2010/main" val="2648143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C5EAE-6F2E-8171-9487-E65903F035B0}"/>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D45DFC6B-878E-87B3-B2B8-48DD6EC5E7F3}"/>
              </a:ext>
            </a:extLst>
          </p:cNvPr>
          <p:cNvSpPr>
            <a:spLocks noGrp="1"/>
          </p:cNvSpPr>
          <p:nvPr>
            <p:ph type="dt" sz="half" idx="10"/>
          </p:nvPr>
        </p:nvSpPr>
        <p:spPr/>
        <p:txBody>
          <a:bodyPr/>
          <a:lstStyle/>
          <a:p>
            <a:fld id="{BE0EAED6-DB4D-B34C-BD0B-96FD7D67882E}" type="datetimeFigureOut">
              <a:rPr lang="en-GB" smtClean="0"/>
              <a:t>08/07/2026</a:t>
            </a:fld>
            <a:endParaRPr lang="en-GB"/>
          </a:p>
        </p:txBody>
      </p:sp>
      <p:sp>
        <p:nvSpPr>
          <p:cNvPr id="4" name="Footer Placeholder 3">
            <a:extLst>
              <a:ext uri="{FF2B5EF4-FFF2-40B4-BE49-F238E27FC236}">
                <a16:creationId xmlns:a16="http://schemas.microsoft.com/office/drawing/2014/main" id="{23B1F8C0-B4F5-C60A-628D-CCB33BB4A80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0123E64-4EA1-227F-75EC-95DCCE6286F1}"/>
              </a:ext>
            </a:extLst>
          </p:cNvPr>
          <p:cNvSpPr>
            <a:spLocks noGrp="1"/>
          </p:cNvSpPr>
          <p:nvPr>
            <p:ph type="sldNum" sz="quarter" idx="12"/>
          </p:nvPr>
        </p:nvSpPr>
        <p:spPr/>
        <p:txBody>
          <a:bodyPr/>
          <a:lstStyle/>
          <a:p>
            <a:fld id="{626DD37B-7AE2-634A-A47A-4C54E787DEDD}" type="slidenum">
              <a:rPr lang="en-GB" smtClean="0"/>
              <a:t>‹#›</a:t>
            </a:fld>
            <a:endParaRPr lang="en-GB"/>
          </a:p>
        </p:txBody>
      </p:sp>
    </p:spTree>
    <p:extLst>
      <p:ext uri="{BB962C8B-B14F-4D97-AF65-F5344CB8AC3E}">
        <p14:creationId xmlns:p14="http://schemas.microsoft.com/office/powerpoint/2010/main" val="873238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81E3A7-991A-DF88-BBF4-38BB6A3AED6D}"/>
              </a:ext>
            </a:extLst>
          </p:cNvPr>
          <p:cNvSpPr>
            <a:spLocks noGrp="1"/>
          </p:cNvSpPr>
          <p:nvPr>
            <p:ph type="dt" sz="half" idx="10"/>
          </p:nvPr>
        </p:nvSpPr>
        <p:spPr/>
        <p:txBody>
          <a:bodyPr/>
          <a:lstStyle/>
          <a:p>
            <a:fld id="{BE0EAED6-DB4D-B34C-BD0B-96FD7D67882E}" type="datetimeFigureOut">
              <a:rPr lang="en-GB" smtClean="0"/>
              <a:t>08/07/2026</a:t>
            </a:fld>
            <a:endParaRPr lang="en-GB"/>
          </a:p>
        </p:txBody>
      </p:sp>
      <p:sp>
        <p:nvSpPr>
          <p:cNvPr id="3" name="Footer Placeholder 2">
            <a:extLst>
              <a:ext uri="{FF2B5EF4-FFF2-40B4-BE49-F238E27FC236}">
                <a16:creationId xmlns:a16="http://schemas.microsoft.com/office/drawing/2014/main" id="{4E929795-1C76-A29D-27A2-00515FA83B8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26F9F2C-C6E8-73B8-B801-28D3822EF2A7}"/>
              </a:ext>
            </a:extLst>
          </p:cNvPr>
          <p:cNvSpPr>
            <a:spLocks noGrp="1"/>
          </p:cNvSpPr>
          <p:nvPr>
            <p:ph type="sldNum" sz="quarter" idx="12"/>
          </p:nvPr>
        </p:nvSpPr>
        <p:spPr/>
        <p:txBody>
          <a:bodyPr/>
          <a:lstStyle/>
          <a:p>
            <a:fld id="{626DD37B-7AE2-634A-A47A-4C54E787DEDD}" type="slidenum">
              <a:rPr lang="en-GB" smtClean="0"/>
              <a:t>‹#›</a:t>
            </a:fld>
            <a:endParaRPr lang="en-GB"/>
          </a:p>
        </p:txBody>
      </p:sp>
    </p:spTree>
    <p:extLst>
      <p:ext uri="{BB962C8B-B14F-4D97-AF65-F5344CB8AC3E}">
        <p14:creationId xmlns:p14="http://schemas.microsoft.com/office/powerpoint/2010/main" val="2962850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B9303-50C7-6EBD-8931-3BBE39CEC7D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8107900E-13A0-45C1-C800-6C014E1935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95FBFB5A-E767-5398-2C6B-BE5095F141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9DA3599-C656-BE59-B748-C4B1850B4026}"/>
              </a:ext>
            </a:extLst>
          </p:cNvPr>
          <p:cNvSpPr>
            <a:spLocks noGrp="1"/>
          </p:cNvSpPr>
          <p:nvPr>
            <p:ph type="dt" sz="half" idx="10"/>
          </p:nvPr>
        </p:nvSpPr>
        <p:spPr/>
        <p:txBody>
          <a:bodyPr/>
          <a:lstStyle/>
          <a:p>
            <a:fld id="{BE0EAED6-DB4D-B34C-BD0B-96FD7D67882E}" type="datetimeFigureOut">
              <a:rPr lang="en-GB" smtClean="0"/>
              <a:t>08/07/2026</a:t>
            </a:fld>
            <a:endParaRPr lang="en-GB"/>
          </a:p>
        </p:txBody>
      </p:sp>
      <p:sp>
        <p:nvSpPr>
          <p:cNvPr id="6" name="Footer Placeholder 5">
            <a:extLst>
              <a:ext uri="{FF2B5EF4-FFF2-40B4-BE49-F238E27FC236}">
                <a16:creationId xmlns:a16="http://schemas.microsoft.com/office/drawing/2014/main" id="{61590E2B-5181-77A2-CF79-5577584E2EA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F7BD147-4223-EC59-F587-D43B709D6F9E}"/>
              </a:ext>
            </a:extLst>
          </p:cNvPr>
          <p:cNvSpPr>
            <a:spLocks noGrp="1"/>
          </p:cNvSpPr>
          <p:nvPr>
            <p:ph type="sldNum" sz="quarter" idx="12"/>
          </p:nvPr>
        </p:nvSpPr>
        <p:spPr/>
        <p:txBody>
          <a:bodyPr/>
          <a:lstStyle/>
          <a:p>
            <a:fld id="{626DD37B-7AE2-634A-A47A-4C54E787DEDD}" type="slidenum">
              <a:rPr lang="en-GB" smtClean="0"/>
              <a:t>‹#›</a:t>
            </a:fld>
            <a:endParaRPr lang="en-GB"/>
          </a:p>
        </p:txBody>
      </p:sp>
    </p:spTree>
    <p:extLst>
      <p:ext uri="{BB962C8B-B14F-4D97-AF65-F5344CB8AC3E}">
        <p14:creationId xmlns:p14="http://schemas.microsoft.com/office/powerpoint/2010/main" val="708611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B4E7D-5EB6-8251-641A-7BCDF66192A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4F52184F-9BF8-948C-B2FF-160154A1A2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EB1F727-7A5E-FB46-D7D0-99E745DA72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DB9C08-867C-967E-B90D-F94EB31BFBB8}"/>
              </a:ext>
            </a:extLst>
          </p:cNvPr>
          <p:cNvSpPr>
            <a:spLocks noGrp="1"/>
          </p:cNvSpPr>
          <p:nvPr>
            <p:ph type="dt" sz="half" idx="10"/>
          </p:nvPr>
        </p:nvSpPr>
        <p:spPr/>
        <p:txBody>
          <a:bodyPr/>
          <a:lstStyle/>
          <a:p>
            <a:fld id="{BE0EAED6-DB4D-B34C-BD0B-96FD7D67882E}" type="datetimeFigureOut">
              <a:rPr lang="en-GB" smtClean="0"/>
              <a:t>08/07/2026</a:t>
            </a:fld>
            <a:endParaRPr lang="en-GB"/>
          </a:p>
        </p:txBody>
      </p:sp>
      <p:sp>
        <p:nvSpPr>
          <p:cNvPr id="6" name="Footer Placeholder 5">
            <a:extLst>
              <a:ext uri="{FF2B5EF4-FFF2-40B4-BE49-F238E27FC236}">
                <a16:creationId xmlns:a16="http://schemas.microsoft.com/office/drawing/2014/main" id="{D887C52B-9DBC-29CD-2B7A-978BBD61787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1F3E175-CFAF-001E-705F-F06F2DA1DE39}"/>
              </a:ext>
            </a:extLst>
          </p:cNvPr>
          <p:cNvSpPr>
            <a:spLocks noGrp="1"/>
          </p:cNvSpPr>
          <p:nvPr>
            <p:ph type="sldNum" sz="quarter" idx="12"/>
          </p:nvPr>
        </p:nvSpPr>
        <p:spPr/>
        <p:txBody>
          <a:bodyPr/>
          <a:lstStyle/>
          <a:p>
            <a:fld id="{626DD37B-7AE2-634A-A47A-4C54E787DEDD}" type="slidenum">
              <a:rPr lang="en-GB" smtClean="0"/>
              <a:t>‹#›</a:t>
            </a:fld>
            <a:endParaRPr lang="en-GB"/>
          </a:p>
        </p:txBody>
      </p:sp>
    </p:spTree>
    <p:extLst>
      <p:ext uri="{BB962C8B-B14F-4D97-AF65-F5344CB8AC3E}">
        <p14:creationId xmlns:p14="http://schemas.microsoft.com/office/powerpoint/2010/main" val="841492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C7EE0-F621-BD28-D94D-E334E5818262}"/>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D65CAC57-00BE-ADC9-BADD-B8A441C92B9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1686F6D-1A0A-6745-5966-6BE49F06B530}"/>
              </a:ext>
            </a:extLst>
          </p:cNvPr>
          <p:cNvSpPr>
            <a:spLocks noGrp="1"/>
          </p:cNvSpPr>
          <p:nvPr>
            <p:ph type="dt" sz="half" idx="10"/>
          </p:nvPr>
        </p:nvSpPr>
        <p:spPr/>
        <p:txBody>
          <a:bodyPr/>
          <a:lstStyle/>
          <a:p>
            <a:fld id="{BE0EAED6-DB4D-B34C-BD0B-96FD7D67882E}" type="datetimeFigureOut">
              <a:rPr lang="en-GB" smtClean="0"/>
              <a:t>08/07/2026</a:t>
            </a:fld>
            <a:endParaRPr lang="en-GB"/>
          </a:p>
        </p:txBody>
      </p:sp>
      <p:sp>
        <p:nvSpPr>
          <p:cNvPr id="5" name="Footer Placeholder 4">
            <a:extLst>
              <a:ext uri="{FF2B5EF4-FFF2-40B4-BE49-F238E27FC236}">
                <a16:creationId xmlns:a16="http://schemas.microsoft.com/office/drawing/2014/main" id="{D33A794F-2788-66BB-0BD1-5284C6BFC12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052622E-1498-AD25-96C4-8129A11EC9F9}"/>
              </a:ext>
            </a:extLst>
          </p:cNvPr>
          <p:cNvSpPr>
            <a:spLocks noGrp="1"/>
          </p:cNvSpPr>
          <p:nvPr>
            <p:ph type="sldNum" sz="quarter" idx="12"/>
          </p:nvPr>
        </p:nvSpPr>
        <p:spPr/>
        <p:txBody>
          <a:bodyPr/>
          <a:lstStyle/>
          <a:p>
            <a:fld id="{626DD37B-7AE2-634A-A47A-4C54E787DEDD}" type="slidenum">
              <a:rPr lang="en-GB" smtClean="0"/>
              <a:t>‹#›</a:t>
            </a:fld>
            <a:endParaRPr lang="en-GB"/>
          </a:p>
        </p:txBody>
      </p:sp>
    </p:spTree>
    <p:extLst>
      <p:ext uri="{BB962C8B-B14F-4D97-AF65-F5344CB8AC3E}">
        <p14:creationId xmlns:p14="http://schemas.microsoft.com/office/powerpoint/2010/main" val="892195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D3BB82-A78C-B84B-A9EF-5C53AEB2F5FC}"/>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AEB1A0C1-4352-C948-45FE-BFAC991B017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10C7E2E-B7FD-B398-7F66-C498B76BDECB}"/>
              </a:ext>
            </a:extLst>
          </p:cNvPr>
          <p:cNvSpPr>
            <a:spLocks noGrp="1"/>
          </p:cNvSpPr>
          <p:nvPr>
            <p:ph type="dt" sz="half" idx="10"/>
          </p:nvPr>
        </p:nvSpPr>
        <p:spPr/>
        <p:txBody>
          <a:bodyPr/>
          <a:lstStyle/>
          <a:p>
            <a:fld id="{BE0EAED6-DB4D-B34C-BD0B-96FD7D67882E}" type="datetimeFigureOut">
              <a:rPr lang="en-GB" smtClean="0"/>
              <a:t>08/07/2026</a:t>
            </a:fld>
            <a:endParaRPr lang="en-GB"/>
          </a:p>
        </p:txBody>
      </p:sp>
      <p:sp>
        <p:nvSpPr>
          <p:cNvPr id="5" name="Footer Placeholder 4">
            <a:extLst>
              <a:ext uri="{FF2B5EF4-FFF2-40B4-BE49-F238E27FC236}">
                <a16:creationId xmlns:a16="http://schemas.microsoft.com/office/drawing/2014/main" id="{EA59E9A1-7576-2FC3-6753-C653B39D17D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0674780-E247-D05A-F9A9-D2206D0C9858}"/>
              </a:ext>
            </a:extLst>
          </p:cNvPr>
          <p:cNvSpPr>
            <a:spLocks noGrp="1"/>
          </p:cNvSpPr>
          <p:nvPr>
            <p:ph type="sldNum" sz="quarter" idx="12"/>
          </p:nvPr>
        </p:nvSpPr>
        <p:spPr/>
        <p:txBody>
          <a:bodyPr/>
          <a:lstStyle/>
          <a:p>
            <a:fld id="{626DD37B-7AE2-634A-A47A-4C54E787DEDD}" type="slidenum">
              <a:rPr lang="en-GB" smtClean="0"/>
              <a:t>‹#›</a:t>
            </a:fld>
            <a:endParaRPr lang="en-GB"/>
          </a:p>
        </p:txBody>
      </p:sp>
    </p:spTree>
    <p:extLst>
      <p:ext uri="{BB962C8B-B14F-4D97-AF65-F5344CB8AC3E}">
        <p14:creationId xmlns:p14="http://schemas.microsoft.com/office/powerpoint/2010/main" val="3503197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475134-F24F-47EB-42C7-29CF11B46E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9F08DBB1-E8DE-DFBD-5972-FABBD90705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5FAE2C3-8F28-4B43-8C94-D6AF7E8518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0EAED6-DB4D-B34C-BD0B-96FD7D67882E}" type="datetimeFigureOut">
              <a:rPr lang="en-GB" smtClean="0"/>
              <a:t>08/07/2026</a:t>
            </a:fld>
            <a:endParaRPr lang="en-GB"/>
          </a:p>
        </p:txBody>
      </p:sp>
      <p:sp>
        <p:nvSpPr>
          <p:cNvPr id="5" name="Footer Placeholder 4">
            <a:extLst>
              <a:ext uri="{FF2B5EF4-FFF2-40B4-BE49-F238E27FC236}">
                <a16:creationId xmlns:a16="http://schemas.microsoft.com/office/drawing/2014/main" id="{21BC645E-5F37-BDDB-9809-03C11413D9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4234CCCC-373A-6473-D929-1E5B0D6B8B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6DD37B-7AE2-634A-A47A-4C54E787DEDD}" type="slidenum">
              <a:rPr lang="en-GB" smtClean="0"/>
              <a:t>‹#›</a:t>
            </a:fld>
            <a:endParaRPr lang="en-GB"/>
          </a:p>
        </p:txBody>
      </p:sp>
    </p:spTree>
    <p:extLst>
      <p:ext uri="{BB962C8B-B14F-4D97-AF65-F5344CB8AC3E}">
        <p14:creationId xmlns:p14="http://schemas.microsoft.com/office/powerpoint/2010/main" val="2649996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ACD60-CF53-B2DD-BE5A-DB71C8987E58}"/>
              </a:ext>
            </a:extLst>
          </p:cNvPr>
          <p:cNvSpPr>
            <a:spLocks noGrp="1"/>
          </p:cNvSpPr>
          <p:nvPr>
            <p:ph type="ctrTitle"/>
          </p:nvPr>
        </p:nvSpPr>
        <p:spPr/>
        <p:txBody>
          <a:bodyPr/>
          <a:lstStyle/>
          <a:p>
            <a:r>
              <a:rPr lang="en-GB" dirty="0"/>
              <a:t>S-98 / S-164 Meeting</a:t>
            </a:r>
          </a:p>
        </p:txBody>
      </p:sp>
      <p:sp>
        <p:nvSpPr>
          <p:cNvPr id="3" name="Subtitle 2">
            <a:extLst>
              <a:ext uri="{FF2B5EF4-FFF2-40B4-BE49-F238E27FC236}">
                <a16:creationId xmlns:a16="http://schemas.microsoft.com/office/drawing/2014/main" id="{DA2272E7-4850-A578-6338-F2B4CD145094}"/>
              </a:ext>
            </a:extLst>
          </p:cNvPr>
          <p:cNvSpPr>
            <a:spLocks noGrp="1"/>
          </p:cNvSpPr>
          <p:nvPr>
            <p:ph type="subTitle" idx="1"/>
          </p:nvPr>
        </p:nvSpPr>
        <p:spPr/>
        <p:txBody>
          <a:bodyPr/>
          <a:lstStyle/>
          <a:p>
            <a:r>
              <a:rPr lang="en-GB" dirty="0"/>
              <a:t>9</a:t>
            </a:r>
            <a:r>
              <a:rPr lang="en-GB" baseline="30000" dirty="0"/>
              <a:t>th</a:t>
            </a:r>
            <a:r>
              <a:rPr lang="en-GB" dirty="0"/>
              <a:t> July 2026</a:t>
            </a:r>
          </a:p>
        </p:txBody>
      </p:sp>
    </p:spTree>
    <p:extLst>
      <p:ext uri="{BB962C8B-B14F-4D97-AF65-F5344CB8AC3E}">
        <p14:creationId xmlns:p14="http://schemas.microsoft.com/office/powerpoint/2010/main" val="1006878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0CC9A-56FB-685A-DAAC-C5411064018C}"/>
              </a:ext>
            </a:extLst>
          </p:cNvPr>
          <p:cNvSpPr>
            <a:spLocks noGrp="1"/>
          </p:cNvSpPr>
          <p:nvPr>
            <p:ph type="title"/>
          </p:nvPr>
        </p:nvSpPr>
        <p:spPr/>
        <p:txBody>
          <a:bodyPr/>
          <a:lstStyle/>
          <a:p>
            <a:r>
              <a:rPr lang="en-GB" dirty="0"/>
              <a:t>Agenda Items</a:t>
            </a:r>
          </a:p>
        </p:txBody>
      </p:sp>
      <p:sp>
        <p:nvSpPr>
          <p:cNvPr id="3" name="Content Placeholder 2">
            <a:extLst>
              <a:ext uri="{FF2B5EF4-FFF2-40B4-BE49-F238E27FC236}">
                <a16:creationId xmlns:a16="http://schemas.microsoft.com/office/drawing/2014/main" id="{E057DA8B-237E-3C60-EE48-B7CBE828C414}"/>
              </a:ext>
            </a:extLst>
          </p:cNvPr>
          <p:cNvSpPr>
            <a:spLocks noGrp="1"/>
          </p:cNvSpPr>
          <p:nvPr>
            <p:ph idx="1"/>
          </p:nvPr>
        </p:nvSpPr>
        <p:spPr/>
        <p:txBody>
          <a:bodyPr>
            <a:normAutofit lnSpcReduction="10000"/>
          </a:bodyPr>
          <a:lstStyle/>
          <a:p>
            <a:r>
              <a:rPr lang="en-GB" dirty="0"/>
              <a:t>S-98</a:t>
            </a:r>
          </a:p>
          <a:p>
            <a:pPr lvl="1"/>
            <a:r>
              <a:rPr lang="en-GB" dirty="0"/>
              <a:t>Readout from HSSC</a:t>
            </a:r>
          </a:p>
          <a:p>
            <a:pPr lvl="1"/>
            <a:r>
              <a:rPr lang="en-GB" dirty="0"/>
              <a:t>Outstanding items</a:t>
            </a:r>
          </a:p>
          <a:p>
            <a:pPr lvl="2"/>
            <a:r>
              <a:rPr lang="en-GB" dirty="0"/>
              <a:t>TWCWG corrections</a:t>
            </a:r>
          </a:p>
          <a:p>
            <a:pPr lvl="2"/>
            <a:r>
              <a:rPr lang="en-GB" dirty="0"/>
              <a:t>Others?</a:t>
            </a:r>
          </a:p>
          <a:p>
            <a:pPr lvl="1"/>
            <a:r>
              <a:rPr lang="en-GB" dirty="0"/>
              <a:t>Way forward</a:t>
            </a:r>
          </a:p>
          <a:p>
            <a:pPr lvl="2"/>
            <a:r>
              <a:rPr lang="en-GB" dirty="0"/>
              <a:t>Data Constraints Annex updates</a:t>
            </a:r>
          </a:p>
          <a:p>
            <a:pPr lvl="2"/>
            <a:r>
              <a:rPr lang="en-GB" dirty="0"/>
              <a:t>First candidates</a:t>
            </a:r>
          </a:p>
          <a:p>
            <a:r>
              <a:rPr lang="en-GB" dirty="0"/>
              <a:t>S-164</a:t>
            </a:r>
          </a:p>
          <a:p>
            <a:pPr lvl="1"/>
            <a:r>
              <a:rPr lang="en-GB" dirty="0"/>
              <a:t>Split into parts</a:t>
            </a:r>
          </a:p>
          <a:p>
            <a:pPr lvl="1"/>
            <a:r>
              <a:rPr lang="en-GB" dirty="0"/>
              <a:t>New Exchange Sets</a:t>
            </a:r>
          </a:p>
          <a:p>
            <a:pPr lvl="1"/>
            <a:r>
              <a:rPr lang="en-GB" dirty="0"/>
              <a:t>Gap analysis</a:t>
            </a:r>
          </a:p>
          <a:p>
            <a:endParaRPr lang="en-GB" dirty="0"/>
          </a:p>
        </p:txBody>
      </p:sp>
    </p:spTree>
    <p:extLst>
      <p:ext uri="{BB962C8B-B14F-4D97-AF65-F5344CB8AC3E}">
        <p14:creationId xmlns:p14="http://schemas.microsoft.com/office/powerpoint/2010/main" val="3548239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A3602-AB22-F28A-62DE-326ACE5EF3CA}"/>
              </a:ext>
            </a:extLst>
          </p:cNvPr>
          <p:cNvSpPr>
            <a:spLocks noGrp="1"/>
          </p:cNvSpPr>
          <p:nvPr>
            <p:ph type="title"/>
          </p:nvPr>
        </p:nvSpPr>
        <p:spPr/>
        <p:txBody>
          <a:bodyPr/>
          <a:lstStyle/>
          <a:p>
            <a:r>
              <a:rPr lang="en-GB" dirty="0"/>
              <a:t>HSSC Readout</a:t>
            </a:r>
          </a:p>
        </p:txBody>
      </p:sp>
      <p:sp>
        <p:nvSpPr>
          <p:cNvPr id="3" name="Content Placeholder 2">
            <a:extLst>
              <a:ext uri="{FF2B5EF4-FFF2-40B4-BE49-F238E27FC236}">
                <a16:creationId xmlns:a16="http://schemas.microsoft.com/office/drawing/2014/main" id="{47455C2E-71DA-5EC8-2E64-2C995C66AC0A}"/>
              </a:ext>
            </a:extLst>
          </p:cNvPr>
          <p:cNvSpPr>
            <a:spLocks noGrp="1"/>
          </p:cNvSpPr>
          <p:nvPr>
            <p:ph idx="1"/>
          </p:nvPr>
        </p:nvSpPr>
        <p:spPr/>
        <p:txBody>
          <a:bodyPr>
            <a:normAutofit lnSpcReduction="10000"/>
          </a:bodyPr>
          <a:lstStyle/>
          <a:p>
            <a:r>
              <a:rPr lang="en-GB" dirty="0"/>
              <a:t>S-98 3.0.0 Rev 2 endorsed</a:t>
            </a:r>
          </a:p>
          <a:p>
            <a:pPr lvl="1"/>
            <a:r>
              <a:rPr lang="en-GB" dirty="0"/>
              <a:t>Contains S-124 edits</a:t>
            </a:r>
          </a:p>
          <a:p>
            <a:r>
              <a:rPr lang="en-GB" dirty="0"/>
              <a:t>S-164 2.0.0 endorsed</a:t>
            </a:r>
          </a:p>
          <a:p>
            <a:pPr lvl="1"/>
            <a:endParaRPr lang="en-GB" dirty="0"/>
          </a:p>
          <a:p>
            <a:r>
              <a:rPr lang="en-GB" dirty="0"/>
              <a:t>Both can be refined, we can not change the requirements of S-98 but we can clarify their wording</a:t>
            </a:r>
          </a:p>
          <a:p>
            <a:r>
              <a:rPr lang="en-GB" dirty="0"/>
              <a:t>S-164 can be refined within the scope of S-98. So, if there are tests which are incorrect, missing or not specific enough they can be changed and added. </a:t>
            </a:r>
          </a:p>
          <a:p>
            <a:pPr marL="0" indent="0">
              <a:buNone/>
            </a:pPr>
            <a:r>
              <a:rPr lang="en-GB" dirty="0"/>
              <a:t> </a:t>
            </a:r>
          </a:p>
        </p:txBody>
      </p:sp>
    </p:spTree>
    <p:extLst>
      <p:ext uri="{BB962C8B-B14F-4D97-AF65-F5344CB8AC3E}">
        <p14:creationId xmlns:p14="http://schemas.microsoft.com/office/powerpoint/2010/main" val="212654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428E1-F35E-0733-1EE3-D07B0B52B392}"/>
              </a:ext>
            </a:extLst>
          </p:cNvPr>
          <p:cNvSpPr>
            <a:spLocks noGrp="1"/>
          </p:cNvSpPr>
          <p:nvPr>
            <p:ph type="title"/>
          </p:nvPr>
        </p:nvSpPr>
        <p:spPr>
          <a:xfrm>
            <a:off x="123497" y="133898"/>
            <a:ext cx="10515600" cy="833054"/>
          </a:xfrm>
        </p:spPr>
        <p:txBody>
          <a:bodyPr/>
          <a:lstStyle/>
          <a:p>
            <a:r>
              <a:rPr lang="en-GB" dirty="0"/>
              <a:t>HSSC Rev2 Changes</a:t>
            </a:r>
          </a:p>
        </p:txBody>
      </p:sp>
      <p:pic>
        <p:nvPicPr>
          <p:cNvPr id="4" name="Picture 3">
            <a:extLst>
              <a:ext uri="{FF2B5EF4-FFF2-40B4-BE49-F238E27FC236}">
                <a16:creationId xmlns:a16="http://schemas.microsoft.com/office/drawing/2014/main" id="{0C3A2EC9-8495-551F-1C7C-88DCD5B60988}"/>
              </a:ext>
            </a:extLst>
          </p:cNvPr>
          <p:cNvPicPr>
            <a:picLocks noChangeAspect="1"/>
          </p:cNvPicPr>
          <p:nvPr/>
        </p:nvPicPr>
        <p:blipFill>
          <a:blip r:embed="rId2"/>
          <a:stretch>
            <a:fillRect/>
          </a:stretch>
        </p:blipFill>
        <p:spPr>
          <a:xfrm>
            <a:off x="336112" y="1914854"/>
            <a:ext cx="4940300" cy="3340100"/>
          </a:xfrm>
          <a:prstGeom prst="rect">
            <a:avLst/>
          </a:prstGeom>
        </p:spPr>
      </p:pic>
      <p:pic>
        <p:nvPicPr>
          <p:cNvPr id="5" name="Picture 4">
            <a:extLst>
              <a:ext uri="{FF2B5EF4-FFF2-40B4-BE49-F238E27FC236}">
                <a16:creationId xmlns:a16="http://schemas.microsoft.com/office/drawing/2014/main" id="{68F3770A-40BB-E3A2-EA60-E6568F867CFC}"/>
              </a:ext>
            </a:extLst>
          </p:cNvPr>
          <p:cNvPicPr>
            <a:picLocks noChangeAspect="1"/>
          </p:cNvPicPr>
          <p:nvPr/>
        </p:nvPicPr>
        <p:blipFill>
          <a:blip r:embed="rId3"/>
          <a:stretch>
            <a:fillRect/>
          </a:stretch>
        </p:blipFill>
        <p:spPr>
          <a:xfrm>
            <a:off x="5576833" y="1914854"/>
            <a:ext cx="4864100" cy="3086100"/>
          </a:xfrm>
          <a:prstGeom prst="rect">
            <a:avLst/>
          </a:prstGeom>
        </p:spPr>
      </p:pic>
      <p:pic>
        <p:nvPicPr>
          <p:cNvPr id="6" name="Picture 5">
            <a:extLst>
              <a:ext uri="{FF2B5EF4-FFF2-40B4-BE49-F238E27FC236}">
                <a16:creationId xmlns:a16="http://schemas.microsoft.com/office/drawing/2014/main" id="{EC76207D-C357-89DE-7457-60C0E264A717}"/>
              </a:ext>
            </a:extLst>
          </p:cNvPr>
          <p:cNvPicPr>
            <a:picLocks noChangeAspect="1"/>
          </p:cNvPicPr>
          <p:nvPr/>
        </p:nvPicPr>
        <p:blipFill>
          <a:blip r:embed="rId4"/>
          <a:stretch>
            <a:fillRect/>
          </a:stretch>
        </p:blipFill>
        <p:spPr>
          <a:xfrm>
            <a:off x="336112" y="5673725"/>
            <a:ext cx="5608239" cy="833054"/>
          </a:xfrm>
          <a:prstGeom prst="rect">
            <a:avLst/>
          </a:prstGeom>
        </p:spPr>
      </p:pic>
    </p:spTree>
    <p:extLst>
      <p:ext uri="{BB962C8B-B14F-4D97-AF65-F5344CB8AC3E}">
        <p14:creationId xmlns:p14="http://schemas.microsoft.com/office/powerpoint/2010/main" val="3267296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BAAA2-AF9B-5842-3697-B8EABED828AE}"/>
              </a:ext>
            </a:extLst>
          </p:cNvPr>
          <p:cNvSpPr>
            <a:spLocks noGrp="1"/>
          </p:cNvSpPr>
          <p:nvPr>
            <p:ph type="title"/>
          </p:nvPr>
        </p:nvSpPr>
        <p:spPr/>
        <p:txBody>
          <a:bodyPr/>
          <a:lstStyle/>
          <a:p>
            <a:r>
              <a:rPr lang="en-GB" dirty="0"/>
              <a:t>interoperability</a:t>
            </a:r>
          </a:p>
        </p:txBody>
      </p:sp>
      <p:sp>
        <p:nvSpPr>
          <p:cNvPr id="3" name="Content Placeholder 2">
            <a:extLst>
              <a:ext uri="{FF2B5EF4-FFF2-40B4-BE49-F238E27FC236}">
                <a16:creationId xmlns:a16="http://schemas.microsoft.com/office/drawing/2014/main" id="{46F41E19-0857-CD9A-BE4E-11C1323CE8A9}"/>
              </a:ext>
            </a:extLst>
          </p:cNvPr>
          <p:cNvSpPr>
            <a:spLocks noGrp="1"/>
          </p:cNvSpPr>
          <p:nvPr>
            <p:ph idx="1"/>
          </p:nvPr>
        </p:nvSpPr>
        <p:spPr/>
        <p:txBody>
          <a:bodyPr/>
          <a:lstStyle/>
          <a:p>
            <a:r>
              <a:rPr lang="en-GB" dirty="0"/>
              <a:t>Lots of discussion at HSSC about interoperability, in particular with regard to ESC/WLA and depth substitution.</a:t>
            </a:r>
          </a:p>
          <a:p>
            <a:r>
              <a:rPr lang="en-GB" dirty="0"/>
              <a:t>This will be raised at the upcoming interoperability workshops. Any required clarifications can be brought back to this group</a:t>
            </a:r>
          </a:p>
          <a:p>
            <a:r>
              <a:rPr lang="en-GB" dirty="0"/>
              <a:t>Additionally, any feedback on Appendix D would be much appreciated for those interoperability workshops (December 8-10)</a:t>
            </a:r>
          </a:p>
        </p:txBody>
      </p:sp>
    </p:spTree>
    <p:extLst>
      <p:ext uri="{BB962C8B-B14F-4D97-AF65-F5344CB8AC3E}">
        <p14:creationId xmlns:p14="http://schemas.microsoft.com/office/powerpoint/2010/main" val="2808016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EA53B-03F1-DADC-4B3D-999731E9CB78}"/>
              </a:ext>
            </a:extLst>
          </p:cNvPr>
          <p:cNvSpPr>
            <a:spLocks noGrp="1"/>
          </p:cNvSpPr>
          <p:nvPr>
            <p:ph type="title"/>
          </p:nvPr>
        </p:nvSpPr>
        <p:spPr>
          <a:xfrm>
            <a:off x="189186" y="186450"/>
            <a:ext cx="10891345" cy="1325563"/>
          </a:xfrm>
        </p:spPr>
        <p:txBody>
          <a:bodyPr>
            <a:normAutofit/>
          </a:bodyPr>
          <a:lstStyle/>
          <a:p>
            <a:r>
              <a:rPr lang="en-GB" sz="4000" dirty="0"/>
              <a:t>TWCWG input for Section 13.2 (temporal display)</a:t>
            </a:r>
          </a:p>
        </p:txBody>
      </p:sp>
      <p:sp>
        <p:nvSpPr>
          <p:cNvPr id="3" name="Content Placeholder 2">
            <a:extLst>
              <a:ext uri="{FF2B5EF4-FFF2-40B4-BE49-F238E27FC236}">
                <a16:creationId xmlns:a16="http://schemas.microsoft.com/office/drawing/2014/main" id="{F9662A3C-A49F-B0F6-DFE6-B6506D8FF168}"/>
              </a:ext>
            </a:extLst>
          </p:cNvPr>
          <p:cNvSpPr>
            <a:spLocks noGrp="1"/>
          </p:cNvSpPr>
          <p:nvPr>
            <p:ph idx="1"/>
          </p:nvPr>
        </p:nvSpPr>
        <p:spPr>
          <a:xfrm>
            <a:off x="838200" y="1334814"/>
            <a:ext cx="10515600" cy="5139558"/>
          </a:xfrm>
        </p:spPr>
        <p:txBody>
          <a:bodyPr>
            <a:normAutofit/>
          </a:bodyPr>
          <a:lstStyle/>
          <a:p>
            <a:pPr algn="l"/>
            <a:r>
              <a:rPr lang="en-GB" sz="1800" b="0" i="0" dirty="0">
                <a:solidFill>
                  <a:srgbClr val="242424"/>
                </a:solidFill>
                <a:effectLst/>
                <a:latin typeface="inherit"/>
              </a:rPr>
              <a:t>A discussion (raised by Canada) has highlighted a potential issue with how temporal data is selected for display in ECDIS under </a:t>
            </a:r>
            <a:r>
              <a:rPr lang="en-GB" sz="1800" b="1" i="0" dirty="0">
                <a:solidFill>
                  <a:srgbClr val="242424"/>
                </a:solidFill>
                <a:effectLst/>
                <a:latin typeface="inherit"/>
              </a:rPr>
              <a:t>S</a:t>
            </a:r>
            <a:r>
              <a:rPr lang="en-GB" sz="1800" b="1" i="0" dirty="0">
                <a:solidFill>
                  <a:srgbClr val="242424"/>
                </a:solidFill>
                <a:effectLst/>
                <a:latin typeface="Cambria Math" panose="02040503050406030204" pitchFamily="18" charset="0"/>
              </a:rPr>
              <a:t>‑</a:t>
            </a:r>
            <a:r>
              <a:rPr lang="en-GB" sz="1800" b="1" i="0" dirty="0">
                <a:solidFill>
                  <a:srgbClr val="242424"/>
                </a:solidFill>
                <a:effectLst/>
                <a:latin typeface="inherit"/>
              </a:rPr>
              <a:t>98 Section 13.2, which currently specifies that the closest preceding value must be displayed for time</a:t>
            </a:r>
            <a:r>
              <a:rPr lang="en-GB" sz="1800" b="1" i="0" dirty="0">
                <a:solidFill>
                  <a:srgbClr val="242424"/>
                </a:solidFill>
                <a:effectLst/>
                <a:latin typeface="Cambria Math" panose="02040503050406030204" pitchFamily="18" charset="0"/>
              </a:rPr>
              <a:t>‑</a:t>
            </a:r>
            <a:r>
              <a:rPr lang="en-GB" sz="1800" b="1" i="0" dirty="0">
                <a:solidFill>
                  <a:srgbClr val="242424"/>
                </a:solidFill>
                <a:effectLst/>
                <a:latin typeface="inherit"/>
              </a:rPr>
              <a:t>varying data</a:t>
            </a:r>
            <a:r>
              <a:rPr lang="en-GB" sz="1800" b="0" i="0" dirty="0">
                <a:solidFill>
                  <a:srgbClr val="242424"/>
                </a:solidFill>
                <a:effectLst/>
                <a:latin typeface="inherit"/>
              </a:rPr>
              <a:t>.</a:t>
            </a:r>
            <a:endParaRPr lang="en-GB" sz="1800" b="0" i="0" dirty="0">
              <a:solidFill>
                <a:srgbClr val="242424"/>
              </a:solidFill>
              <a:effectLst/>
              <a:latin typeface="Aptos" panose="020B0004020202020204" pitchFamily="34" charset="0"/>
            </a:endParaRPr>
          </a:p>
          <a:p>
            <a:pPr algn="l"/>
            <a:r>
              <a:rPr lang="en-GB" sz="1800" b="0" i="0" dirty="0">
                <a:solidFill>
                  <a:srgbClr val="242424"/>
                </a:solidFill>
                <a:effectLst/>
                <a:latin typeface="inherit"/>
              </a:rPr>
              <a:t>This results in a “past</a:t>
            </a:r>
            <a:r>
              <a:rPr lang="en-GB" sz="1800" b="0" i="0" dirty="0">
                <a:solidFill>
                  <a:srgbClr val="242424"/>
                </a:solidFill>
                <a:effectLst/>
                <a:latin typeface="Cambria Math" panose="02040503050406030204" pitchFamily="18" charset="0"/>
              </a:rPr>
              <a:t>‑</a:t>
            </a:r>
            <a:r>
              <a:rPr lang="en-GB" sz="1800" b="0" i="0" dirty="0">
                <a:solidFill>
                  <a:srgbClr val="242424"/>
                </a:solidFill>
                <a:effectLst/>
                <a:latin typeface="inherit"/>
              </a:rPr>
              <a:t>biased” display, where values remain fixed until the next timestamp is reached.</a:t>
            </a:r>
            <a:endParaRPr lang="en-GB" sz="1800" b="0" i="0" dirty="0">
              <a:solidFill>
                <a:srgbClr val="242424"/>
              </a:solidFill>
              <a:effectLst/>
              <a:latin typeface="Aptos" panose="020B0004020202020204" pitchFamily="34" charset="0"/>
            </a:endParaRPr>
          </a:p>
          <a:p>
            <a:pPr algn="l"/>
            <a:r>
              <a:rPr lang="en-GB" sz="1800" b="0" i="0" dirty="0">
                <a:solidFill>
                  <a:srgbClr val="242424"/>
                </a:solidFill>
                <a:effectLst/>
                <a:latin typeface="inherit"/>
              </a:rPr>
              <a:t>For S</a:t>
            </a:r>
            <a:r>
              <a:rPr lang="en-GB" sz="1800" b="0" i="0" dirty="0">
                <a:solidFill>
                  <a:srgbClr val="242424"/>
                </a:solidFill>
                <a:effectLst/>
                <a:latin typeface="Cambria Math" panose="02040503050406030204" pitchFamily="18" charset="0"/>
              </a:rPr>
              <a:t>‑</a:t>
            </a:r>
            <a:r>
              <a:rPr lang="en-GB" sz="1800" b="0" i="0" dirty="0">
                <a:solidFill>
                  <a:srgbClr val="242424"/>
                </a:solidFill>
                <a:effectLst/>
                <a:latin typeface="inherit"/>
              </a:rPr>
              <a:t>111 currents (e.g. hourly data), this means the display effectively reflects earlier conditions rather than a </a:t>
            </a:r>
            <a:r>
              <a:rPr lang="en-GB" sz="1800" b="1" i="0" dirty="0">
                <a:solidFill>
                  <a:srgbClr val="242424"/>
                </a:solidFill>
                <a:effectLst/>
                <a:latin typeface="inherit"/>
              </a:rPr>
              <a:t>temporally balanced representation</a:t>
            </a:r>
            <a:r>
              <a:rPr lang="en-GB" sz="1800" b="0" i="0" dirty="0">
                <a:solidFill>
                  <a:srgbClr val="242424"/>
                </a:solidFill>
                <a:effectLst/>
                <a:latin typeface="inherit"/>
              </a:rPr>
              <a:t>.</a:t>
            </a:r>
            <a:endParaRPr lang="en-GB" sz="1800" b="0" i="0" dirty="0">
              <a:solidFill>
                <a:srgbClr val="242424"/>
              </a:solidFill>
              <a:effectLst/>
              <a:latin typeface="Aptos" panose="020B0004020202020204" pitchFamily="34" charset="0"/>
            </a:endParaRPr>
          </a:p>
          <a:p>
            <a:pPr algn="l"/>
            <a:r>
              <a:rPr lang="en-GB" sz="1800" b="0" i="0" dirty="0">
                <a:solidFill>
                  <a:srgbClr val="242424"/>
                </a:solidFill>
                <a:effectLst/>
                <a:latin typeface="inherit"/>
              </a:rPr>
              <a:t>Canada have suggested a time</a:t>
            </a:r>
            <a:r>
              <a:rPr lang="en-GB" sz="1800" b="0" i="0" dirty="0">
                <a:solidFill>
                  <a:srgbClr val="242424"/>
                </a:solidFill>
                <a:effectLst/>
                <a:latin typeface="Cambria Math" panose="02040503050406030204" pitchFamily="18" charset="0"/>
              </a:rPr>
              <a:t>‑</a:t>
            </a:r>
            <a:r>
              <a:rPr lang="en-GB" sz="1800" b="0" i="0" dirty="0">
                <a:solidFill>
                  <a:srgbClr val="242424"/>
                </a:solidFill>
                <a:effectLst/>
                <a:latin typeface="inherit"/>
              </a:rPr>
              <a:t>centred approach (e.g. ±30 minutes for hourly data) would provide a more accurate and unbiased representation of the underlying time series.</a:t>
            </a:r>
            <a:endParaRPr lang="en-GB" sz="1800" b="0" i="0" dirty="0">
              <a:solidFill>
                <a:srgbClr val="242424"/>
              </a:solidFill>
              <a:effectLst/>
              <a:latin typeface="Aptos" panose="020B0004020202020204" pitchFamily="34" charset="0"/>
            </a:endParaRPr>
          </a:p>
          <a:p>
            <a:pPr algn="l"/>
            <a:r>
              <a:rPr lang="en-GB" sz="1800" b="0" i="0" dirty="0">
                <a:solidFill>
                  <a:srgbClr val="242424"/>
                </a:solidFill>
                <a:effectLst/>
                <a:latin typeface="inherit"/>
              </a:rPr>
              <a:t>The existing approach may systematically misrepresent magnitude and timing, particularly around peaks, slack water, and reversals.</a:t>
            </a:r>
            <a:endParaRPr lang="en-GB" sz="1800" b="0" i="0" dirty="0">
              <a:solidFill>
                <a:srgbClr val="242424"/>
              </a:solidFill>
              <a:effectLst/>
              <a:latin typeface="Aptos" panose="020B0004020202020204" pitchFamily="34" charset="0"/>
            </a:endParaRPr>
          </a:p>
          <a:p>
            <a:pPr algn="l"/>
            <a:r>
              <a:rPr lang="en-GB" sz="1800" b="1" i="0" dirty="0">
                <a:solidFill>
                  <a:srgbClr val="242424"/>
                </a:solidFill>
                <a:effectLst/>
                <a:latin typeface="inherit"/>
              </a:rPr>
              <a:t>S</a:t>
            </a:r>
            <a:r>
              <a:rPr lang="en-GB" sz="1800" b="1" i="0" dirty="0">
                <a:solidFill>
                  <a:srgbClr val="242424"/>
                </a:solidFill>
                <a:effectLst/>
                <a:latin typeface="Cambria Math" panose="02040503050406030204" pitchFamily="18" charset="0"/>
              </a:rPr>
              <a:t>‑</a:t>
            </a:r>
            <a:r>
              <a:rPr lang="en-GB" sz="1800" b="1" i="0" dirty="0">
                <a:solidFill>
                  <a:srgbClr val="242424"/>
                </a:solidFill>
                <a:effectLst/>
                <a:latin typeface="inherit"/>
              </a:rPr>
              <a:t>104 appears to apply a different (effectively conservative/shoal</a:t>
            </a:r>
            <a:r>
              <a:rPr lang="en-GB" sz="1800" b="1" i="0" dirty="0">
                <a:solidFill>
                  <a:srgbClr val="242424"/>
                </a:solidFill>
                <a:effectLst/>
                <a:latin typeface="Cambria Math" panose="02040503050406030204" pitchFamily="18" charset="0"/>
              </a:rPr>
              <a:t>‑</a:t>
            </a:r>
            <a:r>
              <a:rPr lang="en-GB" sz="1800" b="1" i="0" dirty="0">
                <a:solidFill>
                  <a:srgbClr val="242424"/>
                </a:solidFill>
                <a:effectLst/>
                <a:latin typeface="inherit"/>
              </a:rPr>
              <a:t>biased) logic, rather than strictly following the S</a:t>
            </a:r>
            <a:r>
              <a:rPr lang="en-GB" sz="1800" b="1" i="0" dirty="0">
                <a:solidFill>
                  <a:srgbClr val="242424"/>
                </a:solidFill>
                <a:effectLst/>
                <a:latin typeface="Cambria Math" panose="02040503050406030204" pitchFamily="18" charset="0"/>
              </a:rPr>
              <a:t>‑</a:t>
            </a:r>
            <a:r>
              <a:rPr lang="en-GB" sz="1800" b="1" i="0" dirty="0">
                <a:solidFill>
                  <a:srgbClr val="242424"/>
                </a:solidFill>
                <a:effectLst/>
                <a:latin typeface="inherit"/>
              </a:rPr>
              <a:t>98 “preceding value” rule.</a:t>
            </a:r>
            <a:endParaRPr lang="en-GB" sz="1800" b="1" i="0" dirty="0">
              <a:solidFill>
                <a:srgbClr val="242424"/>
              </a:solidFill>
              <a:effectLst/>
              <a:latin typeface="Aptos" panose="020B0004020202020204" pitchFamily="34" charset="0"/>
            </a:endParaRPr>
          </a:p>
          <a:p>
            <a:pPr algn="l"/>
            <a:r>
              <a:rPr lang="en-GB" sz="1800" b="0" i="0" dirty="0">
                <a:solidFill>
                  <a:srgbClr val="242424"/>
                </a:solidFill>
                <a:effectLst/>
                <a:latin typeface="inherit"/>
              </a:rPr>
              <a:t>Future environmental products (e.g. waves, winds) could inherit the same issue if aligned with the current S</a:t>
            </a:r>
            <a:r>
              <a:rPr lang="en-GB" sz="1800" b="0" i="0" dirty="0">
                <a:solidFill>
                  <a:srgbClr val="242424"/>
                </a:solidFill>
                <a:effectLst/>
                <a:latin typeface="Cambria Math" panose="02040503050406030204" pitchFamily="18" charset="0"/>
              </a:rPr>
              <a:t>‑</a:t>
            </a:r>
            <a:r>
              <a:rPr lang="en-GB" sz="1800" b="0" i="0" dirty="0">
                <a:solidFill>
                  <a:srgbClr val="242424"/>
                </a:solidFill>
                <a:effectLst/>
                <a:latin typeface="inherit"/>
              </a:rPr>
              <a:t>98 approach.</a:t>
            </a:r>
            <a:endParaRPr lang="en-GB" sz="1800" b="0" i="0" dirty="0">
              <a:solidFill>
                <a:srgbClr val="242424"/>
              </a:solidFill>
              <a:effectLst/>
              <a:latin typeface="Aptos" panose="020B0004020202020204" pitchFamily="34" charset="0"/>
            </a:endParaRPr>
          </a:p>
          <a:p>
            <a:pPr algn="l"/>
            <a:r>
              <a:rPr lang="en-GB" sz="1800" b="1" i="0" dirty="0">
                <a:solidFill>
                  <a:srgbClr val="242424"/>
                </a:solidFill>
                <a:effectLst/>
                <a:latin typeface="inherit"/>
              </a:rPr>
              <a:t>Is the “preceding value” rule in S</a:t>
            </a:r>
            <a:r>
              <a:rPr lang="en-GB" sz="1800" b="1" i="0" dirty="0">
                <a:solidFill>
                  <a:srgbClr val="242424"/>
                </a:solidFill>
                <a:effectLst/>
                <a:latin typeface="Cambria Math" panose="02040503050406030204" pitchFamily="18" charset="0"/>
              </a:rPr>
              <a:t>‑</a:t>
            </a:r>
            <a:r>
              <a:rPr lang="en-GB" sz="1800" b="1" i="0" dirty="0">
                <a:solidFill>
                  <a:srgbClr val="242424"/>
                </a:solidFill>
                <a:effectLst/>
                <a:latin typeface="inherit"/>
              </a:rPr>
              <a:t>98 intentional as a universal approach, or should S</a:t>
            </a:r>
            <a:r>
              <a:rPr lang="en-GB" sz="1800" b="1" i="0" dirty="0">
                <a:solidFill>
                  <a:srgbClr val="242424"/>
                </a:solidFill>
                <a:effectLst/>
                <a:latin typeface="Cambria Math" panose="02040503050406030204" pitchFamily="18" charset="0"/>
              </a:rPr>
              <a:t>‑</a:t>
            </a:r>
            <a:r>
              <a:rPr lang="en-GB" sz="1800" b="1" i="0" dirty="0">
                <a:solidFill>
                  <a:srgbClr val="242424"/>
                </a:solidFill>
                <a:effectLst/>
                <a:latin typeface="inherit"/>
              </a:rPr>
              <a:t>98 allow (or be clarified to allow) time</a:t>
            </a:r>
            <a:r>
              <a:rPr lang="en-GB" sz="1800" b="1" i="0" dirty="0">
                <a:solidFill>
                  <a:srgbClr val="242424"/>
                </a:solidFill>
                <a:effectLst/>
                <a:latin typeface="Cambria Math" panose="02040503050406030204" pitchFamily="18" charset="0"/>
              </a:rPr>
              <a:t>‑</a:t>
            </a:r>
            <a:r>
              <a:rPr lang="en-GB" sz="1800" b="1" i="0" dirty="0">
                <a:solidFill>
                  <a:srgbClr val="242424"/>
                </a:solidFill>
                <a:effectLst/>
                <a:latin typeface="inherit"/>
              </a:rPr>
              <a:t>centred or product</a:t>
            </a:r>
            <a:r>
              <a:rPr lang="en-GB" sz="1800" b="1" i="0" dirty="0">
                <a:solidFill>
                  <a:srgbClr val="242424"/>
                </a:solidFill>
                <a:effectLst/>
                <a:latin typeface="Cambria Math" panose="02040503050406030204" pitchFamily="18" charset="0"/>
              </a:rPr>
              <a:t>‑</a:t>
            </a:r>
            <a:r>
              <a:rPr lang="en-GB" sz="1800" b="1" i="0" dirty="0">
                <a:solidFill>
                  <a:srgbClr val="242424"/>
                </a:solidFill>
                <a:effectLst/>
                <a:latin typeface="inherit"/>
              </a:rPr>
              <a:t>specific temporal selection methods where more appropriate?</a:t>
            </a:r>
            <a:endParaRPr lang="en-GB" sz="1800" b="1" i="0" dirty="0">
              <a:solidFill>
                <a:srgbClr val="242424"/>
              </a:solidFill>
              <a:effectLst/>
              <a:latin typeface="Aptos" panose="020B0004020202020204" pitchFamily="34" charset="0"/>
            </a:endParaRPr>
          </a:p>
          <a:p>
            <a:endParaRPr lang="en-GB" dirty="0"/>
          </a:p>
        </p:txBody>
      </p:sp>
    </p:spTree>
    <p:extLst>
      <p:ext uri="{BB962C8B-B14F-4D97-AF65-F5344CB8AC3E}">
        <p14:creationId xmlns:p14="http://schemas.microsoft.com/office/powerpoint/2010/main" val="2094374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B4F06-30CF-5104-D043-01D105CB3C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54FE0F-CCBB-5A50-BC50-3E6F53395BFE}"/>
              </a:ext>
            </a:extLst>
          </p:cNvPr>
          <p:cNvSpPr>
            <a:spLocks noGrp="1"/>
          </p:cNvSpPr>
          <p:nvPr>
            <p:ph type="title"/>
          </p:nvPr>
        </p:nvSpPr>
        <p:spPr/>
        <p:txBody>
          <a:bodyPr/>
          <a:lstStyle/>
          <a:p>
            <a:r>
              <a:rPr lang="en-GB" dirty="0"/>
              <a:t>TWCWG inputs</a:t>
            </a:r>
          </a:p>
        </p:txBody>
      </p:sp>
      <p:pic>
        <p:nvPicPr>
          <p:cNvPr id="4" name="Picture 3">
            <a:extLst>
              <a:ext uri="{FF2B5EF4-FFF2-40B4-BE49-F238E27FC236}">
                <a16:creationId xmlns:a16="http://schemas.microsoft.com/office/drawing/2014/main" id="{47E90B8E-4B62-41A0-3204-737FD0CA9E6D}"/>
              </a:ext>
            </a:extLst>
          </p:cNvPr>
          <p:cNvPicPr>
            <a:picLocks noChangeAspect="1"/>
          </p:cNvPicPr>
          <p:nvPr/>
        </p:nvPicPr>
        <p:blipFill>
          <a:blip r:embed="rId2"/>
          <a:stretch>
            <a:fillRect/>
          </a:stretch>
        </p:blipFill>
        <p:spPr>
          <a:xfrm>
            <a:off x="4237276" y="1130596"/>
            <a:ext cx="7557522" cy="2701912"/>
          </a:xfrm>
          <a:prstGeom prst="rect">
            <a:avLst/>
          </a:prstGeom>
        </p:spPr>
      </p:pic>
      <p:sp>
        <p:nvSpPr>
          <p:cNvPr id="6" name="Rectangle 5">
            <a:extLst>
              <a:ext uri="{FF2B5EF4-FFF2-40B4-BE49-F238E27FC236}">
                <a16:creationId xmlns:a16="http://schemas.microsoft.com/office/drawing/2014/main" id="{E9947B83-3DE9-2C87-5E72-041DDD9D3031}"/>
              </a:ext>
            </a:extLst>
          </p:cNvPr>
          <p:cNvSpPr/>
          <p:nvPr/>
        </p:nvSpPr>
        <p:spPr>
          <a:xfrm>
            <a:off x="3420044" y="5415596"/>
            <a:ext cx="9459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82EBDDAF-3392-6729-E7E9-14918BBA94F5}"/>
              </a:ext>
            </a:extLst>
          </p:cNvPr>
          <p:cNvSpPr txBox="1"/>
          <p:nvPr/>
        </p:nvSpPr>
        <p:spPr>
          <a:xfrm>
            <a:off x="2741051" y="6315390"/>
            <a:ext cx="1452577" cy="369332"/>
          </a:xfrm>
          <a:prstGeom prst="rect">
            <a:avLst/>
          </a:prstGeom>
          <a:noFill/>
        </p:spPr>
        <p:txBody>
          <a:bodyPr wrap="none" rtlCol="0">
            <a:spAutoFit/>
          </a:bodyPr>
          <a:lstStyle/>
          <a:p>
            <a:r>
              <a:rPr lang="en-GB" dirty="0"/>
              <a:t>System Time</a:t>
            </a:r>
          </a:p>
        </p:txBody>
      </p:sp>
      <p:sp>
        <p:nvSpPr>
          <p:cNvPr id="8" name="Rectangle 7">
            <a:extLst>
              <a:ext uri="{FF2B5EF4-FFF2-40B4-BE49-F238E27FC236}">
                <a16:creationId xmlns:a16="http://schemas.microsoft.com/office/drawing/2014/main" id="{401EC950-49AB-03F5-0B4E-062AE245C151}"/>
              </a:ext>
            </a:extLst>
          </p:cNvPr>
          <p:cNvSpPr/>
          <p:nvPr/>
        </p:nvSpPr>
        <p:spPr>
          <a:xfrm>
            <a:off x="1132334" y="5132607"/>
            <a:ext cx="94593" cy="91440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928238EF-D943-4AC1-8ADA-7C88086DD1CC}"/>
              </a:ext>
            </a:extLst>
          </p:cNvPr>
          <p:cNvSpPr txBox="1"/>
          <p:nvPr/>
        </p:nvSpPr>
        <p:spPr>
          <a:xfrm>
            <a:off x="250506" y="4763275"/>
            <a:ext cx="1764842" cy="369332"/>
          </a:xfrm>
          <a:prstGeom prst="rect">
            <a:avLst/>
          </a:prstGeom>
          <a:noFill/>
        </p:spPr>
        <p:txBody>
          <a:bodyPr wrap="none" rtlCol="0">
            <a:spAutoFit/>
          </a:bodyPr>
          <a:lstStyle/>
          <a:p>
            <a:r>
              <a:rPr lang="en-GB" dirty="0"/>
              <a:t>data timestamp</a:t>
            </a:r>
          </a:p>
        </p:txBody>
      </p:sp>
      <p:cxnSp>
        <p:nvCxnSpPr>
          <p:cNvPr id="11" name="Straight Arrow Connector 10">
            <a:extLst>
              <a:ext uri="{FF2B5EF4-FFF2-40B4-BE49-F238E27FC236}">
                <a16:creationId xmlns:a16="http://schemas.microsoft.com/office/drawing/2014/main" id="{F12B0C4D-6091-3C95-3688-52E969DAA12F}"/>
              </a:ext>
            </a:extLst>
          </p:cNvPr>
          <p:cNvCxnSpPr>
            <a:cxnSpLocks/>
          </p:cNvCxnSpPr>
          <p:nvPr/>
        </p:nvCxnSpPr>
        <p:spPr>
          <a:xfrm>
            <a:off x="1226927" y="5727403"/>
            <a:ext cx="219311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73FD426E-2727-CBD3-99E2-3483D5491E8B}"/>
              </a:ext>
            </a:extLst>
          </p:cNvPr>
          <p:cNvSpPr txBox="1"/>
          <p:nvPr/>
        </p:nvSpPr>
        <p:spPr>
          <a:xfrm>
            <a:off x="1408234" y="5265738"/>
            <a:ext cx="1964513" cy="461665"/>
          </a:xfrm>
          <a:prstGeom prst="rect">
            <a:avLst/>
          </a:prstGeom>
          <a:noFill/>
        </p:spPr>
        <p:txBody>
          <a:bodyPr wrap="none" rtlCol="0">
            <a:spAutoFit/>
          </a:bodyPr>
          <a:lstStyle/>
          <a:p>
            <a:pPr algn="ctr"/>
            <a:r>
              <a:rPr lang="en-GB" sz="1200" b="1" dirty="0"/>
              <a:t>&lt;= discrimination interval</a:t>
            </a:r>
          </a:p>
          <a:p>
            <a:pPr algn="ctr"/>
            <a:r>
              <a:rPr lang="en-GB" sz="1200" b="1" dirty="0"/>
              <a:t>(</a:t>
            </a:r>
            <a:r>
              <a:rPr lang="en-GB" sz="1200" b="1" dirty="0" err="1"/>
              <a:t>timeRecordInterval</a:t>
            </a:r>
            <a:r>
              <a:rPr lang="en-GB" sz="1200" b="1" dirty="0"/>
              <a:t>)</a:t>
            </a:r>
          </a:p>
        </p:txBody>
      </p:sp>
      <p:sp>
        <p:nvSpPr>
          <p:cNvPr id="14" name="Rectangle 13">
            <a:extLst>
              <a:ext uri="{FF2B5EF4-FFF2-40B4-BE49-F238E27FC236}">
                <a16:creationId xmlns:a16="http://schemas.microsoft.com/office/drawing/2014/main" id="{92B76E6B-F585-C780-A190-1F02224F746E}"/>
              </a:ext>
            </a:extLst>
          </p:cNvPr>
          <p:cNvSpPr/>
          <p:nvPr/>
        </p:nvSpPr>
        <p:spPr>
          <a:xfrm>
            <a:off x="9265538" y="5476962"/>
            <a:ext cx="9459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3F890E6B-F181-0EE3-1D67-1DD8A74A1631}"/>
              </a:ext>
            </a:extLst>
          </p:cNvPr>
          <p:cNvSpPr txBox="1"/>
          <p:nvPr/>
        </p:nvSpPr>
        <p:spPr>
          <a:xfrm>
            <a:off x="8586545" y="6376756"/>
            <a:ext cx="1452577" cy="369332"/>
          </a:xfrm>
          <a:prstGeom prst="rect">
            <a:avLst/>
          </a:prstGeom>
          <a:noFill/>
        </p:spPr>
        <p:txBody>
          <a:bodyPr wrap="none" rtlCol="0">
            <a:spAutoFit/>
          </a:bodyPr>
          <a:lstStyle/>
          <a:p>
            <a:r>
              <a:rPr lang="en-GB" dirty="0"/>
              <a:t>System Time</a:t>
            </a:r>
          </a:p>
        </p:txBody>
      </p:sp>
      <p:sp>
        <p:nvSpPr>
          <p:cNvPr id="16" name="Rectangle 15">
            <a:extLst>
              <a:ext uri="{FF2B5EF4-FFF2-40B4-BE49-F238E27FC236}">
                <a16:creationId xmlns:a16="http://schemas.microsoft.com/office/drawing/2014/main" id="{32E2B1CF-A1AA-9807-AB8F-582EA7F14B8D}"/>
              </a:ext>
            </a:extLst>
          </p:cNvPr>
          <p:cNvSpPr/>
          <p:nvPr/>
        </p:nvSpPr>
        <p:spPr>
          <a:xfrm>
            <a:off x="6977828" y="5193973"/>
            <a:ext cx="94593" cy="91440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21CB7771-B103-7BB8-6D48-A16C400AEAE5}"/>
              </a:ext>
            </a:extLst>
          </p:cNvPr>
          <p:cNvSpPr txBox="1"/>
          <p:nvPr/>
        </p:nvSpPr>
        <p:spPr>
          <a:xfrm>
            <a:off x="6096000" y="4824641"/>
            <a:ext cx="1587358" cy="369332"/>
          </a:xfrm>
          <a:prstGeom prst="rect">
            <a:avLst/>
          </a:prstGeom>
          <a:noFill/>
        </p:spPr>
        <p:txBody>
          <a:bodyPr wrap="none" rtlCol="0">
            <a:spAutoFit/>
          </a:bodyPr>
          <a:lstStyle/>
          <a:p>
            <a:r>
              <a:rPr lang="en-GB" dirty="0" err="1"/>
              <a:t>startDateTime</a:t>
            </a:r>
            <a:endParaRPr lang="en-GB" dirty="0"/>
          </a:p>
        </p:txBody>
      </p:sp>
      <p:sp>
        <p:nvSpPr>
          <p:cNvPr id="20" name="Rectangle 19">
            <a:extLst>
              <a:ext uri="{FF2B5EF4-FFF2-40B4-BE49-F238E27FC236}">
                <a16:creationId xmlns:a16="http://schemas.microsoft.com/office/drawing/2014/main" id="{A77EA01B-EAF4-6E19-EFE3-FACC989CE5FF}"/>
              </a:ext>
            </a:extLst>
          </p:cNvPr>
          <p:cNvSpPr/>
          <p:nvPr/>
        </p:nvSpPr>
        <p:spPr>
          <a:xfrm>
            <a:off x="10955264" y="5132607"/>
            <a:ext cx="94593" cy="91440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3BC2E119-AA10-BA0E-1A25-38E692CBD5E1}"/>
              </a:ext>
            </a:extLst>
          </p:cNvPr>
          <p:cNvSpPr txBox="1"/>
          <p:nvPr/>
        </p:nvSpPr>
        <p:spPr>
          <a:xfrm>
            <a:off x="10073436" y="4763275"/>
            <a:ext cx="1504643" cy="369332"/>
          </a:xfrm>
          <a:prstGeom prst="rect">
            <a:avLst/>
          </a:prstGeom>
          <a:noFill/>
        </p:spPr>
        <p:txBody>
          <a:bodyPr wrap="none" rtlCol="0">
            <a:spAutoFit/>
          </a:bodyPr>
          <a:lstStyle/>
          <a:p>
            <a:r>
              <a:rPr lang="en-GB" dirty="0" err="1"/>
              <a:t>endDateTime</a:t>
            </a:r>
            <a:endParaRPr lang="en-GB" dirty="0"/>
          </a:p>
        </p:txBody>
      </p:sp>
      <p:cxnSp>
        <p:nvCxnSpPr>
          <p:cNvPr id="23" name="Straight Arrow Connector 22">
            <a:extLst>
              <a:ext uri="{FF2B5EF4-FFF2-40B4-BE49-F238E27FC236}">
                <a16:creationId xmlns:a16="http://schemas.microsoft.com/office/drawing/2014/main" id="{79BF1D41-2C60-6422-8CEE-122928EF31A4}"/>
              </a:ext>
            </a:extLst>
          </p:cNvPr>
          <p:cNvCxnSpPr/>
          <p:nvPr/>
        </p:nvCxnSpPr>
        <p:spPr>
          <a:xfrm flipH="1">
            <a:off x="7072421" y="5727403"/>
            <a:ext cx="219311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523393C4-624C-D586-1AD1-A7A82298798E}"/>
              </a:ext>
            </a:extLst>
          </p:cNvPr>
          <p:cNvCxnSpPr>
            <a:cxnSpLocks/>
          </p:cNvCxnSpPr>
          <p:nvPr/>
        </p:nvCxnSpPr>
        <p:spPr>
          <a:xfrm flipH="1">
            <a:off x="3163614" y="1823819"/>
            <a:ext cx="1073662" cy="3137064"/>
          </a:xfrm>
          <a:prstGeom prst="straightConnector1">
            <a:avLst/>
          </a:prstGeom>
          <a:ln w="19050" cap="flat" cmpd="sng" algn="ctr">
            <a:solidFill>
              <a:schemeClr val="accent4"/>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9C1BEC6F-AA2E-392A-F200-34D9B9A71F42}"/>
              </a:ext>
            </a:extLst>
          </p:cNvPr>
          <p:cNvCxnSpPr>
            <a:cxnSpLocks/>
          </p:cNvCxnSpPr>
          <p:nvPr/>
        </p:nvCxnSpPr>
        <p:spPr>
          <a:xfrm>
            <a:off x="8472766" y="2791167"/>
            <a:ext cx="0" cy="1941135"/>
          </a:xfrm>
          <a:prstGeom prst="straightConnector1">
            <a:avLst/>
          </a:prstGeom>
          <a:ln w="19050" cap="flat" cmpd="sng" algn="ctr">
            <a:solidFill>
              <a:schemeClr val="accent4"/>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33" name="Straight Arrow Connector 32">
            <a:extLst>
              <a:ext uri="{FF2B5EF4-FFF2-40B4-BE49-F238E27FC236}">
                <a16:creationId xmlns:a16="http://schemas.microsoft.com/office/drawing/2014/main" id="{8353924E-36A2-0607-2679-9B15F7AFDCFB}"/>
              </a:ext>
            </a:extLst>
          </p:cNvPr>
          <p:cNvCxnSpPr>
            <a:cxnSpLocks/>
          </p:cNvCxnSpPr>
          <p:nvPr/>
        </p:nvCxnSpPr>
        <p:spPr>
          <a:xfrm flipH="1">
            <a:off x="3372747" y="3324603"/>
            <a:ext cx="889392" cy="1636280"/>
          </a:xfrm>
          <a:prstGeom prst="straightConnector1">
            <a:avLst/>
          </a:prstGeom>
          <a:ln w="19050" cap="flat" cmpd="sng" algn="ctr">
            <a:solidFill>
              <a:schemeClr val="accent4"/>
            </a:solidFill>
            <a:prstDash val="dash"/>
            <a:round/>
            <a:headEnd type="none" w="med" len="med"/>
            <a:tailEnd type="triangl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717029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0D4C9-A281-684C-DAAC-F818529BA3E4}"/>
              </a:ext>
            </a:extLst>
          </p:cNvPr>
          <p:cNvSpPr>
            <a:spLocks noGrp="1"/>
          </p:cNvSpPr>
          <p:nvPr>
            <p:ph type="title"/>
          </p:nvPr>
        </p:nvSpPr>
        <p:spPr/>
        <p:txBody>
          <a:bodyPr/>
          <a:lstStyle/>
          <a:p>
            <a:r>
              <a:rPr lang="en-GB" dirty="0"/>
              <a:t>TWCWG inputs</a:t>
            </a:r>
          </a:p>
        </p:txBody>
      </p:sp>
      <p:sp>
        <p:nvSpPr>
          <p:cNvPr id="3" name="Content Placeholder 2">
            <a:extLst>
              <a:ext uri="{FF2B5EF4-FFF2-40B4-BE49-F238E27FC236}">
                <a16:creationId xmlns:a16="http://schemas.microsoft.com/office/drawing/2014/main" id="{C969EA67-0E00-0B2E-7A8F-75DB017461E4}"/>
              </a:ext>
            </a:extLst>
          </p:cNvPr>
          <p:cNvSpPr>
            <a:spLocks noGrp="1"/>
          </p:cNvSpPr>
          <p:nvPr>
            <p:ph idx="1"/>
          </p:nvPr>
        </p:nvSpPr>
        <p:spPr>
          <a:xfrm>
            <a:off x="771159" y="1697113"/>
            <a:ext cx="3439510" cy="3082706"/>
          </a:xfrm>
        </p:spPr>
        <p:txBody>
          <a:bodyPr/>
          <a:lstStyle/>
          <a:p>
            <a:r>
              <a:rPr lang="en-GB" sz="1800" b="0" i="0" dirty="0">
                <a:solidFill>
                  <a:srgbClr val="242424"/>
                </a:solidFill>
                <a:effectLst/>
                <a:latin typeface="inherit"/>
              </a:rPr>
              <a:t>…following up on this Canadian redline proposal for the text at Clause 13.2 in S-98…if it was acceptable and could be incorporated? </a:t>
            </a:r>
          </a:p>
          <a:p>
            <a:r>
              <a:rPr lang="en-GB" sz="1800" b="0" i="0" dirty="0">
                <a:solidFill>
                  <a:srgbClr val="242424"/>
                </a:solidFill>
                <a:effectLst/>
                <a:latin typeface="inherit"/>
              </a:rPr>
              <a:t>Additionally, can you confirm if S-98 Clause 13.2 applies to </a:t>
            </a:r>
            <a:r>
              <a:rPr lang="en-GB" sz="1800" b="1" i="1" dirty="0">
                <a:solidFill>
                  <a:srgbClr val="242424"/>
                </a:solidFill>
                <a:effectLst/>
                <a:latin typeface="inherit"/>
              </a:rPr>
              <a:t>both</a:t>
            </a:r>
            <a:r>
              <a:rPr lang="en-GB" sz="1800" b="0" i="0" dirty="0">
                <a:solidFill>
                  <a:srgbClr val="242424"/>
                </a:solidFill>
                <a:effectLst/>
                <a:latin typeface="inherit"/>
              </a:rPr>
              <a:t> S-104 &amp; S-111 (I think it does).</a:t>
            </a:r>
            <a:endParaRPr lang="en-GB" sz="1800" b="0" i="0" dirty="0">
              <a:solidFill>
                <a:srgbClr val="242424"/>
              </a:solidFill>
              <a:effectLst/>
              <a:latin typeface="Aptos" panose="020B0004020202020204" pitchFamily="34" charset="0"/>
            </a:endParaRPr>
          </a:p>
          <a:p>
            <a:endParaRPr lang="en-GB" dirty="0"/>
          </a:p>
        </p:txBody>
      </p:sp>
      <p:pic>
        <p:nvPicPr>
          <p:cNvPr id="5" name="Picture 4">
            <a:extLst>
              <a:ext uri="{FF2B5EF4-FFF2-40B4-BE49-F238E27FC236}">
                <a16:creationId xmlns:a16="http://schemas.microsoft.com/office/drawing/2014/main" id="{42B8A04B-33FD-9939-8269-BCDC29671ACB}"/>
              </a:ext>
            </a:extLst>
          </p:cNvPr>
          <p:cNvPicPr>
            <a:picLocks noChangeAspect="1"/>
          </p:cNvPicPr>
          <p:nvPr/>
        </p:nvPicPr>
        <p:blipFill>
          <a:blip r:embed="rId2"/>
          <a:stretch>
            <a:fillRect/>
          </a:stretch>
        </p:blipFill>
        <p:spPr>
          <a:xfrm>
            <a:off x="4812241" y="692314"/>
            <a:ext cx="7075774" cy="5473372"/>
          </a:xfrm>
          <a:prstGeom prst="rect">
            <a:avLst/>
          </a:prstGeom>
        </p:spPr>
      </p:pic>
      <p:sp>
        <p:nvSpPr>
          <p:cNvPr id="6" name="Rectangle 5">
            <a:extLst>
              <a:ext uri="{FF2B5EF4-FFF2-40B4-BE49-F238E27FC236}">
                <a16:creationId xmlns:a16="http://schemas.microsoft.com/office/drawing/2014/main" id="{88899E93-6FEB-C58D-0891-E11871B72CF6}"/>
              </a:ext>
            </a:extLst>
          </p:cNvPr>
          <p:cNvSpPr/>
          <p:nvPr/>
        </p:nvSpPr>
        <p:spPr>
          <a:xfrm>
            <a:off x="3253719" y="5534275"/>
            <a:ext cx="9459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95013FD0-C864-1ED6-1073-35BEA66F867C}"/>
              </a:ext>
            </a:extLst>
          </p:cNvPr>
          <p:cNvSpPr txBox="1"/>
          <p:nvPr/>
        </p:nvSpPr>
        <p:spPr>
          <a:xfrm>
            <a:off x="2574726" y="6434069"/>
            <a:ext cx="1452577" cy="369332"/>
          </a:xfrm>
          <a:prstGeom prst="rect">
            <a:avLst/>
          </a:prstGeom>
          <a:noFill/>
        </p:spPr>
        <p:txBody>
          <a:bodyPr wrap="none" rtlCol="0">
            <a:spAutoFit/>
          </a:bodyPr>
          <a:lstStyle/>
          <a:p>
            <a:r>
              <a:rPr lang="en-GB" dirty="0"/>
              <a:t>System Time</a:t>
            </a:r>
          </a:p>
        </p:txBody>
      </p:sp>
      <p:sp>
        <p:nvSpPr>
          <p:cNvPr id="8" name="Rectangle 7">
            <a:extLst>
              <a:ext uri="{FF2B5EF4-FFF2-40B4-BE49-F238E27FC236}">
                <a16:creationId xmlns:a16="http://schemas.microsoft.com/office/drawing/2014/main" id="{F545C0A9-30AE-D566-3996-E68B2319C62D}"/>
              </a:ext>
            </a:extLst>
          </p:cNvPr>
          <p:cNvSpPr/>
          <p:nvPr/>
        </p:nvSpPr>
        <p:spPr>
          <a:xfrm>
            <a:off x="966009" y="5251286"/>
            <a:ext cx="94593" cy="91440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9E8178C1-B7C9-36E9-53F0-7373BAD3A068}"/>
              </a:ext>
            </a:extLst>
          </p:cNvPr>
          <p:cNvSpPr txBox="1"/>
          <p:nvPr/>
        </p:nvSpPr>
        <p:spPr>
          <a:xfrm>
            <a:off x="84181" y="4881954"/>
            <a:ext cx="1587358" cy="369332"/>
          </a:xfrm>
          <a:prstGeom prst="rect">
            <a:avLst/>
          </a:prstGeom>
          <a:noFill/>
        </p:spPr>
        <p:txBody>
          <a:bodyPr wrap="none" rtlCol="0">
            <a:spAutoFit/>
          </a:bodyPr>
          <a:lstStyle/>
          <a:p>
            <a:r>
              <a:rPr lang="en-GB" dirty="0" err="1"/>
              <a:t>startDateTime</a:t>
            </a:r>
            <a:endParaRPr lang="en-GB" dirty="0"/>
          </a:p>
        </p:txBody>
      </p:sp>
      <p:sp>
        <p:nvSpPr>
          <p:cNvPr id="10" name="Rectangle 9">
            <a:extLst>
              <a:ext uri="{FF2B5EF4-FFF2-40B4-BE49-F238E27FC236}">
                <a16:creationId xmlns:a16="http://schemas.microsoft.com/office/drawing/2014/main" id="{21B19A8A-30CB-644D-C0E6-07CBAE3499F7}"/>
              </a:ext>
            </a:extLst>
          </p:cNvPr>
          <p:cNvSpPr/>
          <p:nvPr/>
        </p:nvSpPr>
        <p:spPr>
          <a:xfrm>
            <a:off x="4099035" y="5300526"/>
            <a:ext cx="94593" cy="91440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7DE3592B-61BB-5689-2222-25915110FC8E}"/>
              </a:ext>
            </a:extLst>
          </p:cNvPr>
          <p:cNvSpPr txBox="1"/>
          <p:nvPr/>
        </p:nvSpPr>
        <p:spPr>
          <a:xfrm>
            <a:off x="3358922" y="4881954"/>
            <a:ext cx="1504643" cy="369332"/>
          </a:xfrm>
          <a:prstGeom prst="rect">
            <a:avLst/>
          </a:prstGeom>
          <a:noFill/>
        </p:spPr>
        <p:txBody>
          <a:bodyPr wrap="none" rtlCol="0">
            <a:spAutoFit/>
          </a:bodyPr>
          <a:lstStyle/>
          <a:p>
            <a:r>
              <a:rPr lang="en-GB" dirty="0" err="1"/>
              <a:t>endDateTime</a:t>
            </a:r>
            <a:endParaRPr lang="en-GB" dirty="0"/>
          </a:p>
        </p:txBody>
      </p:sp>
      <p:cxnSp>
        <p:nvCxnSpPr>
          <p:cNvPr id="12" name="Straight Arrow Connector 11">
            <a:extLst>
              <a:ext uri="{FF2B5EF4-FFF2-40B4-BE49-F238E27FC236}">
                <a16:creationId xmlns:a16="http://schemas.microsoft.com/office/drawing/2014/main" id="{2129DA0A-65D0-C122-E01E-77061FF7A9A6}"/>
              </a:ext>
            </a:extLst>
          </p:cNvPr>
          <p:cNvCxnSpPr/>
          <p:nvPr/>
        </p:nvCxnSpPr>
        <p:spPr>
          <a:xfrm flipH="1">
            <a:off x="1060602" y="5784716"/>
            <a:ext cx="219311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67DC567C-2A5E-F98F-02C4-3BBD1950BB22}"/>
              </a:ext>
            </a:extLst>
          </p:cNvPr>
          <p:cNvCxnSpPr>
            <a:cxnSpLocks/>
          </p:cNvCxnSpPr>
          <p:nvPr/>
        </p:nvCxnSpPr>
        <p:spPr>
          <a:xfrm>
            <a:off x="3358922" y="5968515"/>
            <a:ext cx="74011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F77D8800-A032-CA66-ABF9-D43D0C08541C}"/>
              </a:ext>
            </a:extLst>
          </p:cNvPr>
          <p:cNvSpPr txBox="1"/>
          <p:nvPr/>
        </p:nvSpPr>
        <p:spPr>
          <a:xfrm>
            <a:off x="2066133" y="5474474"/>
            <a:ext cx="287258" cy="369332"/>
          </a:xfrm>
          <a:prstGeom prst="rect">
            <a:avLst/>
          </a:prstGeom>
          <a:noFill/>
        </p:spPr>
        <p:txBody>
          <a:bodyPr wrap="none" rtlCol="0">
            <a:spAutoFit/>
          </a:bodyPr>
          <a:lstStyle/>
          <a:p>
            <a:r>
              <a:rPr lang="en-GB" i="1" dirty="0"/>
              <a:t>x</a:t>
            </a:r>
          </a:p>
        </p:txBody>
      </p:sp>
      <p:sp>
        <p:nvSpPr>
          <p:cNvPr id="18" name="TextBox 17">
            <a:extLst>
              <a:ext uri="{FF2B5EF4-FFF2-40B4-BE49-F238E27FC236}">
                <a16:creationId xmlns:a16="http://schemas.microsoft.com/office/drawing/2014/main" id="{6F7CB08E-5C91-49F6-F07D-022AE96892F5}"/>
              </a:ext>
            </a:extLst>
          </p:cNvPr>
          <p:cNvSpPr txBox="1"/>
          <p:nvPr/>
        </p:nvSpPr>
        <p:spPr>
          <a:xfrm>
            <a:off x="3579242" y="5944954"/>
            <a:ext cx="288862" cy="369332"/>
          </a:xfrm>
          <a:prstGeom prst="rect">
            <a:avLst/>
          </a:prstGeom>
          <a:noFill/>
        </p:spPr>
        <p:txBody>
          <a:bodyPr wrap="none" rtlCol="0">
            <a:spAutoFit/>
          </a:bodyPr>
          <a:lstStyle/>
          <a:p>
            <a:r>
              <a:rPr lang="en-GB" i="1" dirty="0"/>
              <a:t>y</a:t>
            </a:r>
          </a:p>
        </p:txBody>
      </p:sp>
      <p:sp>
        <p:nvSpPr>
          <p:cNvPr id="19" name="TextBox 18">
            <a:extLst>
              <a:ext uri="{FF2B5EF4-FFF2-40B4-BE49-F238E27FC236}">
                <a16:creationId xmlns:a16="http://schemas.microsoft.com/office/drawing/2014/main" id="{93454DAA-053C-3B41-83F7-951F9BDC0F77}"/>
              </a:ext>
            </a:extLst>
          </p:cNvPr>
          <p:cNvSpPr txBox="1"/>
          <p:nvPr/>
        </p:nvSpPr>
        <p:spPr>
          <a:xfrm>
            <a:off x="1203823" y="6315273"/>
            <a:ext cx="999376" cy="369332"/>
          </a:xfrm>
          <a:prstGeom prst="rect">
            <a:avLst/>
          </a:prstGeom>
          <a:noFill/>
        </p:spPr>
        <p:txBody>
          <a:bodyPr wrap="none" rtlCol="0">
            <a:spAutoFit/>
          </a:bodyPr>
          <a:lstStyle/>
          <a:p>
            <a:r>
              <a:rPr lang="en-GB" b="1" i="1" dirty="0">
                <a:solidFill>
                  <a:srgbClr val="C00000"/>
                </a:solidFill>
              </a:rPr>
              <a:t>min(</a:t>
            </a:r>
            <a:r>
              <a:rPr lang="en-GB" b="1" i="1" dirty="0" err="1">
                <a:solidFill>
                  <a:srgbClr val="C00000"/>
                </a:solidFill>
              </a:rPr>
              <a:t>x,y</a:t>
            </a:r>
            <a:r>
              <a:rPr lang="en-GB" b="1" i="1" dirty="0">
                <a:solidFill>
                  <a:srgbClr val="C00000"/>
                </a:solidFill>
              </a:rPr>
              <a:t>)</a:t>
            </a:r>
          </a:p>
        </p:txBody>
      </p:sp>
    </p:spTree>
    <p:extLst>
      <p:ext uri="{BB962C8B-B14F-4D97-AF65-F5344CB8AC3E}">
        <p14:creationId xmlns:p14="http://schemas.microsoft.com/office/powerpoint/2010/main" val="2569886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38613-6EB5-A4DB-5702-FDFA3FC14B30}"/>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D7DCD44-A67F-C3FE-D061-2BB2BEB6442F}"/>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2721670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BAF6D-4054-A6D6-E4AB-CEF7B650C137}"/>
              </a:ext>
            </a:extLst>
          </p:cNvPr>
          <p:cNvSpPr>
            <a:spLocks noGrp="1"/>
          </p:cNvSpPr>
          <p:nvPr>
            <p:ph type="title"/>
          </p:nvPr>
        </p:nvSpPr>
        <p:spPr/>
        <p:txBody>
          <a:bodyPr/>
          <a:lstStyle/>
          <a:p>
            <a:r>
              <a:rPr lang="en-GB" dirty="0"/>
              <a:t>Certificates and Signing</a:t>
            </a:r>
          </a:p>
        </p:txBody>
      </p:sp>
      <p:sp>
        <p:nvSpPr>
          <p:cNvPr id="3" name="Content Placeholder 2">
            <a:extLst>
              <a:ext uri="{FF2B5EF4-FFF2-40B4-BE49-F238E27FC236}">
                <a16:creationId xmlns:a16="http://schemas.microsoft.com/office/drawing/2014/main" id="{15A913D4-27D6-9791-7E6C-08F7E598FB20}"/>
              </a:ext>
            </a:extLst>
          </p:cNvPr>
          <p:cNvSpPr>
            <a:spLocks noGrp="1"/>
          </p:cNvSpPr>
          <p:nvPr>
            <p:ph idx="1"/>
          </p:nvPr>
        </p:nvSpPr>
        <p:spPr>
          <a:xfrm>
            <a:off x="922283" y="2340632"/>
            <a:ext cx="4364421" cy="2744294"/>
          </a:xfrm>
        </p:spPr>
        <p:txBody>
          <a:bodyPr/>
          <a:lstStyle/>
          <a:p>
            <a:r>
              <a:rPr lang="en-GB" dirty="0"/>
              <a:t>IHO is publishing documentation for those joining the IHO data protection scheme</a:t>
            </a:r>
          </a:p>
          <a:p>
            <a:r>
              <a:rPr lang="en-GB" dirty="0"/>
              <a:t>Data Producer guidance notes (draft) shown </a:t>
            </a:r>
          </a:p>
        </p:txBody>
      </p:sp>
      <p:pic>
        <p:nvPicPr>
          <p:cNvPr id="4" name="Picture 3">
            <a:extLst>
              <a:ext uri="{FF2B5EF4-FFF2-40B4-BE49-F238E27FC236}">
                <a16:creationId xmlns:a16="http://schemas.microsoft.com/office/drawing/2014/main" id="{CA53815C-DC3F-2C4A-D4AC-4298A2A832B2}"/>
              </a:ext>
            </a:extLst>
          </p:cNvPr>
          <p:cNvPicPr>
            <a:picLocks noChangeAspect="1"/>
          </p:cNvPicPr>
          <p:nvPr/>
        </p:nvPicPr>
        <p:blipFill>
          <a:blip r:embed="rId2"/>
          <a:stretch>
            <a:fillRect/>
          </a:stretch>
        </p:blipFill>
        <p:spPr>
          <a:xfrm>
            <a:off x="5486166" y="2258630"/>
            <a:ext cx="5867634" cy="2744294"/>
          </a:xfrm>
          <a:prstGeom prst="rect">
            <a:avLst/>
          </a:prstGeom>
        </p:spPr>
      </p:pic>
    </p:spTree>
    <p:extLst>
      <p:ext uri="{BB962C8B-B14F-4D97-AF65-F5344CB8AC3E}">
        <p14:creationId xmlns:p14="http://schemas.microsoft.com/office/powerpoint/2010/main" val="3116275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3AE84-DB98-0622-635E-5BC9BACE57A5}"/>
              </a:ext>
            </a:extLst>
          </p:cNvPr>
          <p:cNvSpPr>
            <a:spLocks noGrp="1"/>
          </p:cNvSpPr>
          <p:nvPr>
            <p:ph type="title"/>
          </p:nvPr>
        </p:nvSpPr>
        <p:spPr>
          <a:xfrm>
            <a:off x="260131" y="223315"/>
            <a:ext cx="10515600" cy="1325563"/>
          </a:xfrm>
        </p:spPr>
        <p:txBody>
          <a:bodyPr/>
          <a:lstStyle/>
          <a:p>
            <a:r>
              <a:rPr lang="en-GB" dirty="0"/>
              <a:t>Who is who?</a:t>
            </a:r>
          </a:p>
        </p:txBody>
      </p:sp>
      <p:sp>
        <p:nvSpPr>
          <p:cNvPr id="4" name="Rectangle 3">
            <a:extLst>
              <a:ext uri="{FF2B5EF4-FFF2-40B4-BE49-F238E27FC236}">
                <a16:creationId xmlns:a16="http://schemas.microsoft.com/office/drawing/2014/main" id="{B3CEFD73-3DC1-DE79-9719-7A0F1168EBCE}"/>
              </a:ext>
            </a:extLst>
          </p:cNvPr>
          <p:cNvSpPr/>
          <p:nvPr/>
        </p:nvSpPr>
        <p:spPr>
          <a:xfrm>
            <a:off x="7483363" y="1882582"/>
            <a:ext cx="1040524" cy="5885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SA</a:t>
            </a:r>
          </a:p>
        </p:txBody>
      </p:sp>
      <p:sp>
        <p:nvSpPr>
          <p:cNvPr id="6" name="Rectangle 5">
            <a:extLst>
              <a:ext uri="{FF2B5EF4-FFF2-40B4-BE49-F238E27FC236}">
                <a16:creationId xmlns:a16="http://schemas.microsoft.com/office/drawing/2014/main" id="{2E72EFC7-E564-3A90-DAB2-78217EDE576D}"/>
              </a:ext>
            </a:extLst>
          </p:cNvPr>
          <p:cNvSpPr/>
          <p:nvPr/>
        </p:nvSpPr>
        <p:spPr>
          <a:xfrm>
            <a:off x="5733392" y="3251637"/>
            <a:ext cx="1040524" cy="6674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 Server</a:t>
            </a:r>
          </a:p>
        </p:txBody>
      </p:sp>
      <p:sp>
        <p:nvSpPr>
          <p:cNvPr id="7" name="Rectangle 6">
            <a:extLst>
              <a:ext uri="{FF2B5EF4-FFF2-40B4-BE49-F238E27FC236}">
                <a16:creationId xmlns:a16="http://schemas.microsoft.com/office/drawing/2014/main" id="{F849DA95-6098-01D1-2671-08B9266F1260}"/>
              </a:ext>
            </a:extLst>
          </p:cNvPr>
          <p:cNvSpPr/>
          <p:nvPr/>
        </p:nvSpPr>
        <p:spPr>
          <a:xfrm>
            <a:off x="2187464" y="4812586"/>
            <a:ext cx="1040524" cy="6674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OEM</a:t>
            </a:r>
          </a:p>
        </p:txBody>
      </p:sp>
      <p:sp>
        <p:nvSpPr>
          <p:cNvPr id="8" name="Rectangle 7">
            <a:extLst>
              <a:ext uri="{FF2B5EF4-FFF2-40B4-BE49-F238E27FC236}">
                <a16:creationId xmlns:a16="http://schemas.microsoft.com/office/drawing/2014/main" id="{D6EF30F9-5BBC-4189-A20A-E6AECDAEB04E}"/>
              </a:ext>
            </a:extLst>
          </p:cNvPr>
          <p:cNvSpPr/>
          <p:nvPr/>
        </p:nvSpPr>
        <p:spPr>
          <a:xfrm>
            <a:off x="8523887" y="4812586"/>
            <a:ext cx="1566043" cy="6674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 Producer</a:t>
            </a:r>
          </a:p>
        </p:txBody>
      </p:sp>
      <p:sp>
        <p:nvSpPr>
          <p:cNvPr id="9" name="Rectangle 8">
            <a:extLst>
              <a:ext uri="{FF2B5EF4-FFF2-40B4-BE49-F238E27FC236}">
                <a16:creationId xmlns:a16="http://schemas.microsoft.com/office/drawing/2014/main" id="{6D21CA83-6276-3421-43C3-F3F3587FE7A7}"/>
              </a:ext>
            </a:extLst>
          </p:cNvPr>
          <p:cNvSpPr/>
          <p:nvPr/>
        </p:nvSpPr>
        <p:spPr>
          <a:xfrm>
            <a:off x="5092917" y="5146290"/>
            <a:ext cx="1566043" cy="6674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User </a:t>
            </a:r>
          </a:p>
        </p:txBody>
      </p:sp>
      <p:cxnSp>
        <p:nvCxnSpPr>
          <p:cNvPr id="13" name="Elbow Connector 12">
            <a:extLst>
              <a:ext uri="{FF2B5EF4-FFF2-40B4-BE49-F238E27FC236}">
                <a16:creationId xmlns:a16="http://schemas.microsoft.com/office/drawing/2014/main" id="{0C32D482-3962-7A75-C2FB-D064D1FD9CF8}"/>
              </a:ext>
            </a:extLst>
          </p:cNvPr>
          <p:cNvCxnSpPr>
            <a:stCxn id="6" idx="2"/>
            <a:endCxn id="9" idx="0"/>
          </p:cNvCxnSpPr>
          <p:nvPr/>
        </p:nvCxnSpPr>
        <p:spPr>
          <a:xfrm rot="5400000">
            <a:off x="5451175" y="4343810"/>
            <a:ext cx="1227245" cy="377715"/>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Elbow Connector 14">
            <a:extLst>
              <a:ext uri="{FF2B5EF4-FFF2-40B4-BE49-F238E27FC236}">
                <a16:creationId xmlns:a16="http://schemas.microsoft.com/office/drawing/2014/main" id="{6895A1A5-6515-2F60-E36E-B9C2878627F3}"/>
              </a:ext>
            </a:extLst>
          </p:cNvPr>
          <p:cNvCxnSpPr>
            <a:stCxn id="8" idx="0"/>
            <a:endCxn id="6" idx="3"/>
          </p:cNvCxnSpPr>
          <p:nvPr/>
        </p:nvCxnSpPr>
        <p:spPr>
          <a:xfrm rot="16200000" flipV="1">
            <a:off x="7426791" y="2932467"/>
            <a:ext cx="1227245" cy="253299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Elbow Connector 16">
            <a:extLst>
              <a:ext uri="{FF2B5EF4-FFF2-40B4-BE49-F238E27FC236}">
                <a16:creationId xmlns:a16="http://schemas.microsoft.com/office/drawing/2014/main" id="{D4FD09FC-2160-4D65-029C-62E9029AAD0A}"/>
              </a:ext>
            </a:extLst>
          </p:cNvPr>
          <p:cNvCxnSpPr>
            <a:stCxn id="4" idx="1"/>
            <a:endCxn id="6" idx="0"/>
          </p:cNvCxnSpPr>
          <p:nvPr/>
        </p:nvCxnSpPr>
        <p:spPr>
          <a:xfrm rot="10800000" flipV="1">
            <a:off x="6253655" y="2176871"/>
            <a:ext cx="1229709" cy="1074765"/>
          </a:xfrm>
          <a:prstGeom prst="bent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Elbow Connector 18">
            <a:extLst>
              <a:ext uri="{FF2B5EF4-FFF2-40B4-BE49-F238E27FC236}">
                <a16:creationId xmlns:a16="http://schemas.microsoft.com/office/drawing/2014/main" id="{B2FA472D-0289-C8B3-C68C-05F6D079BA48}"/>
              </a:ext>
            </a:extLst>
          </p:cNvPr>
          <p:cNvCxnSpPr>
            <a:stCxn id="4" idx="3"/>
            <a:endCxn id="8" idx="3"/>
          </p:cNvCxnSpPr>
          <p:nvPr/>
        </p:nvCxnSpPr>
        <p:spPr>
          <a:xfrm>
            <a:off x="8523887" y="2176872"/>
            <a:ext cx="1566043" cy="2969418"/>
          </a:xfrm>
          <a:prstGeom prst="bentConnector3">
            <a:avLst>
              <a:gd name="adj1" fmla="val 114597"/>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Elbow Connector 20">
            <a:extLst>
              <a:ext uri="{FF2B5EF4-FFF2-40B4-BE49-F238E27FC236}">
                <a16:creationId xmlns:a16="http://schemas.microsoft.com/office/drawing/2014/main" id="{5AC71C65-8243-E3FC-6391-928219D90808}"/>
              </a:ext>
            </a:extLst>
          </p:cNvPr>
          <p:cNvCxnSpPr>
            <a:stCxn id="4" idx="1"/>
            <a:endCxn id="7" idx="0"/>
          </p:cNvCxnSpPr>
          <p:nvPr/>
        </p:nvCxnSpPr>
        <p:spPr>
          <a:xfrm rot="10800000" flipV="1">
            <a:off x="2707727" y="2176872"/>
            <a:ext cx="4775637" cy="2635714"/>
          </a:xfrm>
          <a:prstGeom prst="bentConnector2">
            <a:avLst/>
          </a:prstGeom>
          <a:ln>
            <a:solidFill>
              <a:srgbClr val="C0000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3" name="Elbow Connector 22">
            <a:extLst>
              <a:ext uri="{FF2B5EF4-FFF2-40B4-BE49-F238E27FC236}">
                <a16:creationId xmlns:a16="http://schemas.microsoft.com/office/drawing/2014/main" id="{0AC9A5F6-8566-0499-65B6-92FE572953FF}"/>
              </a:ext>
            </a:extLst>
          </p:cNvPr>
          <p:cNvCxnSpPr>
            <a:stCxn id="9" idx="0"/>
            <a:endCxn id="6" idx="2"/>
          </p:cNvCxnSpPr>
          <p:nvPr/>
        </p:nvCxnSpPr>
        <p:spPr>
          <a:xfrm rot="5400000" flipH="1" flipV="1">
            <a:off x="5451174" y="4343811"/>
            <a:ext cx="1227245" cy="377715"/>
          </a:xfrm>
          <a:prstGeom prst="bentConnector3">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8" name="Elbow Connector 27">
            <a:extLst>
              <a:ext uri="{FF2B5EF4-FFF2-40B4-BE49-F238E27FC236}">
                <a16:creationId xmlns:a16="http://schemas.microsoft.com/office/drawing/2014/main" id="{20D04724-BF1D-CA41-4821-7D5875EE8DED}"/>
              </a:ext>
            </a:extLst>
          </p:cNvPr>
          <p:cNvCxnSpPr>
            <a:stCxn id="7" idx="3"/>
            <a:endCxn id="9" idx="1"/>
          </p:cNvCxnSpPr>
          <p:nvPr/>
        </p:nvCxnSpPr>
        <p:spPr>
          <a:xfrm>
            <a:off x="3227988" y="5146290"/>
            <a:ext cx="1864929" cy="33370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4A3B42E7-AC53-B7BD-8F49-51A8FE072EC6}"/>
              </a:ext>
            </a:extLst>
          </p:cNvPr>
          <p:cNvSpPr txBox="1"/>
          <p:nvPr/>
        </p:nvSpPr>
        <p:spPr>
          <a:xfrm>
            <a:off x="460485" y="2939009"/>
            <a:ext cx="2224250" cy="830997"/>
          </a:xfrm>
          <a:prstGeom prst="rect">
            <a:avLst/>
          </a:prstGeom>
          <a:noFill/>
        </p:spPr>
        <p:txBody>
          <a:bodyPr wrap="square" rtlCol="0">
            <a:spAutoFit/>
          </a:bodyPr>
          <a:lstStyle/>
          <a:p>
            <a:pPr algn="r"/>
            <a:r>
              <a:rPr lang="en-GB" sz="1200" dirty="0"/>
              <a:t>OEMs – get issued an M_ID/M_KEY</a:t>
            </a:r>
          </a:p>
          <a:p>
            <a:pPr algn="r"/>
            <a:endParaRPr lang="en-GB" sz="1200" dirty="0"/>
          </a:p>
          <a:p>
            <a:pPr algn="r"/>
            <a:r>
              <a:rPr lang="en-GB" sz="1200" b="1" dirty="0"/>
              <a:t>Don’t sign data</a:t>
            </a:r>
          </a:p>
        </p:txBody>
      </p:sp>
      <p:sp>
        <p:nvSpPr>
          <p:cNvPr id="33" name="TextBox 32">
            <a:extLst>
              <a:ext uri="{FF2B5EF4-FFF2-40B4-BE49-F238E27FC236}">
                <a16:creationId xmlns:a16="http://schemas.microsoft.com/office/drawing/2014/main" id="{202CC838-1367-F4FC-2F24-1EAA338A15F8}"/>
              </a:ext>
            </a:extLst>
          </p:cNvPr>
          <p:cNvSpPr txBox="1"/>
          <p:nvPr/>
        </p:nvSpPr>
        <p:spPr>
          <a:xfrm>
            <a:off x="3421774" y="3077508"/>
            <a:ext cx="2224250" cy="1015663"/>
          </a:xfrm>
          <a:prstGeom prst="rect">
            <a:avLst/>
          </a:prstGeom>
          <a:noFill/>
        </p:spPr>
        <p:txBody>
          <a:bodyPr wrap="square" rtlCol="0">
            <a:spAutoFit/>
          </a:bodyPr>
          <a:lstStyle/>
          <a:p>
            <a:pPr algn="r"/>
            <a:r>
              <a:rPr lang="en-GB" sz="1200" dirty="0"/>
              <a:t>Data Servers, apply encryption</a:t>
            </a:r>
          </a:p>
          <a:p>
            <a:pPr algn="r"/>
            <a:r>
              <a:rPr lang="en-GB" sz="1200" dirty="0"/>
              <a:t>Need all M_ID/M_KEYs</a:t>
            </a:r>
          </a:p>
          <a:p>
            <a:pPr algn="r"/>
            <a:r>
              <a:rPr lang="en-GB" sz="1200" b="1" dirty="0"/>
              <a:t>Don’t sign data</a:t>
            </a:r>
          </a:p>
          <a:p>
            <a:pPr algn="r"/>
            <a:r>
              <a:rPr lang="en-GB" sz="1200" b="1" dirty="0"/>
              <a:t>Sign CATALOG.XML</a:t>
            </a:r>
          </a:p>
          <a:p>
            <a:pPr algn="r"/>
            <a:r>
              <a:rPr lang="en-GB" sz="1200" b="1" dirty="0"/>
              <a:t>+ make S-128</a:t>
            </a:r>
          </a:p>
        </p:txBody>
      </p:sp>
      <p:sp>
        <p:nvSpPr>
          <p:cNvPr id="34" name="TextBox 33">
            <a:extLst>
              <a:ext uri="{FF2B5EF4-FFF2-40B4-BE49-F238E27FC236}">
                <a16:creationId xmlns:a16="http://schemas.microsoft.com/office/drawing/2014/main" id="{91B30316-D213-6AAF-5824-5257B6A39514}"/>
              </a:ext>
            </a:extLst>
          </p:cNvPr>
          <p:cNvSpPr txBox="1"/>
          <p:nvPr/>
        </p:nvSpPr>
        <p:spPr>
          <a:xfrm>
            <a:off x="8555279" y="5536699"/>
            <a:ext cx="1534651" cy="276999"/>
          </a:xfrm>
          <a:prstGeom prst="rect">
            <a:avLst/>
          </a:prstGeom>
          <a:noFill/>
        </p:spPr>
        <p:txBody>
          <a:bodyPr wrap="none" rtlCol="0">
            <a:spAutoFit/>
          </a:bodyPr>
          <a:lstStyle/>
          <a:p>
            <a:r>
              <a:rPr lang="en-GB" sz="1200" b="1" dirty="0"/>
              <a:t>Make and Sign data</a:t>
            </a:r>
          </a:p>
        </p:txBody>
      </p:sp>
      <p:sp>
        <p:nvSpPr>
          <p:cNvPr id="35" name="TextBox 34">
            <a:extLst>
              <a:ext uri="{FF2B5EF4-FFF2-40B4-BE49-F238E27FC236}">
                <a16:creationId xmlns:a16="http://schemas.microsoft.com/office/drawing/2014/main" id="{EE86DF36-4C12-9EC5-3561-3FF0B87056B5}"/>
              </a:ext>
            </a:extLst>
          </p:cNvPr>
          <p:cNvSpPr txBox="1"/>
          <p:nvPr/>
        </p:nvSpPr>
        <p:spPr>
          <a:xfrm>
            <a:off x="10319845" y="3234555"/>
            <a:ext cx="1425070" cy="307777"/>
          </a:xfrm>
          <a:prstGeom prst="rect">
            <a:avLst/>
          </a:prstGeom>
          <a:noFill/>
        </p:spPr>
        <p:txBody>
          <a:bodyPr wrap="none" rtlCol="0">
            <a:spAutoFit/>
          </a:bodyPr>
          <a:lstStyle/>
          <a:p>
            <a:r>
              <a:rPr lang="en-GB" sz="1400" dirty="0"/>
              <a:t>Need certificate</a:t>
            </a:r>
          </a:p>
        </p:txBody>
      </p:sp>
    </p:spTree>
    <p:extLst>
      <p:ext uri="{BB962C8B-B14F-4D97-AF65-F5344CB8AC3E}">
        <p14:creationId xmlns:p14="http://schemas.microsoft.com/office/powerpoint/2010/main" val="4110388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0E319-7403-E9A4-E874-C2D845EB8CC6}"/>
              </a:ext>
            </a:extLst>
          </p:cNvPr>
          <p:cNvSpPr>
            <a:spLocks noGrp="1"/>
          </p:cNvSpPr>
          <p:nvPr>
            <p:ph type="title"/>
          </p:nvPr>
        </p:nvSpPr>
        <p:spPr/>
        <p:txBody>
          <a:bodyPr>
            <a:normAutofit/>
          </a:bodyPr>
          <a:lstStyle/>
          <a:p>
            <a:r>
              <a:rPr lang="en-GB" sz="4000" dirty="0"/>
              <a:t>IHO Sec paper on intermediate CA arrangements</a:t>
            </a:r>
          </a:p>
        </p:txBody>
      </p:sp>
      <p:sp>
        <p:nvSpPr>
          <p:cNvPr id="3" name="Content Placeholder 2">
            <a:extLst>
              <a:ext uri="{FF2B5EF4-FFF2-40B4-BE49-F238E27FC236}">
                <a16:creationId xmlns:a16="http://schemas.microsoft.com/office/drawing/2014/main" id="{49570A27-2C91-1244-37C6-D0928BAF338E}"/>
              </a:ext>
            </a:extLst>
          </p:cNvPr>
          <p:cNvSpPr>
            <a:spLocks noGrp="1"/>
          </p:cNvSpPr>
          <p:nvPr>
            <p:ph idx="1"/>
          </p:nvPr>
        </p:nvSpPr>
        <p:spPr>
          <a:xfrm>
            <a:off x="838200" y="1825625"/>
            <a:ext cx="3576145" cy="4351338"/>
          </a:xfrm>
        </p:spPr>
        <p:txBody>
          <a:bodyPr/>
          <a:lstStyle/>
          <a:p>
            <a:endParaRPr lang="en-GB" dirty="0"/>
          </a:p>
        </p:txBody>
      </p:sp>
      <p:pic>
        <p:nvPicPr>
          <p:cNvPr id="4" name="Picture 3">
            <a:extLst>
              <a:ext uri="{FF2B5EF4-FFF2-40B4-BE49-F238E27FC236}">
                <a16:creationId xmlns:a16="http://schemas.microsoft.com/office/drawing/2014/main" id="{A9A329E7-8EBC-D567-08A8-1B6A7BC43505}"/>
              </a:ext>
            </a:extLst>
          </p:cNvPr>
          <p:cNvPicPr>
            <a:picLocks noChangeAspect="1"/>
          </p:cNvPicPr>
          <p:nvPr/>
        </p:nvPicPr>
        <p:blipFill>
          <a:blip r:embed="rId2"/>
          <a:stretch>
            <a:fillRect/>
          </a:stretch>
        </p:blipFill>
        <p:spPr>
          <a:xfrm>
            <a:off x="4618097" y="1975945"/>
            <a:ext cx="7433365" cy="3949372"/>
          </a:xfrm>
          <a:prstGeom prst="rect">
            <a:avLst/>
          </a:prstGeom>
        </p:spPr>
      </p:pic>
    </p:spTree>
    <p:extLst>
      <p:ext uri="{BB962C8B-B14F-4D97-AF65-F5344CB8AC3E}">
        <p14:creationId xmlns:p14="http://schemas.microsoft.com/office/powerpoint/2010/main" val="3580774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D359C-5316-A269-E38E-E7595E452F3C}"/>
              </a:ext>
            </a:extLst>
          </p:cNvPr>
          <p:cNvSpPr>
            <a:spLocks noGrp="1"/>
          </p:cNvSpPr>
          <p:nvPr>
            <p:ph type="title"/>
          </p:nvPr>
        </p:nvSpPr>
        <p:spPr/>
        <p:txBody>
          <a:bodyPr/>
          <a:lstStyle/>
          <a:p>
            <a:r>
              <a:rPr lang="en-GB" dirty="0"/>
              <a:t>Anything else on S-98?</a:t>
            </a:r>
          </a:p>
        </p:txBody>
      </p:sp>
      <p:sp>
        <p:nvSpPr>
          <p:cNvPr id="3" name="Content Placeholder 2">
            <a:extLst>
              <a:ext uri="{FF2B5EF4-FFF2-40B4-BE49-F238E27FC236}">
                <a16:creationId xmlns:a16="http://schemas.microsoft.com/office/drawing/2014/main" id="{F488A79A-EEE5-D0F1-D452-68657D04EA8D}"/>
              </a:ext>
            </a:extLst>
          </p:cNvPr>
          <p:cNvSpPr>
            <a:spLocks noGrp="1"/>
          </p:cNvSpPr>
          <p:nvPr>
            <p:ph idx="1"/>
          </p:nvPr>
        </p:nvSpPr>
        <p:spPr>
          <a:xfrm>
            <a:off x="838200" y="1594397"/>
            <a:ext cx="9241221" cy="4351338"/>
          </a:xfrm>
        </p:spPr>
        <p:txBody>
          <a:bodyPr/>
          <a:lstStyle/>
          <a:p>
            <a:r>
              <a:rPr lang="en-GB" dirty="0"/>
              <a:t>Features that extend beyond the dataset boundaries.</a:t>
            </a:r>
          </a:p>
          <a:p>
            <a:pPr lvl="1"/>
            <a:r>
              <a:rPr lang="en-GB" dirty="0"/>
              <a:t>Better test data?</a:t>
            </a:r>
          </a:p>
          <a:p>
            <a:pPr lvl="1"/>
            <a:r>
              <a:rPr lang="en-GB" dirty="0"/>
              <a:t>Test data for the loading algorithm</a:t>
            </a:r>
          </a:p>
          <a:p>
            <a:pPr lvl="1"/>
            <a:endParaRPr lang="en-GB" dirty="0"/>
          </a:p>
          <a:p>
            <a:r>
              <a:rPr lang="en-GB" dirty="0"/>
              <a:t>Others?</a:t>
            </a:r>
          </a:p>
          <a:p>
            <a:endParaRPr lang="en-GB" dirty="0"/>
          </a:p>
          <a:p>
            <a:r>
              <a:rPr lang="en-GB" dirty="0"/>
              <a:t>Existing comments</a:t>
            </a:r>
          </a:p>
        </p:txBody>
      </p:sp>
      <p:sp>
        <p:nvSpPr>
          <p:cNvPr id="5" name="TextBox 4">
            <a:extLst>
              <a:ext uri="{FF2B5EF4-FFF2-40B4-BE49-F238E27FC236}">
                <a16:creationId xmlns:a16="http://schemas.microsoft.com/office/drawing/2014/main" id="{8AC9EE3F-ED26-50C7-D92D-E8DD2E04E26E}"/>
              </a:ext>
            </a:extLst>
          </p:cNvPr>
          <p:cNvSpPr txBox="1"/>
          <p:nvPr/>
        </p:nvSpPr>
        <p:spPr>
          <a:xfrm>
            <a:off x="4547286" y="3092569"/>
            <a:ext cx="7427547" cy="3323987"/>
          </a:xfrm>
          <a:prstGeom prst="rect">
            <a:avLst/>
          </a:prstGeom>
          <a:noFill/>
          <a:ln>
            <a:solidFill>
              <a:srgbClr val="C00000"/>
            </a:solidFill>
          </a:ln>
        </p:spPr>
        <p:txBody>
          <a:bodyPr wrap="square">
            <a:spAutoFit/>
          </a:bodyPr>
          <a:lstStyle/>
          <a:p>
            <a:pPr marL="171450" indent="-171450" algn="l">
              <a:buFont typeface="Arial" panose="020B0604020202020204" pitchFamily="34" charset="0"/>
              <a:buChar char="•"/>
            </a:pPr>
            <a:r>
              <a:rPr lang="en-GB" sz="1400" b="0" i="0" dirty="0">
                <a:solidFill>
                  <a:srgbClr val="242424"/>
                </a:solidFill>
                <a:effectLst/>
                <a:latin typeface="Arial" panose="020B0604020202020204" pitchFamily="34" charset="0"/>
                <a:ea typeface="굴림" panose="020B0600000101010101" pitchFamily="34" charset="-127"/>
                <a:cs typeface="Arial" panose="020B0604020202020204" pitchFamily="34" charset="0"/>
              </a:rPr>
              <a:t>According to the current approach, loading and unloading are determined based on data coverage. However, there is an additional aspect that needs to be considered—</a:t>
            </a:r>
            <a:r>
              <a:rPr lang="en-GB" sz="1400" b="1" i="0" dirty="0">
                <a:solidFill>
                  <a:srgbClr val="242424"/>
                </a:solidFill>
                <a:effectLst/>
                <a:latin typeface="Arial" panose="020B0604020202020204" pitchFamily="34" charset="0"/>
                <a:ea typeface="굴림" panose="020B0600000101010101" pitchFamily="34" charset="-127"/>
                <a:cs typeface="Arial" panose="020B0604020202020204" pitchFamily="34" charset="0"/>
              </a:rPr>
              <a:t>symbols such as lights that extend beyond the defined data coverage.  Since these features may lie outside the coverage boundary, it becomes difficult to implement the loading/unloading logic solely based on data coverage.</a:t>
            </a:r>
            <a:br>
              <a:rPr lang="en-GB" sz="1400" b="0" i="0" dirty="0">
                <a:solidFill>
                  <a:srgbClr val="242424"/>
                </a:solidFill>
                <a:effectLst/>
                <a:latin typeface="Arial" panose="020B0604020202020204" pitchFamily="34" charset="0"/>
                <a:ea typeface="굴림" panose="020B0600000101010101" pitchFamily="34" charset="-127"/>
                <a:cs typeface="Arial" panose="020B0604020202020204" pitchFamily="34" charset="0"/>
              </a:rPr>
            </a:br>
            <a:endParaRPr lang="en-GB" sz="1400" b="0" i="0" dirty="0">
              <a:solidFill>
                <a:srgbClr val="242424"/>
              </a:solidFill>
              <a:effectLst/>
              <a:latin typeface="Arial" panose="020B0604020202020204" pitchFamily="34" charset="0"/>
              <a:ea typeface="굴림" panose="020B0600000101010101" pitchFamily="34" charset="-127"/>
              <a:cs typeface="Arial" panose="020B0604020202020204" pitchFamily="34" charset="0"/>
            </a:endParaRPr>
          </a:p>
          <a:p>
            <a:pPr marL="171450" indent="-171450" algn="l">
              <a:buFont typeface="Arial" panose="020B0604020202020204" pitchFamily="34" charset="0"/>
              <a:buChar char="•"/>
            </a:pPr>
            <a:r>
              <a:rPr lang="en-GB" sz="1400" b="0" i="0" dirty="0">
                <a:solidFill>
                  <a:srgbClr val="242424"/>
                </a:solidFill>
                <a:effectLst/>
                <a:latin typeface="Arial" panose="020B0604020202020204" pitchFamily="34" charset="0"/>
                <a:ea typeface="굴림" panose="020B0600000101010101" pitchFamily="34" charset="-127"/>
                <a:cs typeface="Arial" panose="020B0604020202020204" pitchFamily="34" charset="0"/>
              </a:rPr>
              <a:t>As a result, it seems that a strict implementation following only the S-98 loading/unloading algorithm may not fully address this case.  While it is certainly possible for manufacturers to extend the algorithm to handle such scenarios, doing so would effectively require modifying or augmenting the S-98 logic.</a:t>
            </a:r>
            <a:br>
              <a:rPr lang="en-GB" sz="1400" b="0" i="0" dirty="0">
                <a:solidFill>
                  <a:srgbClr val="242424"/>
                </a:solidFill>
                <a:effectLst/>
                <a:latin typeface="Arial" panose="020B0604020202020204" pitchFamily="34" charset="0"/>
                <a:ea typeface="굴림" panose="020B0600000101010101" pitchFamily="34" charset="-127"/>
                <a:cs typeface="Arial" panose="020B0604020202020204" pitchFamily="34" charset="0"/>
              </a:rPr>
            </a:br>
            <a:endParaRPr lang="en-GB" sz="1400" b="0" i="0" dirty="0">
              <a:solidFill>
                <a:srgbClr val="242424"/>
              </a:solidFill>
              <a:effectLst/>
              <a:latin typeface="Arial" panose="020B0604020202020204" pitchFamily="34" charset="0"/>
              <a:ea typeface="굴림" panose="020B0600000101010101" pitchFamily="34" charset="-127"/>
              <a:cs typeface="Arial" panose="020B0604020202020204" pitchFamily="34" charset="0"/>
            </a:endParaRPr>
          </a:p>
          <a:p>
            <a:pPr marL="171450" indent="-171450" algn="l">
              <a:buFont typeface="Arial" panose="020B0604020202020204" pitchFamily="34" charset="0"/>
              <a:buChar char="•"/>
            </a:pPr>
            <a:r>
              <a:rPr lang="en-GB" sz="1400" b="0" i="0" dirty="0">
                <a:solidFill>
                  <a:srgbClr val="242424"/>
                </a:solidFill>
                <a:effectLst/>
                <a:latin typeface="Arial" panose="020B0604020202020204" pitchFamily="34" charset="0"/>
                <a:ea typeface="굴림" panose="020B0600000101010101" pitchFamily="34" charset="-127"/>
                <a:cs typeface="Arial" panose="020B0604020202020204" pitchFamily="34" charset="0"/>
              </a:rPr>
              <a:t>In this context, I was wondering whether it would be appropriate to introduce an additional concept—something like an extended or “effective” data coverage for drawing purposes.  This could allow implementations to remain aligned with the S-100 Exchange Set data coverage while still properly handling features that visually extend beyond it.</a:t>
            </a:r>
          </a:p>
        </p:txBody>
      </p:sp>
    </p:spTree>
    <p:extLst>
      <p:ext uri="{BB962C8B-B14F-4D97-AF65-F5344CB8AC3E}">
        <p14:creationId xmlns:p14="http://schemas.microsoft.com/office/powerpoint/2010/main" val="2892804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39680-E59B-5087-8D87-0A69C298EDC4}"/>
              </a:ext>
            </a:extLst>
          </p:cNvPr>
          <p:cNvSpPr>
            <a:spLocks noGrp="1"/>
          </p:cNvSpPr>
          <p:nvPr>
            <p:ph type="title"/>
          </p:nvPr>
        </p:nvSpPr>
        <p:spPr>
          <a:xfrm>
            <a:off x="218089" y="229859"/>
            <a:ext cx="10515600" cy="854075"/>
          </a:xfrm>
        </p:spPr>
        <p:txBody>
          <a:bodyPr/>
          <a:lstStyle/>
          <a:p>
            <a:r>
              <a:rPr lang="en-GB" dirty="0"/>
              <a:t>S-164</a:t>
            </a:r>
          </a:p>
        </p:txBody>
      </p:sp>
      <p:sp>
        <p:nvSpPr>
          <p:cNvPr id="3" name="Content Placeholder 2">
            <a:extLst>
              <a:ext uri="{FF2B5EF4-FFF2-40B4-BE49-F238E27FC236}">
                <a16:creationId xmlns:a16="http://schemas.microsoft.com/office/drawing/2014/main" id="{3FB11A40-AB51-3A1E-B691-B171309B534D}"/>
              </a:ext>
            </a:extLst>
          </p:cNvPr>
          <p:cNvSpPr>
            <a:spLocks noGrp="1"/>
          </p:cNvSpPr>
          <p:nvPr>
            <p:ph idx="1"/>
          </p:nvPr>
        </p:nvSpPr>
        <p:spPr>
          <a:xfrm>
            <a:off x="838200" y="1083934"/>
            <a:ext cx="10515600" cy="5544207"/>
          </a:xfrm>
        </p:spPr>
        <p:txBody>
          <a:bodyPr>
            <a:normAutofit fontScale="85000" lnSpcReduction="20000"/>
          </a:bodyPr>
          <a:lstStyle/>
          <a:p>
            <a:r>
              <a:rPr lang="en-GB" dirty="0"/>
              <a:t>S-164 test datasets require clarification</a:t>
            </a:r>
          </a:p>
          <a:p>
            <a:r>
              <a:rPr lang="en-GB" dirty="0"/>
              <a:t>S-164 manual will need expansion (within scope of S-98) and changes to reflect corrections, latest additions to S-98 and clarifications of tests</a:t>
            </a:r>
          </a:p>
          <a:p>
            <a:r>
              <a:rPr lang="en-GB" dirty="0"/>
              <a:t>We are going to split S-164 up into Parts (like S-100), probably 9 individual sections</a:t>
            </a:r>
          </a:p>
          <a:p>
            <a:r>
              <a:rPr lang="en-GB" dirty="0"/>
              <a:t>We may go down the </a:t>
            </a:r>
            <a:r>
              <a:rPr lang="en-GB" dirty="0" err="1"/>
              <a:t>metanorma</a:t>
            </a:r>
            <a:r>
              <a:rPr lang="en-GB" dirty="0"/>
              <a:t> route for its update if the table structure can be replicated</a:t>
            </a:r>
          </a:p>
          <a:p>
            <a:r>
              <a:rPr lang="en-GB" dirty="0"/>
              <a:t>First new exchange sets being produced now. Include complete Part 17 and Part 15 structures and new keys/certificates</a:t>
            </a:r>
          </a:p>
          <a:p>
            <a:r>
              <a:rPr lang="en-GB" dirty="0"/>
              <a:t>New requirements in S-164 from S-98 will be created</a:t>
            </a:r>
          </a:p>
          <a:p>
            <a:pPr lvl="1"/>
            <a:r>
              <a:rPr lang="en-GB" dirty="0"/>
              <a:t>S-124 refinements</a:t>
            </a:r>
          </a:p>
          <a:p>
            <a:pPr lvl="1"/>
            <a:r>
              <a:rPr lang="en-GB" dirty="0"/>
              <a:t>Vertical clearance adjustment</a:t>
            </a:r>
          </a:p>
          <a:p>
            <a:pPr lvl="1"/>
            <a:r>
              <a:rPr lang="en-GB" dirty="0"/>
              <a:t>Layer permissions (ESC/WLA)</a:t>
            </a:r>
          </a:p>
          <a:p>
            <a:pPr lvl="1"/>
            <a:r>
              <a:rPr lang="en-GB" dirty="0"/>
              <a:t>etc…</a:t>
            </a:r>
          </a:p>
          <a:p>
            <a:r>
              <a:rPr lang="en-GB" dirty="0"/>
              <a:t>Initial Gap analysis being performed on existing S-164 datasets</a:t>
            </a:r>
          </a:p>
          <a:p>
            <a:r>
              <a:rPr lang="en-GB" dirty="0"/>
              <a:t>Then S-98 requirements vs S-164.</a:t>
            </a:r>
          </a:p>
        </p:txBody>
      </p:sp>
    </p:spTree>
    <p:extLst>
      <p:ext uri="{BB962C8B-B14F-4D97-AF65-F5344CB8AC3E}">
        <p14:creationId xmlns:p14="http://schemas.microsoft.com/office/powerpoint/2010/main" val="3891716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B242B-1E83-18BD-7918-D926A9A5251A}"/>
              </a:ext>
            </a:extLst>
          </p:cNvPr>
          <p:cNvSpPr>
            <a:spLocks noGrp="1"/>
          </p:cNvSpPr>
          <p:nvPr>
            <p:ph type="title"/>
          </p:nvPr>
        </p:nvSpPr>
        <p:spPr/>
        <p:txBody>
          <a:bodyPr/>
          <a:lstStyle/>
          <a:p>
            <a:r>
              <a:rPr lang="en-GB" dirty="0"/>
              <a:t>Re-organisation of S-164-Subgroup repo?</a:t>
            </a:r>
          </a:p>
        </p:txBody>
      </p:sp>
      <p:sp>
        <p:nvSpPr>
          <p:cNvPr id="3" name="Content Placeholder 2">
            <a:extLst>
              <a:ext uri="{FF2B5EF4-FFF2-40B4-BE49-F238E27FC236}">
                <a16:creationId xmlns:a16="http://schemas.microsoft.com/office/drawing/2014/main" id="{1DB170C1-DB18-D0E3-F314-88B721BFABC5}"/>
              </a:ext>
            </a:extLst>
          </p:cNvPr>
          <p:cNvSpPr>
            <a:spLocks noGrp="1"/>
          </p:cNvSpPr>
          <p:nvPr>
            <p:ph idx="1"/>
          </p:nvPr>
        </p:nvSpPr>
        <p:spPr/>
        <p:txBody>
          <a:bodyPr/>
          <a:lstStyle/>
          <a:p>
            <a:r>
              <a:rPr lang="en-GB" dirty="0"/>
              <a:t>Currently we have Staging area but need to migrate raw datasets to exchange sets</a:t>
            </a:r>
          </a:p>
          <a:p>
            <a:r>
              <a:rPr lang="en-GB" dirty="0"/>
              <a:t>Exchange set area could be :</a:t>
            </a:r>
          </a:p>
          <a:p>
            <a:pPr lvl="1"/>
            <a:r>
              <a:rPr lang="en-GB" dirty="0"/>
              <a:t>List of named exchange sets; or</a:t>
            </a:r>
          </a:p>
          <a:p>
            <a:pPr lvl="1"/>
            <a:r>
              <a:rPr lang="en-GB" dirty="0"/>
              <a:t>List of S-164 Sections, with exchange sets they require (requires duplication)</a:t>
            </a:r>
          </a:p>
          <a:p>
            <a:pPr lvl="1"/>
            <a:r>
              <a:rPr lang="en-GB" dirty="0"/>
              <a:t>Zip + datasets or just datasets (or just zip)?</a:t>
            </a:r>
          </a:p>
          <a:p>
            <a:endParaRPr lang="en-GB" dirty="0"/>
          </a:p>
          <a:p>
            <a:endParaRPr lang="en-GB" dirty="0"/>
          </a:p>
        </p:txBody>
      </p:sp>
    </p:spTree>
    <p:extLst>
      <p:ext uri="{BB962C8B-B14F-4D97-AF65-F5344CB8AC3E}">
        <p14:creationId xmlns:p14="http://schemas.microsoft.com/office/powerpoint/2010/main" val="3162408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95555B-772D-7C43-077B-7AD7111CCF63}"/>
              </a:ext>
            </a:extLst>
          </p:cNvPr>
          <p:cNvSpPr>
            <a:spLocks noGrp="1"/>
          </p:cNvSpPr>
          <p:nvPr>
            <p:ph idx="1"/>
          </p:nvPr>
        </p:nvSpPr>
        <p:spPr>
          <a:xfrm>
            <a:off x="480849" y="1253331"/>
            <a:ext cx="3397469" cy="4351338"/>
          </a:xfrm>
        </p:spPr>
        <p:txBody>
          <a:bodyPr/>
          <a:lstStyle/>
          <a:p>
            <a:pPr marL="0" indent="0">
              <a:buNone/>
            </a:pPr>
            <a:r>
              <a:rPr lang="en-GB" dirty="0"/>
              <a:t>We can get the AI to summarise between the documents and the exchange sets.</a:t>
            </a:r>
          </a:p>
          <a:p>
            <a:pPr marL="0" indent="0">
              <a:buNone/>
            </a:pPr>
            <a:endParaRPr lang="en-GB" dirty="0"/>
          </a:p>
          <a:p>
            <a:pPr marL="0" indent="0">
              <a:buNone/>
            </a:pPr>
            <a:r>
              <a:rPr lang="en-GB" dirty="0"/>
              <a:t>Is a “dashboard-y” thing useful?</a:t>
            </a:r>
          </a:p>
          <a:p>
            <a:pPr marL="0" indent="0">
              <a:buNone/>
            </a:pPr>
            <a:endParaRPr lang="en-GB" dirty="0"/>
          </a:p>
          <a:p>
            <a:pPr marL="0" indent="0">
              <a:buNone/>
            </a:pPr>
            <a:endParaRPr lang="en-GB" dirty="0"/>
          </a:p>
        </p:txBody>
      </p:sp>
      <p:pic>
        <p:nvPicPr>
          <p:cNvPr id="5" name="Picture 4">
            <a:extLst>
              <a:ext uri="{FF2B5EF4-FFF2-40B4-BE49-F238E27FC236}">
                <a16:creationId xmlns:a16="http://schemas.microsoft.com/office/drawing/2014/main" id="{84D5367F-00F9-E7AB-CD6F-BD16CC8B03C7}"/>
              </a:ext>
            </a:extLst>
          </p:cNvPr>
          <p:cNvPicPr>
            <a:picLocks noChangeAspect="1"/>
          </p:cNvPicPr>
          <p:nvPr/>
        </p:nvPicPr>
        <p:blipFill>
          <a:blip r:embed="rId2"/>
          <a:stretch>
            <a:fillRect/>
          </a:stretch>
        </p:blipFill>
        <p:spPr>
          <a:xfrm>
            <a:off x="4419600" y="179694"/>
            <a:ext cx="7772400" cy="6498611"/>
          </a:xfrm>
          <a:prstGeom prst="rect">
            <a:avLst/>
          </a:prstGeom>
        </p:spPr>
      </p:pic>
    </p:spTree>
    <p:extLst>
      <p:ext uri="{BB962C8B-B14F-4D97-AF65-F5344CB8AC3E}">
        <p14:creationId xmlns:p14="http://schemas.microsoft.com/office/powerpoint/2010/main" val="95876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BCF40-2ACD-29BA-172F-413A6F0744DB}"/>
              </a:ext>
            </a:extLst>
          </p:cNvPr>
          <p:cNvSpPr>
            <a:spLocks noGrp="1"/>
          </p:cNvSpPr>
          <p:nvPr>
            <p:ph type="title"/>
          </p:nvPr>
        </p:nvSpPr>
        <p:spPr/>
        <p:txBody>
          <a:bodyPr/>
          <a:lstStyle/>
          <a:p>
            <a:r>
              <a:rPr lang="en-GB" dirty="0"/>
              <a:t>AOB? Q&amp;A?</a:t>
            </a:r>
          </a:p>
        </p:txBody>
      </p:sp>
      <p:sp>
        <p:nvSpPr>
          <p:cNvPr id="3" name="Content Placeholder 2">
            <a:extLst>
              <a:ext uri="{FF2B5EF4-FFF2-40B4-BE49-F238E27FC236}">
                <a16:creationId xmlns:a16="http://schemas.microsoft.com/office/drawing/2014/main" id="{D250AE10-0F63-CEA9-5581-0226634AFC9A}"/>
              </a:ext>
            </a:extLst>
          </p:cNvPr>
          <p:cNvSpPr>
            <a:spLocks noGrp="1"/>
          </p:cNvSpPr>
          <p:nvPr>
            <p:ph idx="1"/>
          </p:nvPr>
        </p:nvSpPr>
        <p:spPr/>
        <p:txBody>
          <a:bodyPr>
            <a:normAutofit fontScale="92500" lnSpcReduction="20000"/>
          </a:bodyPr>
          <a:lstStyle/>
          <a:p>
            <a:r>
              <a:rPr lang="en-GB" dirty="0"/>
              <a:t>Next Meeting – mid August</a:t>
            </a:r>
          </a:p>
          <a:p>
            <a:r>
              <a:rPr lang="en-GB" dirty="0"/>
              <a:t>Objectives</a:t>
            </a:r>
          </a:p>
          <a:p>
            <a:pPr lvl="1"/>
            <a:r>
              <a:rPr lang="en-GB" dirty="0"/>
              <a:t>Gap Analysis</a:t>
            </a:r>
          </a:p>
          <a:p>
            <a:pPr lvl="1"/>
            <a:r>
              <a:rPr lang="en-GB" dirty="0"/>
              <a:t>Timetable for completion of datasets</a:t>
            </a:r>
          </a:p>
          <a:p>
            <a:pPr lvl="1"/>
            <a:r>
              <a:rPr lang="en-GB" dirty="0"/>
              <a:t>Cross-reference between S-98 and S-164</a:t>
            </a:r>
          </a:p>
          <a:p>
            <a:endParaRPr lang="en-GB" dirty="0"/>
          </a:p>
          <a:p>
            <a:r>
              <a:rPr lang="en-GB" dirty="0"/>
              <a:t>Support for implementers…</a:t>
            </a:r>
          </a:p>
          <a:p>
            <a:endParaRPr lang="en-GB" dirty="0"/>
          </a:p>
          <a:p>
            <a:r>
              <a:rPr lang="en-GB" dirty="0"/>
              <a:t>Interoperability inputs for workshop</a:t>
            </a:r>
          </a:p>
          <a:p>
            <a:endParaRPr lang="en-GB" dirty="0"/>
          </a:p>
          <a:p>
            <a:r>
              <a:rPr lang="en-GB" dirty="0"/>
              <a:t>Questions?</a:t>
            </a:r>
          </a:p>
        </p:txBody>
      </p:sp>
    </p:spTree>
    <p:extLst>
      <p:ext uri="{BB962C8B-B14F-4D97-AF65-F5344CB8AC3E}">
        <p14:creationId xmlns:p14="http://schemas.microsoft.com/office/powerpoint/2010/main" val="30955182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1512</TotalTime>
  <Words>1033</Words>
  <Application>Microsoft Macintosh PowerPoint</Application>
  <PresentationFormat>Widescreen</PresentationFormat>
  <Paragraphs>119</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Cambria Math</vt:lpstr>
      <vt:lpstr>inherit</vt:lpstr>
      <vt:lpstr>Office Theme</vt:lpstr>
      <vt:lpstr>S-98 / S-164 Meeting</vt:lpstr>
      <vt:lpstr>Agenda Items</vt:lpstr>
      <vt:lpstr>HSSC Readout</vt:lpstr>
      <vt:lpstr>HSSC Rev2 Changes</vt:lpstr>
      <vt:lpstr>interoperability</vt:lpstr>
      <vt:lpstr>TWCWG input for Section 13.2 (temporal display)</vt:lpstr>
      <vt:lpstr>TWCWG inputs</vt:lpstr>
      <vt:lpstr>TWCWG inputs</vt:lpstr>
      <vt:lpstr>PowerPoint Presentation</vt:lpstr>
      <vt:lpstr>Certificates and Signing</vt:lpstr>
      <vt:lpstr>Who is who?</vt:lpstr>
      <vt:lpstr>IHO Sec paper on intermediate CA arrangements</vt:lpstr>
      <vt:lpstr>Anything else on S-98?</vt:lpstr>
      <vt:lpstr>S-164</vt:lpstr>
      <vt:lpstr>Re-organisation of S-164-Subgroup repo?</vt:lpstr>
      <vt:lpstr>PowerPoint Presentation</vt:lpstr>
      <vt:lpstr>AOB? 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Pritchard</dc:creator>
  <cp:lastModifiedBy>Jonathan Pritchard</cp:lastModifiedBy>
  <cp:revision>8</cp:revision>
  <dcterms:created xsi:type="dcterms:W3CDTF">2026-07-08T10:29:30Z</dcterms:created>
  <dcterms:modified xsi:type="dcterms:W3CDTF">2026-07-09T11:42:28Z</dcterms:modified>
</cp:coreProperties>
</file>