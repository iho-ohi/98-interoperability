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sldIdLst>
    <p:sldId id="362" r:id="rId3"/>
    <p:sldId id="355" r:id="rId4"/>
    <p:sldId id="521" r:id="rId5"/>
    <p:sldId id="523" r:id="rId6"/>
    <p:sldId id="553" r:id="rId7"/>
    <p:sldId id="310" r:id="rId8"/>
    <p:sldId id="560" r:id="rId9"/>
    <p:sldId id="561" r:id="rId10"/>
    <p:sldId id="545" r:id="rId11"/>
    <p:sldId id="557" r:id="rId12"/>
    <p:sldId id="559" r:id="rId13"/>
    <p:sldId id="558" r:id="rId14"/>
    <p:sldId id="522" r:id="rId15"/>
    <p:sldId id="562" r:id="rId16"/>
    <p:sldId id="52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7" autoAdjust="0"/>
    <p:restoredTop sz="94694"/>
  </p:normalViewPr>
  <p:slideViewPr>
    <p:cSldViewPr snapToGrid="0" showGuides="1">
      <p:cViewPr varScale="1">
        <p:scale>
          <a:sx n="185" d="100"/>
          <a:sy n="185" d="100"/>
        </p:scale>
        <p:origin x="850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FE207-883C-4889-B4A0-9C041DEBE10C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FDBF5-F6D0-4BCC-AF06-23961AEF59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71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4ED3-BC4C-DEEE-F389-B680024ED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DE68E-0994-24AD-6E01-0446187B2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E71B8-455B-4F3B-3410-2E4F5A49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EE18B-EE22-0C09-6EC3-D4DE2750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092DE-0B52-3F1A-B2BA-60F77397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358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1EF9-24BA-39C4-D013-05DFCBF8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02F-CAD1-091F-2900-98F9B7FF8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1CB30-333C-ADC8-A5BD-194C76D25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BC09C-36BA-B6DB-6027-F3DBCD93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6D8B2-CD1B-F17F-C486-59527787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98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17A3-54A8-CDF9-7C27-FEC174E5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44A67-234B-BC27-1113-E9C6E8229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098A8-75D6-0915-261E-04859EF7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9E781-D785-4EC7-4C4D-78EE0287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1A152-BD38-BD43-DCF3-C2B672D3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35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5A17-ECB8-26D1-43DB-F17EF582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07D76-766F-ED2E-1739-D74112C35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4BD46-7A1D-53F0-48D1-C08833974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0454D-B13C-88F4-DDB4-548C23BE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C5BCF-CB3D-E11C-EB4D-E660A424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BB3D5-37ED-8B34-0648-07C55FF4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11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BAE3-141A-4A47-9EFC-6FD76E33E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B56C6-5A51-3F5F-02E1-FC0F86B3C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C2D76-A43B-CDBA-965B-D233E37FB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94C45-5724-8CF4-5B33-2C5131585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DD70F-A79C-6F22-CDEF-485969786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855AF6-21B0-9657-4606-4C428236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7CDBA-8959-04EA-9DE2-980E7620C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25378-3A7C-DC81-87C6-962D4B27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66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C4F2-7E23-8ED6-1903-ACF89167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D8F73-C072-6E62-658C-2F7051942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E5671-8138-17F9-5F70-38734810D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F3C3A-A8FB-F3AD-B12E-0AB3998A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11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8ED4D-39A8-D0CE-77A4-BA0A00E8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B2102-9354-19B2-05CB-78F333A2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64A20-E795-5815-9685-703150C6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250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AEB8F-465E-CEC4-F2D5-FA3F66F8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B0699-1C83-DE17-9BF7-4460617B2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CA805-BA27-9FE7-FC42-83098F7DC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EF0E1-371C-B593-709C-E29E3A5DA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BB21E-5E6E-E3DF-2FF5-C6F370AA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E0EBA-BE85-9059-616E-CE8C49F5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377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88A1-B5E6-4D6D-84F2-997793C8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B767B9-674F-12E7-E1D9-841545E91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1710-ADCD-9160-A2A5-29EAF1499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FB06E-332C-02B3-70A5-CBCA221F0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8FC76-1046-FAD9-4E94-BFBB99F3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4D668-11A2-CB78-810D-0875A8A5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560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E474-8FC8-E1E6-3F83-8ABEEC02D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897A4-BD41-C68F-1577-0864A4BB7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749C2-451B-706F-F38A-3811453FF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C5FCE-51E7-2C75-7387-551486CA0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A4B97-13B4-7571-56E3-A24AF753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99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D11040-A316-A60F-E455-142B0D0E6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E5F9D-CD1B-9012-526F-75B3AE57F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201B5-93B5-1929-12DA-084E7EA9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25E57-2087-6CC6-9969-E7BF228E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F528D-A3C0-F750-96D2-3F4C5196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314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AF16-DA73-17E7-5144-1E3CD7101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D3ED3-3F81-8F34-EEFF-1395014EF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67BB-344B-AA93-1A1A-50E60C5D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8C5F4-D8F4-5938-1EA0-BC8AB736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19C71-A47B-796F-2D6A-525CA87A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530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AA7F-56D1-E1FC-07FD-B577CC4A2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C5DD5-3339-759C-9E33-9A9323C5B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F3058-3C3A-D1C5-EDD1-46D341167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91A00-E8B2-C21D-2496-1E2C0049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576E7-864C-8130-A740-57FF89BD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885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A28A-2C4C-DDF5-429F-DA74AF5B1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423C2-35C4-0F78-99F6-B85EB28CE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6E985-BE2F-EC4F-B7B8-515A89B4F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F0875-D67F-48F6-27B3-7F14EE27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FEF40-4057-BD25-3468-CF50AC27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924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AC464-32B1-8DFA-0390-22DAD7EE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7367B-92AB-90C7-46C6-2CA79B538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6D7FE-A6A5-CFEB-6D84-B77BA27C6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05AB3-E2FF-5B12-73B7-EE242BC8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DE94C-CEB6-ABE2-B692-26E2513D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4B05A-32E8-9BF8-8D49-DFB90022C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310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0208-47F0-7972-ACF6-5A1CC08F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A7EDC-A3F4-B4C7-ACD6-63A67F919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D2E71-7C6B-DCF4-511B-B97C5277C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3A7FF-9A5A-EF7D-A607-590A7536A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32839-853D-7E95-2CCA-92EA6048B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D0D18-2EFB-A2E6-FC23-B503484B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8F49F-0D4F-2647-2897-82A6CE5F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53135-E24A-5F9C-AB3E-24AA1324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497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998A-CE46-915D-EE98-92AE678E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B99F1-06DD-281F-1A0B-9F3E3F54F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4E0E75-0DE5-3641-F9D2-B2208F16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7364C-9AA6-6CAD-8CCF-34D2DEF7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648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1BA4F8-B78F-8B0C-00AA-A7266876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2C95E-F21B-9E75-EEC5-169D4CF5E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51424-2364-3B86-88D4-4A9F087B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1518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81D1-DB35-E748-021E-C3287CC7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F6449-3F99-7A84-537E-7E39039F0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D3259-3772-7973-83F9-AD3F6B086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1B2B1-CCEB-8BD8-E576-616C1C4B2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A106F-F755-7936-4060-B84A5DC4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CE9EC-2887-492A-A3F1-5AFA6C81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837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8966-7328-90E4-0D3A-E5DACA7F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639B82-D3C9-A015-A1F6-ACD49DCAB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B5CCE-0DB5-D78E-716B-DD45220A9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4F254-27D5-F95C-A1F9-D078614D0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BE616-31C3-B207-9346-AB5078B7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57E8E-296A-0436-11A3-2CD89003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699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E865-7D21-171D-DD84-8A4D7759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E22E6-8302-2645-46BD-D0A807004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319A8-C01A-6EE6-1229-9322A113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A178F-E758-3315-2194-160E12D6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9C395-1E69-C686-DB9D-2E170750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117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0770C-DCA6-D100-94BB-027D431C1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1D013-A4E3-F39D-9207-7B610AE98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66B5F-D8FA-0AF0-3433-C84F6C1E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6E549-F5F5-3CAC-6B23-7345D3078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74CB7-1EC0-2391-CF71-1271D5C9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17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1DC7A-F643-0BAB-29FB-4B3AB548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DF3D1-8AF5-DE09-2BBB-110C76237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C462A-523B-AD3C-6669-F3F5C1339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B9E3F-605D-4A01-A272-F9F7C12C03A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C9F-C1A7-5E31-17C0-6E431B334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DA255-9834-3890-56DF-0FCB7DB31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E93BC-0583-4F13-9EFE-A882EE2EBD69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57053D-AA88-4C04-5843-76F3F58C1C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3000"/>
          </a:blip>
          <a:stretch>
            <a:fillRect/>
          </a:stretch>
        </p:blipFill>
        <p:spPr>
          <a:xfrm>
            <a:off x="9908249" y="6243574"/>
            <a:ext cx="2152811" cy="47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5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3D901C-8994-83A3-13BD-4893262F4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282EF-788A-85E7-FB4C-1AE5CC88F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C874E-0987-2BD7-84AD-359390B1D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120BC-B586-4FB9-9B70-7E60C9309D7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8DE52-C3A5-631E-DF6D-5ADDD07B2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045E7-3134-7EEC-1F74-2A5A8E7D3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55D73-4877-4611-AE78-FE88AE02E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05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0B4926-BBD3-B7D3-2836-4A34B65C93FA}"/>
              </a:ext>
            </a:extLst>
          </p:cNvPr>
          <p:cNvSpPr txBox="1"/>
          <p:nvPr/>
        </p:nvSpPr>
        <p:spPr>
          <a:xfrm>
            <a:off x="3141133" y="3007266"/>
            <a:ext cx="9050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b="1" dirty="0">
                <a:solidFill>
                  <a:srgbClr val="FF0000"/>
                </a:solidFill>
              </a:rPr>
              <a:t>S-98 Meeting 12</a:t>
            </a:r>
            <a:r>
              <a:rPr lang="en-US" sz="4000" b="1" baseline="30000" dirty="0">
                <a:solidFill>
                  <a:srgbClr val="FF0000"/>
                </a:solidFill>
              </a:rPr>
              <a:t>th</a:t>
            </a:r>
            <a:r>
              <a:rPr lang="en-US" sz="4000" b="1" dirty="0">
                <a:solidFill>
                  <a:srgbClr val="FF0000"/>
                </a:solidFill>
              </a:rPr>
              <a:t> May 2026</a:t>
            </a:r>
            <a:endParaRPr lang="en-GB" sz="4000" b="1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CE975D-B419-08E3-5907-E7DEF6C7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518263"/>
            <a:ext cx="4443077" cy="333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17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9234-D4B9-C504-91B1-F339FD4A3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A68D8-1360-C690-7AD5-D0E4402F2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2" y="15338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/>
              <a:t>Introductions</a:t>
            </a:r>
          </a:p>
          <a:p>
            <a:pPr>
              <a:lnSpc>
                <a:spcPct val="110000"/>
              </a:lnSpc>
            </a:pPr>
            <a:r>
              <a:rPr lang="en-GB" dirty="0"/>
              <a:t>Meetings Update: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TSM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HSSC</a:t>
            </a:r>
          </a:p>
          <a:p>
            <a:pPr>
              <a:lnSpc>
                <a:spcPct val="110000"/>
              </a:lnSpc>
            </a:pPr>
            <a:r>
              <a:rPr lang="en-GB" dirty="0"/>
              <a:t>S-164 Update</a:t>
            </a:r>
          </a:p>
          <a:p>
            <a:pPr lvl="1">
              <a:lnSpc>
                <a:spcPct val="11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660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E424-A01B-C9A1-5871-EF6BB33A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352062"/>
            <a:ext cx="10515600" cy="797469"/>
          </a:xfrm>
        </p:spPr>
        <p:txBody>
          <a:bodyPr/>
          <a:lstStyle/>
          <a:p>
            <a:r>
              <a:rPr lang="en-GB" dirty="0"/>
              <a:t>Meeting update - TSM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F7B7D-36A9-46BD-4B88-0CD38B80C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624"/>
            <a:ext cx="10515600" cy="541237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TSM meeting topics</a:t>
            </a:r>
          </a:p>
          <a:p>
            <a:pPr>
              <a:lnSpc>
                <a:spcPct val="100000"/>
              </a:lnSpc>
            </a:pPr>
            <a:r>
              <a:rPr lang="en-GB" dirty="0"/>
              <a:t>Updates to S-98 2.6.0 completed before TSM. Updates during the meeting processed to edition 2.6.0 were then submitted to HSSC as 3.0.0 for consideration</a:t>
            </a:r>
          </a:p>
          <a:p>
            <a:pPr>
              <a:lnSpc>
                <a:spcPct val="100000"/>
              </a:lnSpc>
            </a:pPr>
            <a:r>
              <a:rPr lang="en-GB" dirty="0"/>
              <a:t>TSM changes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S-102 / S-104 border drawing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S-102/S-104 control over interoperability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All PCs are LUA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S-124 optional extended UI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Vertical Clearance Adjustment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Cancellation updates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Others?</a:t>
            </a:r>
          </a:p>
        </p:txBody>
      </p:sp>
    </p:spTree>
    <p:extLst>
      <p:ext uri="{BB962C8B-B14F-4D97-AF65-F5344CB8AC3E}">
        <p14:creationId xmlns:p14="http://schemas.microsoft.com/office/powerpoint/2010/main" val="2387228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6BA7-7BBC-E3A8-43EC-F6C22E54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Enhanced Safety contour Issues [OSI]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DEAD5-5A5A-A1AD-5458-EDA5F1B45D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1" t="5658" r="5985" b="9581"/>
          <a:stretch>
            <a:fillRect/>
          </a:stretch>
        </p:blipFill>
        <p:spPr>
          <a:xfrm>
            <a:off x="8006752" y="2493034"/>
            <a:ext cx="4162246" cy="24240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87715C-0EB4-5D32-FB6A-E67BC58E1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659" y="1915783"/>
            <a:ext cx="1924050" cy="3733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134736-B9C1-C3DC-94C4-18370D0E2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990" y="1915783"/>
            <a:ext cx="1924050" cy="37338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0FD761E-05BA-9515-5148-CEFB5F237FB3}"/>
              </a:ext>
            </a:extLst>
          </p:cNvPr>
          <p:cNvSpPr txBox="1">
            <a:spLocks/>
          </p:cNvSpPr>
          <p:nvPr/>
        </p:nvSpPr>
        <p:spPr>
          <a:xfrm>
            <a:off x="21570" y="1765243"/>
            <a:ext cx="38258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the current S-98 Appendix D, the safety contour must be drawn 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Where you transition from safe to unsafe water (as defined by the values in the S-102 (+S-104 + uncertainty etc…) 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 the edges of the dataset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Between NoData values and Data values.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leads to a proliferation of safety contours.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343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6451-2E44-00E9-FF5E-9F1CACBEE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8FA607C-39E4-6B27-A104-8BCA8B1BA779}"/>
              </a:ext>
            </a:extLst>
          </p:cNvPr>
          <p:cNvSpPr/>
          <p:nvPr/>
        </p:nvSpPr>
        <p:spPr>
          <a:xfrm>
            <a:off x="2767168" y="4575484"/>
            <a:ext cx="1080000" cy="10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BB85A22-FE1C-5495-0651-F3316001CD23}"/>
              </a:ext>
            </a:extLst>
          </p:cNvPr>
          <p:cNvSpPr/>
          <p:nvPr/>
        </p:nvSpPr>
        <p:spPr>
          <a:xfrm>
            <a:off x="1685956" y="3501820"/>
            <a:ext cx="1080000" cy="10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CFCC221-DACC-821F-33AE-1F28687451B1}"/>
              </a:ext>
            </a:extLst>
          </p:cNvPr>
          <p:cNvSpPr/>
          <p:nvPr/>
        </p:nvSpPr>
        <p:spPr>
          <a:xfrm>
            <a:off x="1693306" y="4574270"/>
            <a:ext cx="1080000" cy="10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26697A6-F10A-9EC3-7FAD-29753D804EE6}"/>
              </a:ext>
            </a:extLst>
          </p:cNvPr>
          <p:cNvSpPr/>
          <p:nvPr/>
        </p:nvSpPr>
        <p:spPr>
          <a:xfrm>
            <a:off x="6032197" y="2407778"/>
            <a:ext cx="1080000" cy="10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B7DC045-1552-2E98-1525-D670088A8589}"/>
              </a:ext>
            </a:extLst>
          </p:cNvPr>
          <p:cNvSpPr/>
          <p:nvPr/>
        </p:nvSpPr>
        <p:spPr>
          <a:xfrm>
            <a:off x="6033485" y="1326175"/>
            <a:ext cx="1080000" cy="10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E04845A-F96E-B94A-46F6-3BD915B09666}"/>
              </a:ext>
            </a:extLst>
          </p:cNvPr>
          <p:cNvSpPr/>
          <p:nvPr/>
        </p:nvSpPr>
        <p:spPr>
          <a:xfrm>
            <a:off x="6017481" y="4577139"/>
            <a:ext cx="1080000" cy="10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F44F7D-BC0C-BDF1-1FEC-9A3C2F719AAE}"/>
              </a:ext>
            </a:extLst>
          </p:cNvPr>
          <p:cNvSpPr/>
          <p:nvPr/>
        </p:nvSpPr>
        <p:spPr>
          <a:xfrm>
            <a:off x="4935378" y="3493286"/>
            <a:ext cx="1080000" cy="10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8EECD58-756E-BFF6-76DA-79C4A09CFC01}"/>
              </a:ext>
            </a:extLst>
          </p:cNvPr>
          <p:cNvSpPr/>
          <p:nvPr/>
        </p:nvSpPr>
        <p:spPr>
          <a:xfrm>
            <a:off x="6017481" y="3493286"/>
            <a:ext cx="1080000" cy="10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A897E7-91EC-5673-8F8B-A4A4182E10D3}"/>
              </a:ext>
            </a:extLst>
          </p:cNvPr>
          <p:cNvSpPr/>
          <p:nvPr/>
        </p:nvSpPr>
        <p:spPr>
          <a:xfrm>
            <a:off x="3849271" y="3491631"/>
            <a:ext cx="1080000" cy="10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D89AAC-5191-5BF1-121F-8CDAD6856073}"/>
              </a:ext>
            </a:extLst>
          </p:cNvPr>
          <p:cNvSpPr/>
          <p:nvPr/>
        </p:nvSpPr>
        <p:spPr>
          <a:xfrm>
            <a:off x="3849870" y="2413286"/>
            <a:ext cx="1080000" cy="10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B05A2F-59A2-F7AD-6FF8-CE441E16EF9A}"/>
              </a:ext>
            </a:extLst>
          </p:cNvPr>
          <p:cNvSpPr/>
          <p:nvPr/>
        </p:nvSpPr>
        <p:spPr>
          <a:xfrm>
            <a:off x="2763763" y="2411631"/>
            <a:ext cx="1080000" cy="10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BE11A7-802F-A658-F831-60448E29EB0A}"/>
              </a:ext>
            </a:extLst>
          </p:cNvPr>
          <p:cNvSpPr/>
          <p:nvPr/>
        </p:nvSpPr>
        <p:spPr>
          <a:xfrm>
            <a:off x="2767168" y="3491631"/>
            <a:ext cx="1080000" cy="10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C951A79-1004-171E-3E75-08A6BF4A02F8}"/>
              </a:ext>
            </a:extLst>
          </p:cNvPr>
          <p:cNvSpPr/>
          <p:nvPr/>
        </p:nvSpPr>
        <p:spPr>
          <a:xfrm>
            <a:off x="1681660" y="1327778"/>
            <a:ext cx="1080000" cy="10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394855-EE23-DF54-6590-861794A055A2}"/>
              </a:ext>
            </a:extLst>
          </p:cNvPr>
          <p:cNvSpPr/>
          <p:nvPr/>
        </p:nvSpPr>
        <p:spPr>
          <a:xfrm>
            <a:off x="1681660" y="2411631"/>
            <a:ext cx="1080000" cy="10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13E499-B32C-81D8-5852-876F09CE0AE1}"/>
              </a:ext>
            </a:extLst>
          </p:cNvPr>
          <p:cNvSpPr/>
          <p:nvPr/>
        </p:nvSpPr>
        <p:spPr>
          <a:xfrm>
            <a:off x="2198801" y="184491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A39136F0-1CCE-463D-BF83-8F768EADAD0E}"/>
              </a:ext>
            </a:extLst>
          </p:cNvPr>
          <p:cNvSpPr/>
          <p:nvPr/>
        </p:nvSpPr>
        <p:spPr>
          <a:xfrm>
            <a:off x="3280904" y="184491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CC46452-54DC-0D04-36EB-02980AEB3B2B}"/>
              </a:ext>
            </a:extLst>
          </p:cNvPr>
          <p:cNvSpPr/>
          <p:nvPr/>
        </p:nvSpPr>
        <p:spPr>
          <a:xfrm>
            <a:off x="2763763" y="1327778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848A96-0A85-E8B3-70EE-73052F81B7BB}"/>
              </a:ext>
            </a:extLst>
          </p:cNvPr>
          <p:cNvSpPr/>
          <p:nvPr/>
        </p:nvSpPr>
        <p:spPr>
          <a:xfrm>
            <a:off x="2198801" y="292877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977644-0E45-8A20-6473-851440710B70}"/>
              </a:ext>
            </a:extLst>
          </p:cNvPr>
          <p:cNvSpPr/>
          <p:nvPr/>
        </p:nvSpPr>
        <p:spPr>
          <a:xfrm>
            <a:off x="3280904" y="292877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3C7C5F-760F-A79D-5ADE-DFBC3A0F9CBD}"/>
              </a:ext>
            </a:extLst>
          </p:cNvPr>
          <p:cNvSpPr/>
          <p:nvPr/>
        </p:nvSpPr>
        <p:spPr>
          <a:xfrm>
            <a:off x="3284309" y="400877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1EB395F-6E0A-85A9-FD11-24C54B82A2AE}"/>
              </a:ext>
            </a:extLst>
          </p:cNvPr>
          <p:cNvSpPr/>
          <p:nvPr/>
        </p:nvSpPr>
        <p:spPr>
          <a:xfrm>
            <a:off x="4366412" y="400877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A9DA0A-DD49-84F3-4DB4-CE3929FD42A4}"/>
              </a:ext>
            </a:extLst>
          </p:cNvPr>
          <p:cNvSpPr/>
          <p:nvPr/>
        </p:nvSpPr>
        <p:spPr>
          <a:xfrm>
            <a:off x="3284309" y="509262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3D91EC-37C1-F129-4F84-109889CE72A6}"/>
              </a:ext>
            </a:extLst>
          </p:cNvPr>
          <p:cNvSpPr/>
          <p:nvPr/>
        </p:nvSpPr>
        <p:spPr>
          <a:xfrm>
            <a:off x="4366412" y="509262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977919-EFEF-A702-608E-32AB9F0E5AFB}"/>
              </a:ext>
            </a:extLst>
          </p:cNvPr>
          <p:cNvSpPr/>
          <p:nvPr/>
        </p:nvSpPr>
        <p:spPr>
          <a:xfrm>
            <a:off x="3849271" y="4575484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F6205E7-D41E-09B0-A0BD-5E5FBB383B83}"/>
              </a:ext>
            </a:extLst>
          </p:cNvPr>
          <p:cNvSpPr/>
          <p:nvPr/>
        </p:nvSpPr>
        <p:spPr>
          <a:xfrm>
            <a:off x="4367011" y="184657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871B7C-340B-8DFE-458E-15AC7A431B6B}"/>
              </a:ext>
            </a:extLst>
          </p:cNvPr>
          <p:cNvSpPr/>
          <p:nvPr/>
        </p:nvSpPr>
        <p:spPr>
          <a:xfrm>
            <a:off x="3849870" y="1329433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46D5EDF-3E2D-C80C-4A9C-C397C24EF50D}"/>
              </a:ext>
            </a:extLst>
          </p:cNvPr>
          <p:cNvSpPr/>
          <p:nvPr/>
        </p:nvSpPr>
        <p:spPr>
          <a:xfrm>
            <a:off x="5449114" y="184657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F80766-9CC8-C5DB-C75E-340DCF3E34DD}"/>
              </a:ext>
            </a:extLst>
          </p:cNvPr>
          <p:cNvSpPr/>
          <p:nvPr/>
        </p:nvSpPr>
        <p:spPr>
          <a:xfrm>
            <a:off x="4931973" y="1329433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4A59FAF-9CC8-9B95-8274-B89EE308F7D7}"/>
              </a:ext>
            </a:extLst>
          </p:cNvPr>
          <p:cNvSpPr/>
          <p:nvPr/>
        </p:nvSpPr>
        <p:spPr>
          <a:xfrm>
            <a:off x="4367011" y="293042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31055E1-95EA-95A8-E235-A22AE369B3FA}"/>
              </a:ext>
            </a:extLst>
          </p:cNvPr>
          <p:cNvSpPr/>
          <p:nvPr/>
        </p:nvSpPr>
        <p:spPr>
          <a:xfrm>
            <a:off x="5449114" y="293042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1C8685-4A19-F60B-F935-8E5B7FD7CA94}"/>
              </a:ext>
            </a:extLst>
          </p:cNvPr>
          <p:cNvSpPr/>
          <p:nvPr/>
        </p:nvSpPr>
        <p:spPr>
          <a:xfrm>
            <a:off x="4931973" y="2413286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DC66C0B-4818-491C-59E3-F4C078573D3D}"/>
              </a:ext>
            </a:extLst>
          </p:cNvPr>
          <p:cNvSpPr/>
          <p:nvPr/>
        </p:nvSpPr>
        <p:spPr>
          <a:xfrm>
            <a:off x="5452519" y="401042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7EF212-46B2-4C2D-8F3B-9A060EBEE69D}"/>
              </a:ext>
            </a:extLst>
          </p:cNvPr>
          <p:cNvSpPr/>
          <p:nvPr/>
        </p:nvSpPr>
        <p:spPr>
          <a:xfrm>
            <a:off x="6534622" y="401042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1682FAF-A4C8-EC7E-061E-DBC3A8C5E5C6}"/>
              </a:ext>
            </a:extLst>
          </p:cNvPr>
          <p:cNvSpPr/>
          <p:nvPr/>
        </p:nvSpPr>
        <p:spPr>
          <a:xfrm>
            <a:off x="5452519" y="509428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F4713C-E79B-E22F-761E-E540451790FD}"/>
              </a:ext>
            </a:extLst>
          </p:cNvPr>
          <p:cNvSpPr/>
          <p:nvPr/>
        </p:nvSpPr>
        <p:spPr>
          <a:xfrm>
            <a:off x="4935378" y="4577139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5D7C2EC-D232-9C7E-E121-9BF98A14A50D}"/>
              </a:ext>
            </a:extLst>
          </p:cNvPr>
          <p:cNvSpPr/>
          <p:nvPr/>
        </p:nvSpPr>
        <p:spPr>
          <a:xfrm>
            <a:off x="6534622" y="509428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D280702-AA18-BCAA-A6E0-FCB92C5212AB}"/>
              </a:ext>
            </a:extLst>
          </p:cNvPr>
          <p:cNvCxnSpPr>
            <a:cxnSpLocks/>
          </p:cNvCxnSpPr>
          <p:nvPr/>
        </p:nvCxnSpPr>
        <p:spPr>
          <a:xfrm flipV="1">
            <a:off x="1694185" y="1373589"/>
            <a:ext cx="4330314" cy="2"/>
          </a:xfrm>
          <a:prstGeom prst="line">
            <a:avLst/>
          </a:prstGeom>
          <a:ln w="635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88918425-1008-3059-75D2-E13E3FF3F7C5}"/>
              </a:ext>
            </a:extLst>
          </p:cNvPr>
          <p:cNvSpPr/>
          <p:nvPr/>
        </p:nvSpPr>
        <p:spPr>
          <a:xfrm>
            <a:off x="2208605" y="402997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276E41-088F-9C18-C32A-067F5FD663A0}"/>
              </a:ext>
            </a:extLst>
          </p:cNvPr>
          <p:cNvSpPr txBox="1"/>
          <p:nvPr/>
        </p:nvSpPr>
        <p:spPr>
          <a:xfrm>
            <a:off x="906272" y="284480"/>
            <a:ext cx="214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Revision March 2026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FF1EC2-2733-FFBE-E3C7-84ADC779A65C}"/>
              </a:ext>
            </a:extLst>
          </p:cNvPr>
          <p:cNvCxnSpPr>
            <a:cxnSpLocks/>
          </p:cNvCxnSpPr>
          <p:nvPr/>
        </p:nvCxnSpPr>
        <p:spPr>
          <a:xfrm flipH="1">
            <a:off x="1736638" y="1342591"/>
            <a:ext cx="4598" cy="2181668"/>
          </a:xfrm>
          <a:prstGeom prst="line">
            <a:avLst/>
          </a:prstGeom>
          <a:ln w="635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2193FF-E3F0-8BE3-1003-B7BC51F3E118}"/>
              </a:ext>
            </a:extLst>
          </p:cNvPr>
          <p:cNvCxnSpPr>
            <a:cxnSpLocks/>
          </p:cNvCxnSpPr>
          <p:nvPr/>
        </p:nvCxnSpPr>
        <p:spPr>
          <a:xfrm>
            <a:off x="1686116" y="3442627"/>
            <a:ext cx="1075544" cy="6476"/>
          </a:xfrm>
          <a:prstGeom prst="line">
            <a:avLst/>
          </a:prstGeom>
          <a:ln w="635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18AADF3-22FF-7FAB-CD95-FA39CB368203}"/>
              </a:ext>
            </a:extLst>
          </p:cNvPr>
          <p:cNvCxnSpPr>
            <a:cxnSpLocks/>
          </p:cNvCxnSpPr>
          <p:nvPr/>
        </p:nvCxnSpPr>
        <p:spPr>
          <a:xfrm>
            <a:off x="3843763" y="5606831"/>
            <a:ext cx="3239472" cy="0"/>
          </a:xfrm>
          <a:prstGeom prst="line">
            <a:avLst/>
          </a:prstGeom>
          <a:ln w="635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2B31B19-46E1-77ED-6213-D2C232E96924}"/>
              </a:ext>
            </a:extLst>
          </p:cNvPr>
          <p:cNvCxnSpPr>
            <a:cxnSpLocks/>
          </p:cNvCxnSpPr>
          <p:nvPr/>
        </p:nvCxnSpPr>
        <p:spPr>
          <a:xfrm flipV="1">
            <a:off x="3897386" y="4581820"/>
            <a:ext cx="0" cy="1071118"/>
          </a:xfrm>
          <a:prstGeom prst="line">
            <a:avLst/>
          </a:prstGeom>
          <a:ln w="635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03858A2-E3AB-92D5-F7C8-4A7232F3221E}"/>
              </a:ext>
            </a:extLst>
          </p:cNvPr>
          <p:cNvCxnSpPr>
            <a:cxnSpLocks/>
          </p:cNvCxnSpPr>
          <p:nvPr/>
        </p:nvCxnSpPr>
        <p:spPr>
          <a:xfrm flipV="1">
            <a:off x="2811764" y="3491421"/>
            <a:ext cx="0" cy="1071118"/>
          </a:xfrm>
          <a:prstGeom prst="line">
            <a:avLst/>
          </a:prstGeom>
          <a:ln w="635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8747D1F-AE8E-E429-3760-4E90DDC570F2}"/>
              </a:ext>
            </a:extLst>
          </p:cNvPr>
          <p:cNvCxnSpPr>
            <a:cxnSpLocks/>
          </p:cNvCxnSpPr>
          <p:nvPr/>
        </p:nvCxnSpPr>
        <p:spPr>
          <a:xfrm flipV="1">
            <a:off x="5974395" y="1317539"/>
            <a:ext cx="0" cy="2181668"/>
          </a:xfrm>
          <a:prstGeom prst="line">
            <a:avLst/>
          </a:prstGeom>
          <a:ln w="635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556328B-2AE9-0025-2EBD-1A1C5F262434}"/>
              </a:ext>
            </a:extLst>
          </p:cNvPr>
          <p:cNvCxnSpPr>
            <a:cxnSpLocks/>
          </p:cNvCxnSpPr>
          <p:nvPr/>
        </p:nvCxnSpPr>
        <p:spPr>
          <a:xfrm flipV="1">
            <a:off x="2780710" y="4521096"/>
            <a:ext cx="1091423" cy="3241"/>
          </a:xfrm>
          <a:prstGeom prst="line">
            <a:avLst/>
          </a:prstGeom>
          <a:ln w="53975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E7CBB66-F1C7-76AC-F4E3-1E74C2E9A3CC}"/>
              </a:ext>
            </a:extLst>
          </p:cNvPr>
          <p:cNvCxnSpPr>
            <a:cxnSpLocks/>
          </p:cNvCxnSpPr>
          <p:nvPr/>
        </p:nvCxnSpPr>
        <p:spPr>
          <a:xfrm flipV="1">
            <a:off x="6006058" y="3523631"/>
            <a:ext cx="1091423" cy="3241"/>
          </a:xfrm>
          <a:prstGeom prst="line">
            <a:avLst/>
          </a:prstGeom>
          <a:ln w="635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EBC0BF4-9292-16E9-26E7-5A6D5DED7D84}"/>
              </a:ext>
            </a:extLst>
          </p:cNvPr>
          <p:cNvCxnSpPr>
            <a:cxnSpLocks/>
          </p:cNvCxnSpPr>
          <p:nvPr/>
        </p:nvCxnSpPr>
        <p:spPr>
          <a:xfrm flipV="1">
            <a:off x="7059903" y="3478895"/>
            <a:ext cx="0" cy="2140462"/>
          </a:xfrm>
          <a:prstGeom prst="line">
            <a:avLst/>
          </a:prstGeom>
          <a:ln w="635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BC693EAA-FEF6-3A1F-E4FC-2FE464E245EA}"/>
              </a:ext>
            </a:extLst>
          </p:cNvPr>
          <p:cNvSpPr/>
          <p:nvPr/>
        </p:nvSpPr>
        <p:spPr>
          <a:xfrm>
            <a:off x="2207714" y="511273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6B333AC-BE8D-8EE9-D4A2-FA7DEED6AD05}"/>
              </a:ext>
            </a:extLst>
          </p:cNvPr>
          <p:cNvSpPr/>
          <p:nvPr/>
        </p:nvSpPr>
        <p:spPr>
          <a:xfrm>
            <a:off x="6546605" y="294623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956B2DF-E770-D375-AE43-4EA0D6607DCA}"/>
              </a:ext>
            </a:extLst>
          </p:cNvPr>
          <p:cNvSpPr/>
          <p:nvPr/>
        </p:nvSpPr>
        <p:spPr>
          <a:xfrm>
            <a:off x="6547893" y="185175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06E21F-2B28-4999-40BA-061C5B3644A4}"/>
              </a:ext>
            </a:extLst>
          </p:cNvPr>
          <p:cNvCxnSpPr/>
          <p:nvPr/>
        </p:nvCxnSpPr>
        <p:spPr>
          <a:xfrm>
            <a:off x="2752523" y="2411082"/>
            <a:ext cx="10821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C1D568-B300-8B41-4F61-4E3CECC77DCD}"/>
              </a:ext>
            </a:extLst>
          </p:cNvPr>
          <p:cNvCxnSpPr/>
          <p:nvPr/>
        </p:nvCxnSpPr>
        <p:spPr>
          <a:xfrm>
            <a:off x="3843763" y="2407778"/>
            <a:ext cx="10821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290C252-97E7-5CA7-570C-B6FE89140864}"/>
              </a:ext>
            </a:extLst>
          </p:cNvPr>
          <p:cNvCxnSpPr>
            <a:cxnSpLocks/>
          </p:cNvCxnSpPr>
          <p:nvPr/>
        </p:nvCxnSpPr>
        <p:spPr>
          <a:xfrm rot="5400000">
            <a:off x="2211471" y="1863322"/>
            <a:ext cx="10821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9E0BB-1B82-358B-B880-873FAB78DC08}"/>
              </a:ext>
            </a:extLst>
          </p:cNvPr>
          <p:cNvCxnSpPr>
            <a:cxnSpLocks/>
          </p:cNvCxnSpPr>
          <p:nvPr/>
        </p:nvCxnSpPr>
        <p:spPr>
          <a:xfrm rot="5400000">
            <a:off x="5477731" y="5115484"/>
            <a:ext cx="10821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D74EABE-728D-B1B3-0CB3-690489DF370D}"/>
              </a:ext>
            </a:extLst>
          </p:cNvPr>
          <p:cNvCxnSpPr/>
          <p:nvPr/>
        </p:nvCxnSpPr>
        <p:spPr>
          <a:xfrm>
            <a:off x="3843762" y="4573100"/>
            <a:ext cx="10821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ABD34FC-7F7B-15F4-CFD6-830E379305B1}"/>
              </a:ext>
            </a:extLst>
          </p:cNvPr>
          <p:cNvCxnSpPr/>
          <p:nvPr/>
        </p:nvCxnSpPr>
        <p:spPr>
          <a:xfrm>
            <a:off x="4935378" y="4571631"/>
            <a:ext cx="10821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A3CEB95-17CA-D40B-0070-9087C7CE3332}"/>
              </a:ext>
            </a:extLst>
          </p:cNvPr>
          <p:cNvCxnSpPr>
            <a:cxnSpLocks/>
          </p:cNvCxnSpPr>
          <p:nvPr/>
        </p:nvCxnSpPr>
        <p:spPr>
          <a:xfrm rot="5400000">
            <a:off x="4405559" y="2928772"/>
            <a:ext cx="10821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4899B4C-F0DC-0606-945E-FA39164FC0EB}"/>
              </a:ext>
            </a:extLst>
          </p:cNvPr>
          <p:cNvCxnSpPr/>
          <p:nvPr/>
        </p:nvCxnSpPr>
        <p:spPr>
          <a:xfrm>
            <a:off x="4935378" y="3485936"/>
            <a:ext cx="10821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EF56C61-103C-DC70-ECAE-27BA53A8ACD2}"/>
              </a:ext>
            </a:extLst>
          </p:cNvPr>
          <p:cNvSpPr txBox="1"/>
          <p:nvPr/>
        </p:nvSpPr>
        <p:spPr>
          <a:xfrm>
            <a:off x="2015675" y="1819034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11.61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BCD4EC-875A-CD03-22C7-291CFD66C80E}"/>
              </a:ext>
            </a:extLst>
          </p:cNvPr>
          <p:cNvSpPr txBox="1"/>
          <p:nvPr/>
        </p:nvSpPr>
        <p:spPr>
          <a:xfrm>
            <a:off x="3097778" y="1819034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11.46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4A1944-DDEC-D650-AA39-5514B172760E}"/>
              </a:ext>
            </a:extLst>
          </p:cNvPr>
          <p:cNvSpPr txBox="1"/>
          <p:nvPr/>
        </p:nvSpPr>
        <p:spPr>
          <a:xfrm>
            <a:off x="2015675" y="2902887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11.65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23B00A-296F-5802-FAB5-B8BB749AF489}"/>
              </a:ext>
            </a:extLst>
          </p:cNvPr>
          <p:cNvSpPr txBox="1"/>
          <p:nvPr/>
        </p:nvSpPr>
        <p:spPr>
          <a:xfrm>
            <a:off x="3097778" y="2902887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D4F5AE-4C67-6399-51B0-527426D61047}"/>
              </a:ext>
            </a:extLst>
          </p:cNvPr>
          <p:cNvSpPr txBox="1"/>
          <p:nvPr/>
        </p:nvSpPr>
        <p:spPr>
          <a:xfrm>
            <a:off x="3101183" y="3982887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11.51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1A832D-3ABA-ACAB-9A34-17EDAB00B38B}"/>
              </a:ext>
            </a:extLst>
          </p:cNvPr>
          <p:cNvSpPr txBox="1"/>
          <p:nvPr/>
        </p:nvSpPr>
        <p:spPr>
          <a:xfrm>
            <a:off x="4183286" y="3982887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11.62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7932F1-92CC-9F35-063C-FE4D7A839F5C}"/>
              </a:ext>
            </a:extLst>
          </p:cNvPr>
          <p:cNvSpPr txBox="1"/>
          <p:nvPr/>
        </p:nvSpPr>
        <p:spPr>
          <a:xfrm>
            <a:off x="3088703" y="5152313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9999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34BCE7-A20E-E7FC-2047-40AEEA36EA1B}"/>
              </a:ext>
            </a:extLst>
          </p:cNvPr>
          <p:cNvSpPr txBox="1"/>
          <p:nvPr/>
        </p:nvSpPr>
        <p:spPr>
          <a:xfrm>
            <a:off x="4183286" y="5066740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11.13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E4897D-7E5D-54A6-8774-8B145C422EB1}"/>
              </a:ext>
            </a:extLst>
          </p:cNvPr>
          <p:cNvSpPr txBox="1"/>
          <p:nvPr/>
        </p:nvSpPr>
        <p:spPr>
          <a:xfrm>
            <a:off x="4183885" y="1820689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11.43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5F2C5C-A1CC-B6FF-26A4-17AF60BFE968}"/>
              </a:ext>
            </a:extLst>
          </p:cNvPr>
          <p:cNvSpPr txBox="1"/>
          <p:nvPr/>
        </p:nvSpPr>
        <p:spPr>
          <a:xfrm>
            <a:off x="5265988" y="1820689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11.43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15500D1-4E99-F77A-4D39-CAFF2EB24CA5}"/>
              </a:ext>
            </a:extLst>
          </p:cNvPr>
          <p:cNvSpPr txBox="1"/>
          <p:nvPr/>
        </p:nvSpPr>
        <p:spPr>
          <a:xfrm>
            <a:off x="4183885" y="2904542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11.75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250E0A3-3DA2-3B89-E2A9-D1529F45D584}"/>
              </a:ext>
            </a:extLst>
          </p:cNvPr>
          <p:cNvSpPr txBox="1"/>
          <p:nvPr/>
        </p:nvSpPr>
        <p:spPr>
          <a:xfrm>
            <a:off x="5265988" y="2904542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11.45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8897062-7D2D-58ED-7970-E4B90F5904C8}"/>
              </a:ext>
            </a:extLst>
          </p:cNvPr>
          <p:cNvSpPr txBox="1"/>
          <p:nvPr/>
        </p:nvSpPr>
        <p:spPr>
          <a:xfrm>
            <a:off x="5269393" y="3984542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11.51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76AEDC9-6ADC-0060-5958-619AB39A6FAF}"/>
              </a:ext>
            </a:extLst>
          </p:cNvPr>
          <p:cNvSpPr txBox="1"/>
          <p:nvPr/>
        </p:nvSpPr>
        <p:spPr>
          <a:xfrm>
            <a:off x="6351496" y="3984542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11.55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D6C0A7-65C6-E21E-C6D2-61B32EEF7702}"/>
              </a:ext>
            </a:extLst>
          </p:cNvPr>
          <p:cNvSpPr txBox="1"/>
          <p:nvPr/>
        </p:nvSpPr>
        <p:spPr>
          <a:xfrm>
            <a:off x="5269393" y="5068395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11.12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22C5F41-B669-228B-61AD-DC5F8AABA62F}"/>
              </a:ext>
            </a:extLst>
          </p:cNvPr>
          <p:cNvSpPr txBox="1"/>
          <p:nvPr/>
        </p:nvSpPr>
        <p:spPr>
          <a:xfrm>
            <a:off x="6351496" y="5068395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11.62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808BE4B-1910-2BAA-1AE9-5DA66738BF93}"/>
              </a:ext>
            </a:extLst>
          </p:cNvPr>
          <p:cNvSpPr txBox="1"/>
          <p:nvPr/>
        </p:nvSpPr>
        <p:spPr>
          <a:xfrm>
            <a:off x="1998266" y="407569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9999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78EB3DA-1BFC-DB49-5DC9-BD8C2B0E105F}"/>
              </a:ext>
            </a:extLst>
          </p:cNvPr>
          <p:cNvSpPr txBox="1"/>
          <p:nvPr/>
        </p:nvSpPr>
        <p:spPr>
          <a:xfrm>
            <a:off x="2005381" y="516392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9999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BEBD7B2-9B9F-39A0-154D-90BCEA2E8CDB}"/>
              </a:ext>
            </a:extLst>
          </p:cNvPr>
          <p:cNvSpPr txBox="1"/>
          <p:nvPr/>
        </p:nvSpPr>
        <p:spPr>
          <a:xfrm>
            <a:off x="6315370" y="1873612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9999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1B81210-5BF7-B362-0903-600F47DDBDCC}"/>
              </a:ext>
            </a:extLst>
          </p:cNvPr>
          <p:cNvSpPr txBox="1"/>
          <p:nvPr/>
        </p:nvSpPr>
        <p:spPr>
          <a:xfrm>
            <a:off x="6313081" y="2955161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9999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A09571B-4A7A-429C-7F33-E6863ECE4788}"/>
              </a:ext>
            </a:extLst>
          </p:cNvPr>
          <p:cNvSpPr txBox="1"/>
          <p:nvPr/>
        </p:nvSpPr>
        <p:spPr>
          <a:xfrm>
            <a:off x="7516873" y="3705888"/>
            <a:ext cx="2200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Outside S-102 Coverage</a:t>
            </a:r>
          </a:p>
        </p:txBody>
      </p:sp>
    </p:spTree>
    <p:extLst>
      <p:ext uri="{BB962C8B-B14F-4D97-AF65-F5344CB8AC3E}">
        <p14:creationId xmlns:p14="http://schemas.microsoft.com/office/powerpoint/2010/main" val="1907841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12E550-5C49-9818-EAAA-D1F7104F2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91" y="1750435"/>
            <a:ext cx="11152496" cy="33571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529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DF52-8237-8B81-887A-2EA67BBE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4" y="230144"/>
            <a:ext cx="10515600" cy="662486"/>
          </a:xfrm>
        </p:spPr>
        <p:txBody>
          <a:bodyPr>
            <a:normAutofit fontScale="90000"/>
          </a:bodyPr>
          <a:lstStyle/>
          <a:p>
            <a:r>
              <a:rPr lang="en-GB" dirty="0"/>
              <a:t>Changes in HSSC version 3.0.0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FE80-D717-E3F6-910E-CFA6A300C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09" y="1024435"/>
            <a:ext cx="10515600" cy="5677046"/>
          </a:xfrm>
        </p:spPr>
        <p:txBody>
          <a:bodyPr>
            <a:normAutofit fontScale="92500" lnSpcReduction="10000"/>
          </a:bodyPr>
          <a:lstStyle/>
          <a:p>
            <a:pPr marL="87313" lvl="1" indent="0">
              <a:lnSpc>
                <a:spcPct val="100000"/>
              </a:lnSpc>
              <a:buNone/>
            </a:pPr>
            <a:r>
              <a:rPr lang="en-GB" sz="2800" dirty="0"/>
              <a:t>From ECDIS Workshop (TSM Day -1)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PC revisions</a:t>
            </a:r>
          </a:p>
          <a:p>
            <a:pPr lvl="2">
              <a:lnSpc>
                <a:spcPct val="100000"/>
              </a:lnSpc>
            </a:pPr>
            <a:r>
              <a:rPr lang="en-GB" sz="1800" dirty="0"/>
              <a:t>All PCs are LUA – OEMs do not have to implement XSLT for any PC</a:t>
            </a:r>
          </a:p>
          <a:p>
            <a:pPr lvl="2">
              <a:lnSpc>
                <a:spcPct val="100000"/>
              </a:lnSpc>
            </a:pPr>
            <a:r>
              <a:rPr lang="en-GB" sz="1800" dirty="0"/>
              <a:t>S-164 will clarify although OEMs must implement PC revisions, this does not have to be by the same method as dataset import (can be done independently)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S-124 implementation</a:t>
            </a:r>
          </a:p>
          <a:p>
            <a:pPr lvl="2">
              <a:lnSpc>
                <a:spcPct val="100000"/>
              </a:lnSpc>
            </a:pPr>
            <a:r>
              <a:rPr lang="en-GB" sz="1800" dirty="0"/>
              <a:t>S-124 optional extended UI optional instead of MUST requirement </a:t>
            </a:r>
          </a:p>
          <a:p>
            <a:pPr lvl="2">
              <a:lnSpc>
                <a:spcPct val="100000"/>
              </a:lnSpc>
            </a:pPr>
            <a:r>
              <a:rPr lang="en-GB" sz="1800" dirty="0"/>
              <a:t>Covers ONLY filtering/classification (manual and automatic) and use of Part 17 for cancellation</a:t>
            </a:r>
          </a:p>
          <a:p>
            <a:pPr lvl="2">
              <a:lnSpc>
                <a:spcPct val="100000"/>
              </a:lnSpc>
            </a:pPr>
            <a:r>
              <a:rPr lang="en-GB" sz="1800" dirty="0"/>
              <a:t>S-124 remains mandatory for implementation (loading, portrayal, pick report etc) and update (FC/PC)</a:t>
            </a:r>
          </a:p>
          <a:p>
            <a:pPr lvl="2">
              <a:lnSpc>
                <a:spcPct val="100000"/>
              </a:lnSpc>
            </a:pPr>
            <a:r>
              <a:rPr lang="en-GB" sz="1800" dirty="0"/>
              <a:t>Subsequently the requirement for dataset “self-cancellation” has been (re-)instated. This means </a:t>
            </a:r>
          </a:p>
          <a:p>
            <a:pPr lvl="3">
              <a:lnSpc>
                <a:spcPct val="100000"/>
              </a:lnSpc>
            </a:pPr>
            <a:r>
              <a:rPr lang="en-GB" sz="1600" dirty="0"/>
              <a:t>S-124 cancellation is implemented by Part 17 mechanisms except for self-cancellation which is S-124 specific</a:t>
            </a:r>
          </a:p>
          <a:p>
            <a:pPr lvl="3">
              <a:lnSpc>
                <a:spcPct val="100000"/>
              </a:lnSpc>
            </a:pPr>
            <a:r>
              <a:rPr lang="en-GB" sz="1600" dirty="0"/>
              <a:t>Revision control (reporting of in-force bulletins) is done by S-128 reconciliation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Final Adjudication of these changes to be heard at HSSC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Any further changes to be done via member state comments</a:t>
            </a:r>
          </a:p>
          <a:p>
            <a:endParaRPr lang="en-GB" dirty="0"/>
          </a:p>
          <a:p>
            <a:r>
              <a:rPr lang="en-GB" dirty="0"/>
              <a:t>Anything else from S-164/S-98 PT members?</a:t>
            </a:r>
          </a:p>
        </p:txBody>
      </p:sp>
    </p:spTree>
    <p:extLst>
      <p:ext uri="{BB962C8B-B14F-4D97-AF65-F5344CB8AC3E}">
        <p14:creationId xmlns:p14="http://schemas.microsoft.com/office/powerpoint/2010/main" val="44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BA25-6B3E-AA3D-285A-1D389E0B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32" y="182246"/>
            <a:ext cx="10515600" cy="710384"/>
          </a:xfrm>
        </p:spPr>
        <p:txBody>
          <a:bodyPr/>
          <a:lstStyle/>
          <a:p>
            <a:r>
              <a:rPr lang="en-GB" dirty="0"/>
              <a:t>S-104 issue for clarification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A2A8E-C63A-98A1-AF48-98EB70221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77" y="815431"/>
            <a:ext cx="10515600" cy="591194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1400" dirty="0"/>
              <a:t>… received (via Primar) a Norwegian S-104 dataset which contains </a:t>
            </a:r>
            <a:r>
              <a:rPr lang="en-US" sz="1400" b="1" dirty="0"/>
              <a:t>2 </a:t>
            </a:r>
            <a:r>
              <a:rPr lang="en-US" sz="1400" b="1" dirty="0" err="1"/>
              <a:t>WaterLevel</a:t>
            </a:r>
            <a:r>
              <a:rPr lang="en-US" sz="1400" b="1" dirty="0"/>
              <a:t> instances with (nearly) identical geographic and temporal coverage</a:t>
            </a:r>
            <a:r>
              <a:rPr lang="en-US" sz="1400" dirty="0"/>
              <a:t>. They differ in the value of "</a:t>
            </a:r>
            <a:r>
              <a:rPr lang="en-US" sz="1400" dirty="0" err="1"/>
              <a:t>dataDynamicity</a:t>
            </a:r>
            <a:r>
              <a:rPr lang="en-US" sz="1400" dirty="0"/>
              <a:t>". The S-104 PS allows up to 99 instances but does not define any order or </a:t>
            </a:r>
            <a:r>
              <a:rPr lang="en-US" sz="1400" dirty="0" err="1"/>
              <a:t>priorization</a:t>
            </a:r>
            <a:r>
              <a:rPr lang="en-US" sz="1400" dirty="0"/>
              <a:t>. Looking into S-98, there's no guidance on how to select the instance to be used for WLA.</a:t>
            </a:r>
            <a:br>
              <a:rPr lang="en-US" sz="1400" dirty="0"/>
            </a:br>
            <a:r>
              <a:rPr lang="en-US" sz="1400" dirty="0"/>
              <a:t>I see following alternatives:</a:t>
            </a:r>
            <a:br>
              <a:rPr lang="en-US" sz="1400" dirty="0"/>
            </a:br>
            <a:endParaRPr lang="en-US" sz="1400" dirty="0"/>
          </a:p>
          <a:p>
            <a:pPr marL="514350" indent="-514350" fontAlgn="base">
              <a:lnSpc>
                <a:spcPct val="120000"/>
              </a:lnSpc>
              <a:buFont typeface="+mj-lt"/>
              <a:buAutoNum type="arabicPeriod"/>
            </a:pPr>
            <a:r>
              <a:rPr lang="en-US" sz="1400" dirty="0"/>
              <a:t>Add a section to the Data Constraints Annex, allowing only one </a:t>
            </a:r>
            <a:r>
              <a:rPr lang="en-US" sz="1400" dirty="0" err="1"/>
              <a:t>WaterLevel</a:t>
            </a:r>
            <a:r>
              <a:rPr lang="en-US" sz="1400" dirty="0"/>
              <a:t> instance per S-104 dataset for ECDIS use. This would preclude many available datasets from being used in ECDIS.</a:t>
            </a:r>
          </a:p>
          <a:p>
            <a:pPr marL="514350" indent="-514350" fontAlgn="base">
              <a:lnSpc>
                <a:spcPct val="120000"/>
              </a:lnSpc>
              <a:buFont typeface="+mj-lt"/>
              <a:buAutoNum type="arabicPeriod"/>
            </a:pPr>
            <a:r>
              <a:rPr lang="en-US" sz="1400" dirty="0"/>
              <a:t>Add a section to the Data Constraints Annex, allowing only </a:t>
            </a:r>
            <a:r>
              <a:rPr lang="en-US" sz="1400" dirty="0" err="1"/>
              <a:t>WaterLevel</a:t>
            </a:r>
            <a:r>
              <a:rPr lang="en-US" sz="1400" dirty="0"/>
              <a:t> instances of a specific "</a:t>
            </a:r>
            <a:r>
              <a:rPr lang="en-US" sz="1400" i="1" dirty="0" err="1"/>
              <a:t>dataDynamicity</a:t>
            </a:r>
            <a:r>
              <a:rPr lang="en-US" sz="1400" dirty="0"/>
              <a:t>" for ECDIS use. This would preclude many available datasets from being used in ECDIS.</a:t>
            </a:r>
          </a:p>
          <a:p>
            <a:pPr marL="514350" indent="-514350" fontAlgn="base">
              <a:lnSpc>
                <a:spcPct val="120000"/>
              </a:lnSpc>
              <a:buFont typeface="+mj-lt"/>
              <a:buAutoNum type="arabicPeriod"/>
            </a:pPr>
            <a:r>
              <a:rPr lang="en-US" sz="1400" dirty="0"/>
              <a:t>Add a requirement that the user must be able to select an instance. This can get complicated. Should the user select from "</a:t>
            </a:r>
            <a:r>
              <a:rPr lang="en-US" sz="1400" i="1" dirty="0" err="1"/>
              <a:t>dataDynamicity</a:t>
            </a:r>
            <a:r>
              <a:rPr lang="en-US" sz="1400" dirty="0"/>
              <a:t>" values? As a consequence, only datasets that contain the selected "</a:t>
            </a:r>
            <a:r>
              <a:rPr lang="en-US" sz="1400" dirty="0" err="1"/>
              <a:t>dataDynamicity</a:t>
            </a:r>
            <a:r>
              <a:rPr lang="en-US" sz="1400" dirty="0"/>
              <a:t>" could be used for WLA at any given time, even if other datasets are available.</a:t>
            </a:r>
          </a:p>
          <a:p>
            <a:pPr marL="514350" indent="-514350" fontAlgn="base">
              <a:lnSpc>
                <a:spcPct val="120000"/>
              </a:lnSpc>
              <a:buFont typeface="+mj-lt"/>
              <a:buAutoNum type="arabicPeriod"/>
            </a:pPr>
            <a:r>
              <a:rPr lang="en-US" sz="1400" dirty="0"/>
              <a:t>Add a requirement that the ECDIS must use the safest (shallowest) value of all instances available in one dataset. This is time consuming and may result in different "</a:t>
            </a:r>
            <a:r>
              <a:rPr lang="en-US" sz="1400" i="1" dirty="0" err="1"/>
              <a:t>dataDynamicities</a:t>
            </a:r>
            <a:r>
              <a:rPr lang="en-US" sz="1400" dirty="0"/>
              <a:t>" used for the same WLA region.</a:t>
            </a:r>
          </a:p>
          <a:p>
            <a:pPr marL="514350" indent="-514350" fontAlgn="base">
              <a:lnSpc>
                <a:spcPct val="120000"/>
              </a:lnSpc>
              <a:buFont typeface="+mj-lt"/>
              <a:buAutoNum type="arabicPeriod"/>
            </a:pPr>
            <a:r>
              <a:rPr lang="en-US" sz="1400" b="1" dirty="0"/>
              <a:t>Define a </a:t>
            </a:r>
            <a:r>
              <a:rPr lang="en-US" sz="1400" b="1" dirty="0" err="1"/>
              <a:t>priorization</a:t>
            </a:r>
            <a:r>
              <a:rPr lang="en-US" sz="1400" b="1" dirty="0"/>
              <a:t> order for the "</a:t>
            </a:r>
            <a:r>
              <a:rPr lang="en-US" sz="1400" b="1" i="1" dirty="0" err="1"/>
              <a:t>dataDynamicity</a:t>
            </a:r>
            <a:r>
              <a:rPr lang="en-US" sz="1400" b="1" dirty="0"/>
              <a:t>" values and require the ECDIS to use the "best" instance according to that order.</a:t>
            </a:r>
          </a:p>
          <a:p>
            <a:pPr marL="514350" indent="-514350" fontAlgn="base">
              <a:lnSpc>
                <a:spcPct val="120000"/>
              </a:lnSpc>
              <a:buFont typeface="+mj-lt"/>
              <a:buAutoNum type="arabicPeriod"/>
            </a:pPr>
            <a:r>
              <a:rPr lang="en-US" sz="1400" dirty="0"/>
              <a:t>Leave it explicitly to the ECDIS OEM to decide.</a:t>
            </a:r>
            <a:br>
              <a:rPr lang="en-US" sz="1400" dirty="0"/>
            </a:br>
            <a:endParaRPr lang="en-US" sz="1400" dirty="0"/>
          </a:p>
          <a:p>
            <a:pPr marL="0" indent="0" fontAlgn="base">
              <a:lnSpc>
                <a:spcPct val="120000"/>
              </a:lnSpc>
              <a:buNone/>
            </a:pPr>
            <a:endParaRPr lang="en-US" sz="1400" dirty="0"/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sz="1400" dirty="0"/>
              <a:t>Whatever alternative is deemed appropriate, in addition to the guidance to be added, the ECDIS legend needs to be amended. (</a:t>
            </a:r>
            <a:r>
              <a:rPr lang="en-US" sz="1400" b="1" dirty="0"/>
              <a:t>page 37, "ECDIS Legend Item": 1. WLA Method selected, 2. Attribute </a:t>
            </a:r>
            <a:r>
              <a:rPr lang="en-US" sz="1400" b="1" dirty="0" err="1"/>
              <a:t>dataDynamicity</a:t>
            </a:r>
            <a:r>
              <a:rPr lang="en-US" sz="1400" b="1" dirty="0"/>
              <a:t>)   </a:t>
            </a:r>
            <a:r>
              <a:rPr lang="en-US" sz="1400" dirty="0"/>
              <a:t>(</a:t>
            </a:r>
            <a:r>
              <a:rPr lang="en-US" sz="1400" dirty="0" err="1"/>
              <a:t>b.t.w</a:t>
            </a:r>
            <a:r>
              <a:rPr lang="en-US" sz="1400" dirty="0"/>
              <a:t>. </a:t>
            </a:r>
            <a:r>
              <a:rPr lang="en-US" sz="1400" b="1" u="sng" dirty="0"/>
              <a:t>S-111 is not used for WLA, wrong place or wrong item?)</a:t>
            </a:r>
            <a:br>
              <a:rPr lang="en-US" sz="1400" dirty="0"/>
            </a:b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0677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3353E2-16A2-74B4-C000-FE74F79D7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330976"/>
            <a:ext cx="11249243" cy="451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27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C04AF-A5C5-6A83-13B0-AA227FB78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6A4328-4177-7E9C-1AEB-EE55AB324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24" y="132519"/>
            <a:ext cx="5504144" cy="4460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C8F995-0BC3-FFF3-3C54-E678F6BE0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468" y="3851358"/>
            <a:ext cx="6176108" cy="292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01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35BBC-1D4D-9577-6A92-1EFA0635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6CF1D7-A231-B9F9-F450-33398E7F2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24" y="132519"/>
            <a:ext cx="5504144" cy="4460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631BD-7457-2C65-9436-0ED65ED56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468" y="3851358"/>
            <a:ext cx="6176108" cy="2923462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5D23B5-C900-4DD3-E8B8-FE7BFA65A596}"/>
              </a:ext>
            </a:extLst>
          </p:cNvPr>
          <p:cNvSpPr/>
          <p:nvPr/>
        </p:nvSpPr>
        <p:spPr>
          <a:xfrm>
            <a:off x="853440" y="322217"/>
            <a:ext cx="10898777" cy="5547360"/>
          </a:xfrm>
          <a:custGeom>
            <a:avLst/>
            <a:gdLst>
              <a:gd name="csX0" fmla="*/ 0 w 10898777"/>
              <a:gd name="csY0" fmla="*/ 0 h 5547360"/>
              <a:gd name="csX1" fmla="*/ 448492 w 10898777"/>
              <a:gd name="csY1" fmla="*/ 317863 h 5547360"/>
              <a:gd name="csX2" fmla="*/ 892629 w 10898777"/>
              <a:gd name="csY2" fmla="*/ 666205 h 5547360"/>
              <a:gd name="csX3" fmla="*/ 2116183 w 10898777"/>
              <a:gd name="csY3" fmla="*/ 1232263 h 5547360"/>
              <a:gd name="csX4" fmla="*/ 2569029 w 10898777"/>
              <a:gd name="csY4" fmla="*/ 1467394 h 5547360"/>
              <a:gd name="csX5" fmla="*/ 3048000 w 10898777"/>
              <a:gd name="csY5" fmla="*/ 1719943 h 5547360"/>
              <a:gd name="csX6" fmla="*/ 3274423 w 10898777"/>
              <a:gd name="csY6" fmla="*/ 1846217 h 5547360"/>
              <a:gd name="csX7" fmla="*/ 3600994 w 10898777"/>
              <a:gd name="csY7" fmla="*/ 1994263 h 5547360"/>
              <a:gd name="csX8" fmla="*/ 3766457 w 10898777"/>
              <a:gd name="csY8" fmla="*/ 2059577 h 5547360"/>
              <a:gd name="csX9" fmla="*/ 4106092 w 10898777"/>
              <a:gd name="csY9" fmla="*/ 2255520 h 5547360"/>
              <a:gd name="csX10" fmla="*/ 4228012 w 10898777"/>
              <a:gd name="csY10" fmla="*/ 2329543 h 5547360"/>
              <a:gd name="csX11" fmla="*/ 4615543 w 10898777"/>
              <a:gd name="csY11" fmla="*/ 2608217 h 5547360"/>
              <a:gd name="csX12" fmla="*/ 4807132 w 10898777"/>
              <a:gd name="csY12" fmla="*/ 2725783 h 5547360"/>
              <a:gd name="csX13" fmla="*/ 5630092 w 10898777"/>
              <a:gd name="csY13" fmla="*/ 3126377 h 5547360"/>
              <a:gd name="csX14" fmla="*/ 6122126 w 10898777"/>
              <a:gd name="csY14" fmla="*/ 3317965 h 5547360"/>
              <a:gd name="csX15" fmla="*/ 6731726 w 10898777"/>
              <a:gd name="csY15" fmla="*/ 3592285 h 5547360"/>
              <a:gd name="csX16" fmla="*/ 6966857 w 10898777"/>
              <a:gd name="csY16" fmla="*/ 3696788 h 5547360"/>
              <a:gd name="csX17" fmla="*/ 7180217 w 10898777"/>
              <a:gd name="csY17" fmla="*/ 3792583 h 5547360"/>
              <a:gd name="csX18" fmla="*/ 7785463 w 10898777"/>
              <a:gd name="csY18" fmla="*/ 4040777 h 5547360"/>
              <a:gd name="csX19" fmla="*/ 8233954 w 10898777"/>
              <a:gd name="csY19" fmla="*/ 4193177 h 5547360"/>
              <a:gd name="csX20" fmla="*/ 8416834 w 10898777"/>
              <a:gd name="csY20" fmla="*/ 4254137 h 5547360"/>
              <a:gd name="csX21" fmla="*/ 9104812 w 10898777"/>
              <a:gd name="csY21" fmla="*/ 4624251 h 5547360"/>
              <a:gd name="csX22" fmla="*/ 9427029 w 10898777"/>
              <a:gd name="csY22" fmla="*/ 4815840 h 5547360"/>
              <a:gd name="csX23" fmla="*/ 9953897 w 10898777"/>
              <a:gd name="csY23" fmla="*/ 5050971 h 5547360"/>
              <a:gd name="csX24" fmla="*/ 10284823 w 10898777"/>
              <a:gd name="csY24" fmla="*/ 5181600 h 5547360"/>
              <a:gd name="csX25" fmla="*/ 10585269 w 10898777"/>
              <a:gd name="csY25" fmla="*/ 5364480 h 5547360"/>
              <a:gd name="csX26" fmla="*/ 10628812 w 10898777"/>
              <a:gd name="csY26" fmla="*/ 5390605 h 5547360"/>
              <a:gd name="csX27" fmla="*/ 10668000 w 10898777"/>
              <a:gd name="csY27" fmla="*/ 5416731 h 5547360"/>
              <a:gd name="csX28" fmla="*/ 10898777 w 10898777"/>
              <a:gd name="csY28" fmla="*/ 5547360 h 5547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0898777" h="5547360">
                <a:moveTo>
                  <a:pt x="0" y="0"/>
                </a:moveTo>
                <a:cubicBezTo>
                  <a:pt x="149497" y="105954"/>
                  <a:pt x="304311" y="204780"/>
                  <a:pt x="448492" y="317863"/>
                </a:cubicBezTo>
                <a:cubicBezTo>
                  <a:pt x="596538" y="433977"/>
                  <a:pt x="733113" y="566433"/>
                  <a:pt x="892629" y="666205"/>
                </a:cubicBezTo>
                <a:cubicBezTo>
                  <a:pt x="1738533" y="1195291"/>
                  <a:pt x="1378046" y="906811"/>
                  <a:pt x="2116183" y="1232263"/>
                </a:cubicBezTo>
                <a:cubicBezTo>
                  <a:pt x="2271811" y="1300881"/>
                  <a:pt x="2418009" y="1389155"/>
                  <a:pt x="2569029" y="1467394"/>
                </a:cubicBezTo>
                <a:cubicBezTo>
                  <a:pt x="2830701" y="1602959"/>
                  <a:pt x="2811527" y="1589883"/>
                  <a:pt x="3048000" y="1719943"/>
                </a:cubicBezTo>
                <a:cubicBezTo>
                  <a:pt x="3123721" y="1761589"/>
                  <a:pt x="3195715" y="1810536"/>
                  <a:pt x="3274423" y="1846217"/>
                </a:cubicBezTo>
                <a:lnTo>
                  <a:pt x="3600994" y="1994263"/>
                </a:lnTo>
                <a:cubicBezTo>
                  <a:pt x="3655395" y="2017853"/>
                  <a:pt x="3713789" y="2032335"/>
                  <a:pt x="3766457" y="2059577"/>
                </a:cubicBezTo>
                <a:cubicBezTo>
                  <a:pt x="3882548" y="2119624"/>
                  <a:pt x="3993272" y="2189531"/>
                  <a:pt x="4106092" y="2255520"/>
                </a:cubicBezTo>
                <a:cubicBezTo>
                  <a:pt x="4147131" y="2279524"/>
                  <a:pt x="4189412" y="2301786"/>
                  <a:pt x="4228012" y="2329543"/>
                </a:cubicBezTo>
                <a:cubicBezTo>
                  <a:pt x="4357189" y="2422434"/>
                  <a:pt x="4479931" y="2525001"/>
                  <a:pt x="4615543" y="2608217"/>
                </a:cubicBezTo>
                <a:cubicBezTo>
                  <a:pt x="4679406" y="2647406"/>
                  <a:pt x="4741858" y="2688992"/>
                  <a:pt x="4807132" y="2725783"/>
                </a:cubicBezTo>
                <a:cubicBezTo>
                  <a:pt x="5031700" y="2852358"/>
                  <a:pt x="5425567" y="3046739"/>
                  <a:pt x="5630092" y="3126377"/>
                </a:cubicBezTo>
                <a:cubicBezTo>
                  <a:pt x="5794103" y="3190240"/>
                  <a:pt x="5961622" y="3245738"/>
                  <a:pt x="6122126" y="3317965"/>
                </a:cubicBezTo>
                <a:lnTo>
                  <a:pt x="6731726" y="3592285"/>
                </a:lnTo>
                <a:lnTo>
                  <a:pt x="6966857" y="3696788"/>
                </a:lnTo>
                <a:cubicBezTo>
                  <a:pt x="7038040" y="3728579"/>
                  <a:pt x="7108087" y="3763004"/>
                  <a:pt x="7180217" y="3792583"/>
                </a:cubicBezTo>
                <a:cubicBezTo>
                  <a:pt x="7381966" y="3875314"/>
                  <a:pt x="7579004" y="3970621"/>
                  <a:pt x="7785463" y="4040777"/>
                </a:cubicBezTo>
                <a:lnTo>
                  <a:pt x="8233954" y="4193177"/>
                </a:lnTo>
                <a:cubicBezTo>
                  <a:pt x="8294830" y="4213749"/>
                  <a:pt x="8358922" y="4226295"/>
                  <a:pt x="8416834" y="4254137"/>
                </a:cubicBezTo>
                <a:cubicBezTo>
                  <a:pt x="8771948" y="4424865"/>
                  <a:pt x="8635062" y="4352840"/>
                  <a:pt x="9104812" y="4624251"/>
                </a:cubicBezTo>
                <a:cubicBezTo>
                  <a:pt x="9213009" y="4686765"/>
                  <a:pt x="9314610" y="4761284"/>
                  <a:pt x="9427029" y="4815840"/>
                </a:cubicBezTo>
                <a:cubicBezTo>
                  <a:pt x="9717044" y="4956583"/>
                  <a:pt x="9681858" y="4948591"/>
                  <a:pt x="9953897" y="5050971"/>
                </a:cubicBezTo>
                <a:cubicBezTo>
                  <a:pt x="10065108" y="5092825"/>
                  <a:pt x="10180316" y="5123076"/>
                  <a:pt x="10284823" y="5181600"/>
                </a:cubicBezTo>
                <a:cubicBezTo>
                  <a:pt x="10387118" y="5238885"/>
                  <a:pt x="10485071" y="5303601"/>
                  <a:pt x="10585269" y="5364480"/>
                </a:cubicBezTo>
                <a:cubicBezTo>
                  <a:pt x="10599735" y="5373269"/>
                  <a:pt x="10614729" y="5381216"/>
                  <a:pt x="10628812" y="5390605"/>
                </a:cubicBezTo>
                <a:cubicBezTo>
                  <a:pt x="10641875" y="5399314"/>
                  <a:pt x="10654333" y="5409006"/>
                  <a:pt x="10668000" y="5416731"/>
                </a:cubicBezTo>
                <a:cubicBezTo>
                  <a:pt x="10929650" y="5564621"/>
                  <a:pt x="10743046" y="5450027"/>
                  <a:pt x="10898777" y="554736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C1420AA-8164-0699-282C-46DE100A93DF}"/>
              </a:ext>
            </a:extLst>
          </p:cNvPr>
          <p:cNvSpPr/>
          <p:nvPr/>
        </p:nvSpPr>
        <p:spPr>
          <a:xfrm>
            <a:off x="1210491" y="1332411"/>
            <a:ext cx="9165772" cy="4160317"/>
          </a:xfrm>
          <a:custGeom>
            <a:avLst/>
            <a:gdLst>
              <a:gd name="csX0" fmla="*/ 0 w 9165772"/>
              <a:gd name="csY0" fmla="*/ 4153989 h 4160317"/>
              <a:gd name="csX1" fmla="*/ 452846 w 9165772"/>
              <a:gd name="csY1" fmla="*/ 3892732 h 4160317"/>
              <a:gd name="csX2" fmla="*/ 1689463 w 9165772"/>
              <a:gd name="csY2" fmla="*/ 2873829 h 4160317"/>
              <a:gd name="csX3" fmla="*/ 2133600 w 9165772"/>
              <a:gd name="csY3" fmla="*/ 2695303 h 4160317"/>
              <a:gd name="csX4" fmla="*/ 3470366 w 9165772"/>
              <a:gd name="csY4" fmla="*/ 2481943 h 4160317"/>
              <a:gd name="csX5" fmla="*/ 3853543 w 9165772"/>
              <a:gd name="csY5" fmla="*/ 2351315 h 4160317"/>
              <a:gd name="csX6" fmla="*/ 4946469 w 9165772"/>
              <a:gd name="csY6" fmla="*/ 2042160 h 4160317"/>
              <a:gd name="csX7" fmla="*/ 5425440 w 9165772"/>
              <a:gd name="csY7" fmla="*/ 1881052 h 4160317"/>
              <a:gd name="csX8" fmla="*/ 6135189 w 9165772"/>
              <a:gd name="csY8" fmla="*/ 1728652 h 4160317"/>
              <a:gd name="csX9" fmla="*/ 6574972 w 9165772"/>
              <a:gd name="csY9" fmla="*/ 1584960 h 4160317"/>
              <a:gd name="csX10" fmla="*/ 6670766 w 9165772"/>
              <a:gd name="csY10" fmla="*/ 1493520 h 4160317"/>
              <a:gd name="csX11" fmla="*/ 7101840 w 9165772"/>
              <a:gd name="csY11" fmla="*/ 1201783 h 4160317"/>
              <a:gd name="csX12" fmla="*/ 7741920 w 9165772"/>
              <a:gd name="csY12" fmla="*/ 975360 h 4160317"/>
              <a:gd name="csX13" fmla="*/ 8194766 w 9165772"/>
              <a:gd name="csY13" fmla="*/ 696686 h 4160317"/>
              <a:gd name="csX14" fmla="*/ 8543109 w 9165772"/>
              <a:gd name="csY14" fmla="*/ 492035 h 4160317"/>
              <a:gd name="csX15" fmla="*/ 8669383 w 9165772"/>
              <a:gd name="csY15" fmla="*/ 413658 h 4160317"/>
              <a:gd name="csX16" fmla="*/ 8900160 w 9165772"/>
              <a:gd name="csY16" fmla="*/ 261258 h 4160317"/>
              <a:gd name="csX17" fmla="*/ 9083040 w 9165772"/>
              <a:gd name="csY17" fmla="*/ 78378 h 4160317"/>
              <a:gd name="csX18" fmla="*/ 9148355 w 9165772"/>
              <a:gd name="csY18" fmla="*/ 13063 h 4160317"/>
              <a:gd name="csX19" fmla="*/ 9165772 w 9165772"/>
              <a:gd name="csY19" fmla="*/ 0 h 4160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9165772" h="4160317">
                <a:moveTo>
                  <a:pt x="0" y="4153989"/>
                </a:moveTo>
                <a:cubicBezTo>
                  <a:pt x="204894" y="4171062"/>
                  <a:pt x="102054" y="4173365"/>
                  <a:pt x="452846" y="3892732"/>
                </a:cubicBezTo>
                <a:cubicBezTo>
                  <a:pt x="801332" y="3613943"/>
                  <a:pt x="1298054" y="3031161"/>
                  <a:pt x="1689463" y="2873829"/>
                </a:cubicBezTo>
                <a:cubicBezTo>
                  <a:pt x="1837509" y="2814320"/>
                  <a:pt x="1978546" y="2732946"/>
                  <a:pt x="2133600" y="2695303"/>
                </a:cubicBezTo>
                <a:cubicBezTo>
                  <a:pt x="2766492" y="2541653"/>
                  <a:pt x="2970887" y="2529513"/>
                  <a:pt x="3470366" y="2481943"/>
                </a:cubicBezTo>
                <a:cubicBezTo>
                  <a:pt x="3598092" y="2438400"/>
                  <a:pt x="3724217" y="2389846"/>
                  <a:pt x="3853543" y="2351315"/>
                </a:cubicBezTo>
                <a:cubicBezTo>
                  <a:pt x="4216385" y="2243212"/>
                  <a:pt x="4587622" y="2162863"/>
                  <a:pt x="4946469" y="2042160"/>
                </a:cubicBezTo>
                <a:cubicBezTo>
                  <a:pt x="5106126" y="1988457"/>
                  <a:pt x="5263978" y="1929054"/>
                  <a:pt x="5425440" y="1881052"/>
                </a:cubicBezTo>
                <a:cubicBezTo>
                  <a:pt x="6010591" y="1707089"/>
                  <a:pt x="5488611" y="1899705"/>
                  <a:pt x="6135189" y="1728652"/>
                </a:cubicBezTo>
                <a:cubicBezTo>
                  <a:pt x="6284281" y="1689210"/>
                  <a:pt x="6428378" y="1632857"/>
                  <a:pt x="6574972" y="1584960"/>
                </a:cubicBezTo>
                <a:cubicBezTo>
                  <a:pt x="6606903" y="1554480"/>
                  <a:pt x="6637649" y="1522708"/>
                  <a:pt x="6670766" y="1493520"/>
                </a:cubicBezTo>
                <a:cubicBezTo>
                  <a:pt x="6811699" y="1369309"/>
                  <a:pt x="6919724" y="1278464"/>
                  <a:pt x="7101840" y="1201783"/>
                </a:cubicBezTo>
                <a:cubicBezTo>
                  <a:pt x="7310421" y="1113959"/>
                  <a:pt x="7542537" y="1082436"/>
                  <a:pt x="7741920" y="975360"/>
                </a:cubicBezTo>
                <a:cubicBezTo>
                  <a:pt x="8270651" y="691413"/>
                  <a:pt x="7689534" y="1015370"/>
                  <a:pt x="8194766" y="696686"/>
                </a:cubicBezTo>
                <a:cubicBezTo>
                  <a:pt x="8308670" y="624839"/>
                  <a:pt x="8427443" y="561010"/>
                  <a:pt x="8543109" y="492035"/>
                </a:cubicBezTo>
                <a:cubicBezTo>
                  <a:pt x="8585658" y="466662"/>
                  <a:pt x="8625892" y="437380"/>
                  <a:pt x="8669383" y="413658"/>
                </a:cubicBezTo>
                <a:cubicBezTo>
                  <a:pt x="8768481" y="359604"/>
                  <a:pt x="8806639" y="344530"/>
                  <a:pt x="8900160" y="261258"/>
                </a:cubicBezTo>
                <a:cubicBezTo>
                  <a:pt x="8964546" y="203928"/>
                  <a:pt x="9022080" y="139338"/>
                  <a:pt x="9083040" y="78378"/>
                </a:cubicBezTo>
                <a:cubicBezTo>
                  <a:pt x="9104812" y="56606"/>
                  <a:pt x="9119145" y="22799"/>
                  <a:pt x="9148355" y="13063"/>
                </a:cubicBezTo>
                <a:cubicBezTo>
                  <a:pt x="9164497" y="7683"/>
                  <a:pt x="9159366" y="12814"/>
                  <a:pt x="9165772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471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9ABCA0-B2DC-F6FE-6FDE-E81B3D5A35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102" t="14222" r="24483" b="14413"/>
          <a:stretch>
            <a:fillRect/>
          </a:stretch>
        </p:blipFill>
        <p:spPr>
          <a:xfrm>
            <a:off x="7210697" y="23293"/>
            <a:ext cx="4981303" cy="681141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630186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A96A-5A53-48EF-B51B-30D31BF4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HSSC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934F-64F0-F28C-E07A-B7F9A06E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351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Adjudicated comments are available in the </a:t>
            </a:r>
            <a:r>
              <a:rPr lang="en-GB" dirty="0" err="1"/>
              <a:t>Github</a:t>
            </a:r>
            <a:r>
              <a:rPr lang="en-GB" dirty="0"/>
              <a:t> repository</a:t>
            </a:r>
          </a:p>
          <a:p>
            <a:pPr>
              <a:lnSpc>
                <a:spcPct val="100000"/>
              </a:lnSpc>
            </a:pPr>
            <a:r>
              <a:rPr lang="en-GB" dirty="0"/>
              <a:t>HSSC will consider both S-98 and S-164 for approval</a:t>
            </a:r>
          </a:p>
          <a:p>
            <a:pPr>
              <a:lnSpc>
                <a:spcPct val="100000"/>
              </a:lnSpc>
            </a:pPr>
            <a:r>
              <a:rPr lang="en-GB" dirty="0"/>
              <a:t>Further meetings will consider refinements and any corrections necessary</a:t>
            </a:r>
          </a:p>
          <a:p>
            <a:pPr>
              <a:lnSpc>
                <a:spcPct val="100000"/>
              </a:lnSpc>
            </a:pPr>
            <a:r>
              <a:rPr lang="en-GB" dirty="0"/>
              <a:t>S-98 Annex A (Data Constraints) will be numbered and versioned separately so it can be updated and changed as required in order to meet the requirements defined in S-98 and expressed through S-164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LOTS of updates to Annex A are required (already), mainly due to the TSM discussions, and the expectation it will continue to be updated. These will be processed once HSSC is over.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First meeting late June 2026</a:t>
            </a:r>
          </a:p>
          <a:p>
            <a:pPr>
              <a:lnSpc>
                <a:spcPct val="10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9647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E9C19-CEF0-4B3C-77E1-370BD8F23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22" y="286748"/>
            <a:ext cx="10515600" cy="858429"/>
          </a:xfrm>
        </p:spPr>
        <p:txBody>
          <a:bodyPr/>
          <a:lstStyle/>
          <a:p>
            <a:r>
              <a:rPr lang="en-GB" dirty="0"/>
              <a:t>S-164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1FFCD-F42A-EADE-0FE1-237D14C7B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4"/>
            <a:ext cx="10515600" cy="542544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S-164 will continue to be updated through a process of clarification post-HSSC. It’s likely most of this PT work will be S-164 based from HSSC onwards.</a:t>
            </a:r>
          </a:p>
          <a:p>
            <a:pPr>
              <a:lnSpc>
                <a:spcPct val="120000"/>
              </a:lnSpc>
            </a:pPr>
            <a:r>
              <a:rPr lang="en-GB" dirty="0"/>
              <a:t>Already changes and updates to be inserted, along with a general re-organisation of the test datasets reflecting the tests.</a:t>
            </a:r>
          </a:p>
          <a:p>
            <a:pPr>
              <a:lnSpc>
                <a:spcPct val="120000"/>
              </a:lnSpc>
            </a:pPr>
            <a:r>
              <a:rPr lang="en-GB" dirty="0"/>
              <a:t>This is best done with implementers defining tests and changes for tests which reflect the requirements in S-98.  Now S-98 is (hopefully) stable this should be a strictly controlled process.</a:t>
            </a:r>
          </a:p>
          <a:p>
            <a:pPr>
              <a:lnSpc>
                <a:spcPct val="120000"/>
              </a:lnSpc>
            </a:pPr>
            <a:r>
              <a:rPr lang="en-GB" dirty="0"/>
              <a:t>The existing manual is being updated again with tests to reflect the TSM changes, and to run-through and create screenshots where they are currently deficient</a:t>
            </a:r>
          </a:p>
          <a:p>
            <a:pPr>
              <a:lnSpc>
                <a:spcPct val="120000"/>
              </a:lnSpc>
            </a:pPr>
            <a:r>
              <a:rPr lang="en-GB" dirty="0"/>
              <a:t>Help with screenshots gratefully received from KHOA at TSM (ongoing)</a:t>
            </a:r>
          </a:p>
          <a:p>
            <a:pPr>
              <a:lnSpc>
                <a:spcPct val="120000"/>
              </a:lnSpc>
            </a:pPr>
            <a:r>
              <a:rPr lang="en-GB" dirty="0"/>
              <a:t>IIC Exchange set builder to build renewed exchange sets for S-164. Testing over Summer 2026.</a:t>
            </a:r>
          </a:p>
          <a:p>
            <a:pPr>
              <a:lnSpc>
                <a:spcPct val="120000"/>
              </a:lnSpc>
            </a:pPr>
            <a:r>
              <a:rPr lang="en-GB" dirty="0"/>
              <a:t>F2F Oct 2026?</a:t>
            </a:r>
          </a:p>
        </p:txBody>
      </p:sp>
    </p:spTree>
    <p:extLst>
      <p:ext uri="{BB962C8B-B14F-4D97-AF65-F5344CB8AC3E}">
        <p14:creationId xmlns:p14="http://schemas.microsoft.com/office/powerpoint/2010/main" val="538197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1B4C-1CC5-11AB-9D00-ED3E4AF8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B2869-2A58-5995-7E9B-7C03B1BAE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8545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C_Stuff" id="{7EB4A1A4-DE80-4AED-B90B-0D4C97F0BFAA}" vid="{AB3974AC-2916-4F91-8C8E-185544D72609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1_Office Theme</vt:lpstr>
      <vt:lpstr>2_Office Theme</vt:lpstr>
      <vt:lpstr>PowerPoint Presentation</vt:lpstr>
      <vt:lpstr>Agenda</vt:lpstr>
      <vt:lpstr>Meeting update - TSM</vt:lpstr>
      <vt:lpstr>Enhanced Safety contour Issues [OSI]</vt:lpstr>
      <vt:lpstr>PowerPoint Presentation</vt:lpstr>
      <vt:lpstr>PowerPoint Presentation</vt:lpstr>
      <vt:lpstr>Changes in HSSC version 3.0.0</vt:lpstr>
      <vt:lpstr>S-104 issue for clarification</vt:lpstr>
      <vt:lpstr>PowerPoint Presentation</vt:lpstr>
      <vt:lpstr>PowerPoint Presentation</vt:lpstr>
      <vt:lpstr>PowerPoint Presentation</vt:lpstr>
      <vt:lpstr>PowerPoint Presentation</vt:lpstr>
      <vt:lpstr>HSSC Update</vt:lpstr>
      <vt:lpstr>S-164 update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pritchard</dc:creator>
  <cp:lastModifiedBy>jonathan pritchard</cp:lastModifiedBy>
  <cp:revision>113</cp:revision>
  <dcterms:created xsi:type="dcterms:W3CDTF">2025-12-09T14:51:16Z</dcterms:created>
  <dcterms:modified xsi:type="dcterms:W3CDTF">2026-05-14T09:22:13Z</dcterms:modified>
</cp:coreProperties>
</file>