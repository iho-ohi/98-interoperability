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sldIdLst>
    <p:sldId id="256" r:id="rId2"/>
    <p:sldId id="257" r:id="rId3"/>
    <p:sldId id="343" r:id="rId4"/>
    <p:sldId id="313" r:id="rId5"/>
    <p:sldId id="337" r:id="rId6"/>
    <p:sldId id="338" r:id="rId7"/>
    <p:sldId id="339" r:id="rId8"/>
    <p:sldId id="340" r:id="rId9"/>
    <p:sldId id="341" r:id="rId10"/>
    <p:sldId id="326" r:id="rId11"/>
    <p:sldId id="342" r:id="rId12"/>
    <p:sldId id="332" r:id="rId13"/>
    <p:sldId id="344" r:id="rId14"/>
    <p:sldId id="333" r:id="rId15"/>
    <p:sldId id="334" r:id="rId16"/>
    <p:sldId id="336" r:id="rId17"/>
    <p:sldId id="335" r:id="rId18"/>
    <p:sldId id="290" r:id="rId19"/>
    <p:sldId id="31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925BD"/>
    <a:srgbClr val="CBF9FD"/>
    <a:srgbClr val="C1F3FB"/>
    <a:srgbClr val="C9C5F7"/>
    <a:srgbClr val="837B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6784" autoAdjust="0"/>
    <p:restoredTop sz="94660"/>
  </p:normalViewPr>
  <p:slideViewPr>
    <p:cSldViewPr snapToGrid="0" showGuides="1">
      <p:cViewPr varScale="1">
        <p:scale>
          <a:sx n="188" d="100"/>
          <a:sy n="188" d="100"/>
        </p:scale>
        <p:origin x="336" y="350"/>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04ED3-BC4C-DEEE-F389-B680024ED1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534DE68E-0994-24AD-6E01-0446187B20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FDE71B8-455B-4F3B-3410-2E4F5A490C09}"/>
              </a:ext>
            </a:extLst>
          </p:cNvPr>
          <p:cNvSpPr>
            <a:spLocks noGrp="1"/>
          </p:cNvSpPr>
          <p:nvPr>
            <p:ph type="dt" sz="half" idx="10"/>
          </p:nvPr>
        </p:nvSpPr>
        <p:spPr/>
        <p:txBody>
          <a:bodyPr/>
          <a:lstStyle/>
          <a:p>
            <a:fld id="{BFBB9E3F-605D-4A01-A272-F9F7C12C03AD}" type="datetimeFigureOut">
              <a:rPr lang="en-GB" smtClean="0"/>
              <a:t>21/11/2025</a:t>
            </a:fld>
            <a:endParaRPr lang="en-GB"/>
          </a:p>
        </p:txBody>
      </p:sp>
      <p:sp>
        <p:nvSpPr>
          <p:cNvPr id="5" name="Footer Placeholder 4">
            <a:extLst>
              <a:ext uri="{FF2B5EF4-FFF2-40B4-BE49-F238E27FC236}">
                <a16:creationId xmlns:a16="http://schemas.microsoft.com/office/drawing/2014/main" id="{DA2EE18B-EE22-0C09-6EC3-D4DE2750476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08092DE-0B52-3F1A-B2BA-60F77397201E}"/>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18431836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61EF9-24BA-39C4-D013-05DFCBF8262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417F02F-CAD1-091F-2900-98F9B7FF8C9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121CB30-333C-ADC8-A5BD-194C76D25A04}"/>
              </a:ext>
            </a:extLst>
          </p:cNvPr>
          <p:cNvSpPr>
            <a:spLocks noGrp="1"/>
          </p:cNvSpPr>
          <p:nvPr>
            <p:ph type="dt" sz="half" idx="10"/>
          </p:nvPr>
        </p:nvSpPr>
        <p:spPr/>
        <p:txBody>
          <a:bodyPr/>
          <a:lstStyle/>
          <a:p>
            <a:fld id="{BFBB9E3F-605D-4A01-A272-F9F7C12C03AD}" type="datetimeFigureOut">
              <a:rPr lang="en-GB" smtClean="0"/>
              <a:t>21/11/2025</a:t>
            </a:fld>
            <a:endParaRPr lang="en-GB"/>
          </a:p>
        </p:txBody>
      </p:sp>
      <p:sp>
        <p:nvSpPr>
          <p:cNvPr id="5" name="Footer Placeholder 4">
            <a:extLst>
              <a:ext uri="{FF2B5EF4-FFF2-40B4-BE49-F238E27FC236}">
                <a16:creationId xmlns:a16="http://schemas.microsoft.com/office/drawing/2014/main" id="{6B7BC09C-36BA-B6DB-6027-F3DBCD937DD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736D8B2-CD1B-F17F-C486-59527787B2E7}"/>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1543478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A17A3-54A8-CDF9-7C27-FEC174E5959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5D44A67-234B-BC27-1113-E9C6E822989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ED098A8-75D6-0915-261E-04859EF73370}"/>
              </a:ext>
            </a:extLst>
          </p:cNvPr>
          <p:cNvSpPr>
            <a:spLocks noGrp="1"/>
          </p:cNvSpPr>
          <p:nvPr>
            <p:ph type="dt" sz="half" idx="10"/>
          </p:nvPr>
        </p:nvSpPr>
        <p:spPr/>
        <p:txBody>
          <a:bodyPr/>
          <a:lstStyle/>
          <a:p>
            <a:fld id="{BFBB9E3F-605D-4A01-A272-F9F7C12C03AD}" type="datetimeFigureOut">
              <a:rPr lang="en-GB" smtClean="0"/>
              <a:t>21/11/2025</a:t>
            </a:fld>
            <a:endParaRPr lang="en-GB"/>
          </a:p>
        </p:txBody>
      </p:sp>
      <p:sp>
        <p:nvSpPr>
          <p:cNvPr id="5" name="Footer Placeholder 4">
            <a:extLst>
              <a:ext uri="{FF2B5EF4-FFF2-40B4-BE49-F238E27FC236}">
                <a16:creationId xmlns:a16="http://schemas.microsoft.com/office/drawing/2014/main" id="{DD99E781-D785-4EC7-4C4D-78EE0287ACB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491A152-BD38-BD43-DCF3-C2B672D3D9CD}"/>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1700731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15A17-ECB8-26D1-43DB-F17EF582C5E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F407D76-766F-ED2E-1739-D74112C35E0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BC4BD46-7A1D-53F0-48D1-C088339741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1A0454D-B13C-88F4-DDB4-548C23BE1668}"/>
              </a:ext>
            </a:extLst>
          </p:cNvPr>
          <p:cNvSpPr>
            <a:spLocks noGrp="1"/>
          </p:cNvSpPr>
          <p:nvPr>
            <p:ph type="dt" sz="half" idx="10"/>
          </p:nvPr>
        </p:nvSpPr>
        <p:spPr/>
        <p:txBody>
          <a:bodyPr/>
          <a:lstStyle/>
          <a:p>
            <a:fld id="{BFBB9E3F-605D-4A01-A272-F9F7C12C03AD}" type="datetimeFigureOut">
              <a:rPr lang="en-GB" smtClean="0"/>
              <a:t>21/11/2025</a:t>
            </a:fld>
            <a:endParaRPr lang="en-GB"/>
          </a:p>
        </p:txBody>
      </p:sp>
      <p:sp>
        <p:nvSpPr>
          <p:cNvPr id="6" name="Footer Placeholder 5">
            <a:extLst>
              <a:ext uri="{FF2B5EF4-FFF2-40B4-BE49-F238E27FC236}">
                <a16:creationId xmlns:a16="http://schemas.microsoft.com/office/drawing/2014/main" id="{7D7C5BCF-CB3D-E11C-EB4D-E660A42452E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B2BB3D5-37ED-8B34-0648-07C55FF4A5E6}"/>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27867945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7BAE3-141A-4A47-9EFC-6FD76E33EEE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1CB56C6-5A51-3F5F-02E1-FC0F86B3CE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93C2D76-A43B-CDBA-965B-D233E37FB0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AD94C45-5724-8CF4-5B33-2C51315856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DDD70F-A79C-6F22-CDEF-48596978676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B855AF6-21B0-9657-4606-4C4282366E0D}"/>
              </a:ext>
            </a:extLst>
          </p:cNvPr>
          <p:cNvSpPr>
            <a:spLocks noGrp="1"/>
          </p:cNvSpPr>
          <p:nvPr>
            <p:ph type="dt" sz="half" idx="10"/>
          </p:nvPr>
        </p:nvSpPr>
        <p:spPr/>
        <p:txBody>
          <a:bodyPr/>
          <a:lstStyle/>
          <a:p>
            <a:fld id="{BFBB9E3F-605D-4A01-A272-F9F7C12C03AD}" type="datetimeFigureOut">
              <a:rPr lang="en-GB" smtClean="0"/>
              <a:t>21/11/2025</a:t>
            </a:fld>
            <a:endParaRPr lang="en-GB"/>
          </a:p>
        </p:txBody>
      </p:sp>
      <p:sp>
        <p:nvSpPr>
          <p:cNvPr id="8" name="Footer Placeholder 7">
            <a:extLst>
              <a:ext uri="{FF2B5EF4-FFF2-40B4-BE49-F238E27FC236}">
                <a16:creationId xmlns:a16="http://schemas.microsoft.com/office/drawing/2014/main" id="{DE27CDBA-8959-04EA-9DE2-980E7620C34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2925378-3A7C-DC81-87C6-962D4B27A903}"/>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32885837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5C4F2-7E23-8ED6-1903-ACF89167C77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6DD8F73-C072-6E62-658C-2F7051942986}"/>
              </a:ext>
            </a:extLst>
          </p:cNvPr>
          <p:cNvSpPr>
            <a:spLocks noGrp="1"/>
          </p:cNvSpPr>
          <p:nvPr>
            <p:ph type="dt" sz="half" idx="10"/>
          </p:nvPr>
        </p:nvSpPr>
        <p:spPr/>
        <p:txBody>
          <a:bodyPr/>
          <a:lstStyle/>
          <a:p>
            <a:fld id="{BFBB9E3F-605D-4A01-A272-F9F7C12C03AD}" type="datetimeFigureOut">
              <a:rPr lang="en-GB" smtClean="0"/>
              <a:t>21/11/2025</a:t>
            </a:fld>
            <a:endParaRPr lang="en-GB"/>
          </a:p>
        </p:txBody>
      </p:sp>
      <p:sp>
        <p:nvSpPr>
          <p:cNvPr id="4" name="Footer Placeholder 3">
            <a:extLst>
              <a:ext uri="{FF2B5EF4-FFF2-40B4-BE49-F238E27FC236}">
                <a16:creationId xmlns:a16="http://schemas.microsoft.com/office/drawing/2014/main" id="{7A1E5671-8138-17F9-5F70-38734810D46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36F3C3A-A8FB-F3AD-B12E-0AB3998A0D85}"/>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664234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08ED4D-39A8-D0CE-77A4-BA0A00E82679}"/>
              </a:ext>
            </a:extLst>
          </p:cNvPr>
          <p:cNvSpPr>
            <a:spLocks noGrp="1"/>
          </p:cNvSpPr>
          <p:nvPr>
            <p:ph type="dt" sz="half" idx="10"/>
          </p:nvPr>
        </p:nvSpPr>
        <p:spPr/>
        <p:txBody>
          <a:bodyPr/>
          <a:lstStyle/>
          <a:p>
            <a:fld id="{BFBB9E3F-605D-4A01-A272-F9F7C12C03AD}" type="datetimeFigureOut">
              <a:rPr lang="en-GB" smtClean="0"/>
              <a:t>21/11/2025</a:t>
            </a:fld>
            <a:endParaRPr lang="en-GB"/>
          </a:p>
        </p:txBody>
      </p:sp>
      <p:sp>
        <p:nvSpPr>
          <p:cNvPr id="3" name="Footer Placeholder 2">
            <a:extLst>
              <a:ext uri="{FF2B5EF4-FFF2-40B4-BE49-F238E27FC236}">
                <a16:creationId xmlns:a16="http://schemas.microsoft.com/office/drawing/2014/main" id="{C57B2102-9354-19B2-05CB-78F333A24DE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D8064A20-E795-5815-9685-703150C688FB}"/>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6921301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AEB8F-465E-CEC4-F2D5-FA3F66F843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58B0699-1C83-DE17-9BF7-4460617B22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AFCA805-BA27-9FE7-FC42-83098F7DCE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8EF0E1-371C-B593-709C-E29E3A5DA07C}"/>
              </a:ext>
            </a:extLst>
          </p:cNvPr>
          <p:cNvSpPr>
            <a:spLocks noGrp="1"/>
          </p:cNvSpPr>
          <p:nvPr>
            <p:ph type="dt" sz="half" idx="10"/>
          </p:nvPr>
        </p:nvSpPr>
        <p:spPr/>
        <p:txBody>
          <a:bodyPr/>
          <a:lstStyle/>
          <a:p>
            <a:fld id="{BFBB9E3F-605D-4A01-A272-F9F7C12C03AD}" type="datetimeFigureOut">
              <a:rPr lang="en-GB" smtClean="0"/>
              <a:t>21/11/2025</a:t>
            </a:fld>
            <a:endParaRPr lang="en-GB"/>
          </a:p>
        </p:txBody>
      </p:sp>
      <p:sp>
        <p:nvSpPr>
          <p:cNvPr id="6" name="Footer Placeholder 5">
            <a:extLst>
              <a:ext uri="{FF2B5EF4-FFF2-40B4-BE49-F238E27FC236}">
                <a16:creationId xmlns:a16="http://schemas.microsoft.com/office/drawing/2014/main" id="{FCFBB21E-5E6E-E3DF-2FF5-C6F370AA8C7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1BE0EBA-BE85-9059-616E-CE8C49F59E74}"/>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2217484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188A1-B5E6-4D6D-84F2-997793C815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6B767B9-674F-12E7-E1D9-841545E914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a:extLst>
              <a:ext uri="{FF2B5EF4-FFF2-40B4-BE49-F238E27FC236}">
                <a16:creationId xmlns:a16="http://schemas.microsoft.com/office/drawing/2014/main" id="{AC1C1710-ADCD-9160-A2A5-29EAF14992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1FB06E-332C-02B3-70A5-CBCA221F0833}"/>
              </a:ext>
            </a:extLst>
          </p:cNvPr>
          <p:cNvSpPr>
            <a:spLocks noGrp="1"/>
          </p:cNvSpPr>
          <p:nvPr>
            <p:ph type="dt" sz="half" idx="10"/>
          </p:nvPr>
        </p:nvSpPr>
        <p:spPr/>
        <p:txBody>
          <a:bodyPr/>
          <a:lstStyle/>
          <a:p>
            <a:fld id="{BFBB9E3F-605D-4A01-A272-F9F7C12C03AD}" type="datetimeFigureOut">
              <a:rPr lang="en-GB" smtClean="0"/>
              <a:t>21/11/2025</a:t>
            </a:fld>
            <a:endParaRPr lang="en-GB"/>
          </a:p>
        </p:txBody>
      </p:sp>
      <p:sp>
        <p:nvSpPr>
          <p:cNvPr id="6" name="Footer Placeholder 5">
            <a:extLst>
              <a:ext uri="{FF2B5EF4-FFF2-40B4-BE49-F238E27FC236}">
                <a16:creationId xmlns:a16="http://schemas.microsoft.com/office/drawing/2014/main" id="{2188FC76-1046-FAD9-4E94-BFBB99F3878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074D668-11A2-CB78-810D-0875A8A5A0CB}"/>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35528389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7E474-8FC8-E1E6-3F83-8ABEEC02DAD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81897A4-BD41-C68F-1577-0864A4BB760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4E749C2-451B-706F-F38A-3811453FFD02}"/>
              </a:ext>
            </a:extLst>
          </p:cNvPr>
          <p:cNvSpPr>
            <a:spLocks noGrp="1"/>
          </p:cNvSpPr>
          <p:nvPr>
            <p:ph type="dt" sz="half" idx="10"/>
          </p:nvPr>
        </p:nvSpPr>
        <p:spPr/>
        <p:txBody>
          <a:bodyPr/>
          <a:lstStyle/>
          <a:p>
            <a:fld id="{BFBB9E3F-605D-4A01-A272-F9F7C12C03AD}" type="datetimeFigureOut">
              <a:rPr lang="en-GB" smtClean="0"/>
              <a:t>21/11/2025</a:t>
            </a:fld>
            <a:endParaRPr lang="en-GB"/>
          </a:p>
        </p:txBody>
      </p:sp>
      <p:sp>
        <p:nvSpPr>
          <p:cNvPr id="5" name="Footer Placeholder 4">
            <a:extLst>
              <a:ext uri="{FF2B5EF4-FFF2-40B4-BE49-F238E27FC236}">
                <a16:creationId xmlns:a16="http://schemas.microsoft.com/office/drawing/2014/main" id="{064C5FCE-51E7-2C75-7387-551486CA0E1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61A4B97-13B4-7571-56E3-A24AF75347B6}"/>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2966382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D11040-A316-A60F-E455-142B0D0E6AA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DCE5F9D-CD1B-9012-526F-75B3AE57FD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73201B5-93B5-1929-12DA-084E7EA9AAD1}"/>
              </a:ext>
            </a:extLst>
          </p:cNvPr>
          <p:cNvSpPr>
            <a:spLocks noGrp="1"/>
          </p:cNvSpPr>
          <p:nvPr>
            <p:ph type="dt" sz="half" idx="10"/>
          </p:nvPr>
        </p:nvSpPr>
        <p:spPr/>
        <p:txBody>
          <a:bodyPr/>
          <a:lstStyle/>
          <a:p>
            <a:fld id="{BFBB9E3F-605D-4A01-A272-F9F7C12C03AD}" type="datetimeFigureOut">
              <a:rPr lang="en-GB" smtClean="0"/>
              <a:t>21/11/2025</a:t>
            </a:fld>
            <a:endParaRPr lang="en-GB"/>
          </a:p>
        </p:txBody>
      </p:sp>
      <p:sp>
        <p:nvSpPr>
          <p:cNvPr id="5" name="Footer Placeholder 4">
            <a:extLst>
              <a:ext uri="{FF2B5EF4-FFF2-40B4-BE49-F238E27FC236}">
                <a16:creationId xmlns:a16="http://schemas.microsoft.com/office/drawing/2014/main" id="{96A25E57-2087-6CC6-9969-E7BF228E160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3CF528D-A3C0-F750-96D2-3F4C519670B6}"/>
              </a:ext>
            </a:extLst>
          </p:cNvPr>
          <p:cNvSpPr>
            <a:spLocks noGrp="1"/>
          </p:cNvSpPr>
          <p:nvPr>
            <p:ph type="sldNum" sz="quarter" idx="12"/>
          </p:nvPr>
        </p:nvSpPr>
        <p:spPr/>
        <p:txBody>
          <a:bodyPr/>
          <a:lstStyle/>
          <a:p>
            <a:fld id="{A51E93BC-0583-4F13-9EFE-A882EE2EBD69}" type="slidenum">
              <a:rPr lang="en-GB" smtClean="0"/>
              <a:t>‹#›</a:t>
            </a:fld>
            <a:endParaRPr lang="en-GB"/>
          </a:p>
        </p:txBody>
      </p:sp>
    </p:spTree>
    <p:extLst>
      <p:ext uri="{BB962C8B-B14F-4D97-AF65-F5344CB8AC3E}">
        <p14:creationId xmlns:p14="http://schemas.microsoft.com/office/powerpoint/2010/main" val="23831813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CBF9FD"/>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21DC7A-F643-0BAB-29FB-4B3AB54841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41DF3D1-8AF5-DE09-2BBB-110C762374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58C462A-523B-AD3C-6669-F3F5C13394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BB9E3F-605D-4A01-A272-F9F7C12C03AD}" type="datetimeFigureOut">
              <a:rPr lang="en-GB" smtClean="0"/>
              <a:t>21/11/2025</a:t>
            </a:fld>
            <a:endParaRPr lang="en-GB"/>
          </a:p>
        </p:txBody>
      </p:sp>
      <p:sp>
        <p:nvSpPr>
          <p:cNvPr id="5" name="Footer Placeholder 4">
            <a:extLst>
              <a:ext uri="{FF2B5EF4-FFF2-40B4-BE49-F238E27FC236}">
                <a16:creationId xmlns:a16="http://schemas.microsoft.com/office/drawing/2014/main" id="{5F049C9F-C1A7-5E31-17C0-6E431B334B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2BFDA255-9834-3890-56DF-0FCB7DB31C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1E93BC-0583-4F13-9EFE-A882EE2EBD69}" type="slidenum">
              <a:rPr lang="en-GB" smtClean="0"/>
              <a:t>‹#›</a:t>
            </a:fld>
            <a:endParaRPr lang="en-GB"/>
          </a:p>
        </p:txBody>
      </p:sp>
      <p:pic>
        <p:nvPicPr>
          <p:cNvPr id="8" name="Picture 7">
            <a:extLst>
              <a:ext uri="{FF2B5EF4-FFF2-40B4-BE49-F238E27FC236}">
                <a16:creationId xmlns:a16="http://schemas.microsoft.com/office/drawing/2014/main" id="{1C57053D-AA88-4C04-5843-76F3F58C1C6C}"/>
              </a:ext>
            </a:extLst>
          </p:cNvPr>
          <p:cNvPicPr>
            <a:picLocks noChangeAspect="1"/>
          </p:cNvPicPr>
          <p:nvPr userDrawn="1"/>
        </p:nvPicPr>
        <p:blipFill>
          <a:blip r:embed="rId13">
            <a:alphaModFix amt="63000"/>
          </a:blip>
          <a:stretch>
            <a:fillRect/>
          </a:stretch>
        </p:blipFill>
        <p:spPr>
          <a:xfrm>
            <a:off x="9908249" y="6243574"/>
            <a:ext cx="2152811" cy="477902"/>
          </a:xfrm>
          <a:prstGeom prst="rect">
            <a:avLst/>
          </a:prstGeom>
        </p:spPr>
      </p:pic>
    </p:spTree>
    <p:extLst>
      <p:ext uri="{BB962C8B-B14F-4D97-AF65-F5344CB8AC3E}">
        <p14:creationId xmlns:p14="http://schemas.microsoft.com/office/powerpoint/2010/main" val="3783147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02A3F-2D11-31B2-53BF-698AFCB44FF0}"/>
              </a:ext>
            </a:extLst>
          </p:cNvPr>
          <p:cNvSpPr>
            <a:spLocks noGrp="1"/>
          </p:cNvSpPr>
          <p:nvPr>
            <p:ph type="ctrTitle"/>
          </p:nvPr>
        </p:nvSpPr>
        <p:spPr>
          <a:xfrm>
            <a:off x="2923032" y="2487168"/>
            <a:ext cx="9144000" cy="1152736"/>
          </a:xfrm>
        </p:spPr>
        <p:txBody>
          <a:bodyPr>
            <a:noAutofit/>
          </a:bodyPr>
          <a:lstStyle/>
          <a:p>
            <a:pPr algn="r"/>
            <a:r>
              <a:rPr lang="en-GB" sz="7200" dirty="0"/>
              <a:t>S-98 update VTC</a:t>
            </a:r>
          </a:p>
        </p:txBody>
      </p:sp>
      <p:sp>
        <p:nvSpPr>
          <p:cNvPr id="3" name="Subtitle 2">
            <a:extLst>
              <a:ext uri="{FF2B5EF4-FFF2-40B4-BE49-F238E27FC236}">
                <a16:creationId xmlns:a16="http://schemas.microsoft.com/office/drawing/2014/main" id="{9CE293CB-9E37-3DB4-F550-7AD805861E6A}"/>
              </a:ext>
            </a:extLst>
          </p:cNvPr>
          <p:cNvSpPr>
            <a:spLocks noGrp="1"/>
          </p:cNvSpPr>
          <p:nvPr>
            <p:ph type="subTitle" idx="1"/>
          </p:nvPr>
        </p:nvSpPr>
        <p:spPr>
          <a:xfrm>
            <a:off x="6308344" y="5197615"/>
            <a:ext cx="5619656" cy="878305"/>
          </a:xfrm>
        </p:spPr>
        <p:txBody>
          <a:bodyPr>
            <a:normAutofit/>
          </a:bodyPr>
          <a:lstStyle/>
          <a:p>
            <a:pPr algn="r"/>
            <a:r>
              <a:rPr lang="en-GB" sz="4800" dirty="0"/>
              <a:t>21</a:t>
            </a:r>
            <a:r>
              <a:rPr lang="en-GB" sz="4800" baseline="30000" dirty="0"/>
              <a:t>st</a:t>
            </a:r>
            <a:r>
              <a:rPr lang="en-GB" sz="4800" dirty="0"/>
              <a:t> November 2025</a:t>
            </a:r>
          </a:p>
        </p:txBody>
      </p:sp>
    </p:spTree>
    <p:extLst>
      <p:ext uri="{BB962C8B-B14F-4D97-AF65-F5344CB8AC3E}">
        <p14:creationId xmlns:p14="http://schemas.microsoft.com/office/powerpoint/2010/main" val="27124736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79234-D4B9-C504-91B1-F339FD4A3DEE}"/>
              </a:ext>
            </a:extLst>
          </p:cNvPr>
          <p:cNvSpPr>
            <a:spLocks noGrp="1"/>
          </p:cNvSpPr>
          <p:nvPr>
            <p:ph type="title"/>
          </p:nvPr>
        </p:nvSpPr>
        <p:spPr>
          <a:xfrm>
            <a:off x="439928" y="304165"/>
            <a:ext cx="10515600" cy="874395"/>
          </a:xfrm>
        </p:spPr>
        <p:txBody>
          <a:bodyPr/>
          <a:lstStyle/>
          <a:p>
            <a:r>
              <a:rPr lang="en-GB" dirty="0"/>
              <a:t>Agenda</a:t>
            </a:r>
          </a:p>
        </p:txBody>
      </p:sp>
      <p:sp>
        <p:nvSpPr>
          <p:cNvPr id="3" name="Content Placeholder 2">
            <a:extLst>
              <a:ext uri="{FF2B5EF4-FFF2-40B4-BE49-F238E27FC236}">
                <a16:creationId xmlns:a16="http://schemas.microsoft.com/office/drawing/2014/main" id="{4DCA68D8-1360-C690-7AD5-D0E4402F20BC}"/>
              </a:ext>
            </a:extLst>
          </p:cNvPr>
          <p:cNvSpPr>
            <a:spLocks noGrp="1"/>
          </p:cNvSpPr>
          <p:nvPr>
            <p:ph idx="1"/>
          </p:nvPr>
        </p:nvSpPr>
        <p:spPr>
          <a:xfrm>
            <a:off x="838200" y="1402080"/>
            <a:ext cx="10515600" cy="4774883"/>
          </a:xfrm>
        </p:spPr>
        <p:txBody>
          <a:bodyPr>
            <a:normAutofit/>
          </a:bodyPr>
          <a:lstStyle/>
          <a:p>
            <a:r>
              <a:rPr lang="en-GB" sz="3200" dirty="0"/>
              <a:t>Introductions</a:t>
            </a:r>
          </a:p>
          <a:p>
            <a:r>
              <a:rPr lang="en-GB" sz="3200" dirty="0"/>
              <a:t>S-98</a:t>
            </a:r>
          </a:p>
          <a:p>
            <a:pPr lvl="2"/>
            <a:r>
              <a:rPr lang="en-GB" sz="2400" dirty="0"/>
              <a:t>Progress since October [20m / JP]</a:t>
            </a:r>
          </a:p>
          <a:p>
            <a:pPr lvl="2"/>
            <a:r>
              <a:rPr lang="en-GB" sz="2400" dirty="0"/>
              <a:t>Comment Sheets [60m / All]</a:t>
            </a:r>
          </a:p>
          <a:p>
            <a:pPr lvl="2"/>
            <a:r>
              <a:rPr lang="en-GB" sz="2400" dirty="0"/>
              <a:t>Submitted Paper [20m / UKHO</a:t>
            </a:r>
          </a:p>
          <a:p>
            <a:pPr lvl="2"/>
            <a:r>
              <a:rPr lang="en-GB" sz="2400" dirty="0"/>
              <a:t>Other inputs [20m / JP++]</a:t>
            </a:r>
          </a:p>
          <a:p>
            <a:r>
              <a:rPr lang="en-GB" sz="3200" dirty="0"/>
              <a:t>Forward plan</a:t>
            </a:r>
          </a:p>
          <a:p>
            <a:r>
              <a:rPr lang="en-GB" sz="3200" dirty="0"/>
              <a:t>Other Contributions / AOB?</a:t>
            </a:r>
          </a:p>
          <a:p>
            <a:r>
              <a:rPr lang="en-GB" sz="3200" dirty="0"/>
              <a:t>Next meeting</a:t>
            </a:r>
          </a:p>
          <a:p>
            <a:pPr lvl="1"/>
            <a:endParaRPr lang="en-GB" sz="2800" dirty="0"/>
          </a:p>
        </p:txBody>
      </p:sp>
    </p:spTree>
    <p:extLst>
      <p:ext uri="{BB962C8B-B14F-4D97-AF65-F5344CB8AC3E}">
        <p14:creationId xmlns:p14="http://schemas.microsoft.com/office/powerpoint/2010/main" val="2619660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E2CC0-5B48-EE46-51A1-3E393BCE0EFF}"/>
              </a:ext>
            </a:extLst>
          </p:cNvPr>
          <p:cNvSpPr>
            <a:spLocks noGrp="1"/>
          </p:cNvSpPr>
          <p:nvPr>
            <p:ph type="title"/>
          </p:nvPr>
        </p:nvSpPr>
        <p:spPr/>
        <p:txBody>
          <a:bodyPr/>
          <a:lstStyle/>
          <a:p>
            <a:r>
              <a:rPr lang="en-GB" dirty="0"/>
              <a:t>S-124 Progress</a:t>
            </a:r>
          </a:p>
        </p:txBody>
      </p:sp>
      <p:sp>
        <p:nvSpPr>
          <p:cNvPr id="3" name="Content Placeholder 2">
            <a:extLst>
              <a:ext uri="{FF2B5EF4-FFF2-40B4-BE49-F238E27FC236}">
                <a16:creationId xmlns:a16="http://schemas.microsoft.com/office/drawing/2014/main" id="{547459A1-2B7A-F233-151F-6677F01A6BBE}"/>
              </a:ext>
            </a:extLst>
          </p:cNvPr>
          <p:cNvSpPr>
            <a:spLocks noGrp="1"/>
          </p:cNvSpPr>
          <p:nvPr>
            <p:ph idx="1"/>
          </p:nvPr>
        </p:nvSpPr>
        <p:spPr/>
        <p:txBody>
          <a:bodyPr/>
          <a:lstStyle/>
          <a:p>
            <a:r>
              <a:rPr lang="en-GB" dirty="0"/>
              <a:t>Second iteration of S-124 comment adjudication</a:t>
            </a:r>
          </a:p>
          <a:p>
            <a:r>
              <a:rPr lang="en-GB" dirty="0"/>
              <a:t>Exception to the cancellation rule</a:t>
            </a:r>
          </a:p>
          <a:p>
            <a:r>
              <a:rPr lang="en-GB" dirty="0"/>
              <a:t>Needs clarification</a:t>
            </a:r>
          </a:p>
          <a:p>
            <a:r>
              <a:rPr lang="en-GB" dirty="0"/>
              <a:t>Automatic classification</a:t>
            </a:r>
          </a:p>
          <a:p>
            <a:r>
              <a:rPr lang="en-GB" dirty="0"/>
              <a:t>Rationalisation of the requirements</a:t>
            </a:r>
          </a:p>
          <a:p>
            <a:r>
              <a:rPr lang="en-GB" dirty="0"/>
              <a:t>New proposed words.</a:t>
            </a:r>
          </a:p>
        </p:txBody>
      </p:sp>
      <p:sp>
        <p:nvSpPr>
          <p:cNvPr id="5" name="Rectangle 4">
            <a:extLst>
              <a:ext uri="{FF2B5EF4-FFF2-40B4-BE49-F238E27FC236}">
                <a16:creationId xmlns:a16="http://schemas.microsoft.com/office/drawing/2014/main" id="{9680608E-F627-F366-5851-ED5352E2241F}"/>
              </a:ext>
            </a:extLst>
          </p:cNvPr>
          <p:cNvSpPr>
            <a:spLocks noChangeArrowheads="1"/>
          </p:cNvSpPr>
          <p:nvPr/>
        </p:nvSpPr>
        <p:spPr bwMode="auto">
          <a:xfrm>
            <a:off x="6292800" y="4276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t>
            </a:r>
            <a:r>
              <a:rPr kumimoji="0" lang="en-US" altLang="en-US" sz="8600" b="0" i="0" u="none" strike="noStrike" cap="none" normalizeH="0" baseline="0">
                <a:ln>
                  <a:noFill/>
                </a:ln>
                <a:solidFill>
                  <a:schemeClr val="tx1"/>
                </a:solidFill>
                <a:effectLst/>
                <a:latin typeface="Arial" panose="020B0604020202020204" pitchFamily="34" charset="0"/>
              </a:rPr>
              <a:t>                  </a:t>
            </a:r>
            <a:br>
              <a:rPr kumimoji="0" lang="en-US" altLang="en-US" sz="1800" b="0" i="0" u="none" strike="noStrike" cap="none" normalizeH="0" baseline="0">
                <a:ln>
                  <a:noFill/>
                </a:ln>
                <a:solidFill>
                  <a:schemeClr val="tx1"/>
                </a:solidFill>
                <a:effectLst/>
                <a:latin typeface="Arial" panose="020B0604020202020204" pitchFamily="34" charset="0"/>
              </a:rPr>
            </a:br>
            <a:br>
              <a:rPr kumimoji="0" lang="en-US" altLang="en-US" sz="1800" b="0" i="0" u="none" strike="noStrike" cap="none" normalizeH="0" baseline="0">
                <a:ln>
                  <a:noFill/>
                </a:ln>
                <a:solidFill>
                  <a:schemeClr val="tx1"/>
                </a:solidFill>
                <a:effectLst/>
                <a:latin typeface="Arial" panose="020B0604020202020204" pitchFamily="34" charset="0"/>
              </a:rPr>
            </a:br>
            <a:r>
              <a:rPr kumimoji="0" lang="en-US" altLang="en-US" sz="1100" b="0" i="0" u="none" strike="noStrike" cap="none" normalizeH="0" baseline="0">
                <a:ln>
                  <a:noFill/>
                </a:ln>
                <a:solidFill>
                  <a:srgbClr val="242424"/>
                </a:solidFill>
                <a:effectLst/>
                <a:latin typeface="Segoe UI" panose="020B0502040204020203" pitchFamily="34" charset="0"/>
                <a:cs typeface="Segoe UI" panose="020B0502040204020203" pitchFamily="34" charset="0"/>
              </a:rPr>
              <a:t>However, in S-98 20.5, last bullet, there is a statement contradicting this logic:</a:t>
            </a:r>
            <a:br>
              <a:rPr kumimoji="0" lang="en-US" altLang="en-US" sz="400" b="0" i="0" u="none" strike="noStrike" cap="none" normalizeH="0" baseline="0">
                <a:ln>
                  <a:noFill/>
                </a:ln>
                <a:solidFill>
                  <a:schemeClr val="tx1"/>
                </a:solidFill>
                <a:effectLst/>
              </a:rPr>
            </a:br>
            <a:r>
              <a:rPr kumimoji="0" lang="en-US" altLang="en-US" sz="1800" b="0" i="0" u="none" strike="noStrike" cap="none" normalizeH="0" baseline="0">
                <a:ln>
                  <a:noFill/>
                </a:ln>
                <a:solidFill>
                  <a:schemeClr val="tx1"/>
                </a:solidFill>
                <a:effectLst/>
                <a:latin typeface="Arial" panose="020B0604020202020204" pitchFamily="34" charset="0"/>
              </a:rPr>
              <a:t>  </a:t>
            </a:r>
            <a:r>
              <a:rPr kumimoji="0" lang="en-US" altLang="en-US" sz="6700" b="0" i="0" u="none" strike="noStrike" cap="none" normalizeH="0" baseline="0">
                <a:ln>
                  <a:noFill/>
                </a:ln>
                <a:solidFill>
                  <a:schemeClr val="tx1"/>
                </a:solidFill>
                <a:effectLst/>
                <a:latin typeface="Arial" panose="020B0604020202020204" pitchFamily="34" charset="0"/>
              </a:rPr>
              <a:t>                       </a:t>
            </a:r>
            <a:br>
              <a:rPr kumimoji="0" lang="en-US" altLang="en-US" sz="1800" b="0" i="0" u="none" strike="noStrike" cap="none" normalizeH="0" baseline="0">
                <a:ln>
                  <a:noFill/>
                </a:ln>
                <a:solidFill>
                  <a:schemeClr val="tx1"/>
                </a:solidFill>
                <a:effectLst/>
                <a:latin typeface="Arial" panose="020B0604020202020204" pitchFamily="34" charset="0"/>
              </a:rPr>
            </a:br>
            <a:br>
              <a:rPr kumimoji="0" lang="en-US" altLang="en-US" sz="1800" b="0" i="0" u="none" strike="noStrike" cap="none" normalizeH="0" baseline="0">
                <a:ln>
                  <a:noFill/>
                </a:ln>
                <a:solidFill>
                  <a:schemeClr val="tx1"/>
                </a:solidFill>
                <a:effectLst/>
                <a:latin typeface="Arial" panose="020B0604020202020204" pitchFamily="34" charset="0"/>
              </a:rPr>
            </a:br>
            <a:r>
              <a:rPr kumimoji="0" lang="en-US" altLang="en-US" sz="1100" b="0" i="0" u="none" strike="noStrike" cap="none" normalizeH="0" baseline="0">
                <a:ln>
                  <a:noFill/>
                </a:ln>
                <a:solidFill>
                  <a:srgbClr val="242424"/>
                </a:solidFill>
                <a:effectLst/>
                <a:latin typeface="Segoe UI" panose="020B0502040204020203" pitchFamily="34" charset="0"/>
                <a:cs typeface="Segoe UI" panose="020B0502040204020203" pitchFamily="34" charset="0"/>
              </a:rPr>
              <a:t>Perhaps S-98 needs some amendment here to not contradict S-100</a:t>
            </a:r>
            <a:r>
              <a:rPr kumimoji="0" lang="en-US" altLang="en-US" sz="4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2053" name="Picture 5">
            <a:extLst>
              <a:ext uri="{FF2B5EF4-FFF2-40B4-BE49-F238E27FC236}">
                <a16:creationId xmlns:a16="http://schemas.microsoft.com/office/drawing/2014/main" id="{AC2641D5-531E-907C-CDE3-43D6EB178B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800" y="2668662"/>
            <a:ext cx="5353050" cy="13716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327261A7-15DE-CAD1-4A35-9E7B18866B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800" y="4421263"/>
            <a:ext cx="5353050" cy="1076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92040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DFE60B9-60D1-20E1-A50C-600E284366C3}"/>
              </a:ext>
            </a:extLst>
          </p:cNvPr>
          <p:cNvSpPr>
            <a:spLocks noGrp="1"/>
          </p:cNvSpPr>
          <p:nvPr>
            <p:ph type="title"/>
          </p:nvPr>
        </p:nvSpPr>
        <p:spPr>
          <a:xfrm>
            <a:off x="1166400" y="2517925"/>
            <a:ext cx="10943400" cy="1325563"/>
          </a:xfrm>
        </p:spPr>
        <p:txBody>
          <a:bodyPr/>
          <a:lstStyle/>
          <a:p>
            <a:r>
              <a:rPr lang="en-GB" dirty="0" err="1"/>
              <a:t>interoperabilityIdentifier</a:t>
            </a:r>
            <a:r>
              <a:rPr lang="en-GB" dirty="0"/>
              <a:t> (and common FOIDs)</a:t>
            </a:r>
          </a:p>
        </p:txBody>
      </p:sp>
    </p:spTree>
    <p:extLst>
      <p:ext uri="{BB962C8B-B14F-4D97-AF65-F5344CB8AC3E}">
        <p14:creationId xmlns:p14="http://schemas.microsoft.com/office/powerpoint/2010/main" val="17570408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8C13B-DC60-6CAA-EEEB-1E3D8BC6960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71DCD72-545E-107A-90F9-4529F76E8DD4}"/>
              </a:ext>
            </a:extLst>
          </p:cNvPr>
          <p:cNvSpPr/>
          <p:nvPr/>
        </p:nvSpPr>
        <p:spPr>
          <a:xfrm>
            <a:off x="230572" y="1505414"/>
            <a:ext cx="3438144" cy="3608832"/>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7F3F3261-E190-F265-5AA0-D4D07205C1D3}"/>
              </a:ext>
            </a:extLst>
          </p:cNvPr>
          <p:cNvSpPr/>
          <p:nvPr/>
        </p:nvSpPr>
        <p:spPr>
          <a:xfrm>
            <a:off x="3668716" y="1505414"/>
            <a:ext cx="3438144" cy="3608832"/>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Rectangle 3">
            <a:extLst>
              <a:ext uri="{FF2B5EF4-FFF2-40B4-BE49-F238E27FC236}">
                <a16:creationId xmlns:a16="http://schemas.microsoft.com/office/drawing/2014/main" id="{861BAF83-A7BA-8EB8-2311-272D873F329A}"/>
              </a:ext>
            </a:extLst>
          </p:cNvPr>
          <p:cNvSpPr/>
          <p:nvPr/>
        </p:nvSpPr>
        <p:spPr>
          <a:xfrm rot="21193878">
            <a:off x="1648514" y="2866427"/>
            <a:ext cx="4937760" cy="673445"/>
          </a:xfrm>
          <a:prstGeom prst="rect">
            <a:avLst/>
          </a:prstGeom>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Bridge</a:t>
            </a: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1171059B-86AD-0FE2-61B4-89153C422A6C}"/>
              </a:ext>
            </a:extLst>
          </p:cNvPr>
          <p:cNvSpPr/>
          <p:nvPr/>
        </p:nvSpPr>
        <p:spPr>
          <a:xfrm>
            <a:off x="468316" y="2738838"/>
            <a:ext cx="2962656" cy="202996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0015E66A-F381-4249-5C5B-F2A8B54504B4}"/>
              </a:ext>
            </a:extLst>
          </p:cNvPr>
          <p:cNvSpPr txBox="1"/>
          <p:nvPr/>
        </p:nvSpPr>
        <p:spPr>
          <a:xfrm>
            <a:off x="431219" y="2700230"/>
            <a:ext cx="104913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Viewport</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0" name="Straight Connector 9">
            <a:extLst>
              <a:ext uri="{FF2B5EF4-FFF2-40B4-BE49-F238E27FC236}">
                <a16:creationId xmlns:a16="http://schemas.microsoft.com/office/drawing/2014/main" id="{EBA09C29-A53D-FA25-4641-9D48FA1D8ADA}"/>
              </a:ext>
            </a:extLst>
          </p:cNvPr>
          <p:cNvCxnSpPr>
            <a:cxnSpLocks/>
          </p:cNvCxnSpPr>
          <p:nvPr/>
        </p:nvCxnSpPr>
        <p:spPr>
          <a:xfrm>
            <a:off x="3668716" y="2915622"/>
            <a:ext cx="0" cy="662432"/>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D45D6EC-5F17-926C-33D0-55EA1B2A2134}"/>
              </a:ext>
            </a:extLst>
          </p:cNvPr>
          <p:cNvSpPr txBox="1"/>
          <p:nvPr/>
        </p:nvSpPr>
        <p:spPr>
          <a:xfrm>
            <a:off x="3107005" y="1487603"/>
            <a:ext cx="6479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ENC</a:t>
            </a:r>
            <a:r>
              <a:rPr kumimoji="0" lang="en-US" sz="1800" b="0" i="0" u="none" strike="noStrike" kern="1200" cap="none" spc="0" normalizeH="0" baseline="-25000" noProof="0" dirty="0">
                <a:ln>
                  <a:noFill/>
                </a:ln>
                <a:solidFill>
                  <a:srgbClr val="44546A">
                    <a:lumMod val="50000"/>
                  </a:srgbClr>
                </a:solidFill>
                <a:effectLst/>
                <a:uLnTx/>
                <a:uFillTx/>
                <a:latin typeface="Calibri" panose="020F0502020204030204"/>
                <a:ea typeface="+mn-ea"/>
                <a:cs typeface="+mn-cs"/>
              </a:rPr>
              <a:t>1</a:t>
            </a:r>
            <a:endParaRPr kumimoji="0" lang="en-GB"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D40006B2-C45F-2C32-AB42-81338898691D}"/>
              </a:ext>
            </a:extLst>
          </p:cNvPr>
          <p:cNvSpPr txBox="1"/>
          <p:nvPr/>
        </p:nvSpPr>
        <p:spPr>
          <a:xfrm>
            <a:off x="6545149" y="1452827"/>
            <a:ext cx="6479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ENC</a:t>
            </a:r>
            <a:r>
              <a:rPr kumimoji="0" lang="en-US" sz="1800" b="0" i="0" u="none" strike="noStrike" kern="1200" cap="none" spc="0" normalizeH="0" baseline="-25000" noProof="0" dirty="0">
                <a:ln>
                  <a:noFill/>
                </a:ln>
                <a:solidFill>
                  <a:srgbClr val="44546A">
                    <a:lumMod val="50000"/>
                  </a:srgbClr>
                </a:solidFill>
                <a:effectLst/>
                <a:uLnTx/>
                <a:uFillTx/>
                <a:latin typeface="Calibri" panose="020F0502020204030204"/>
                <a:ea typeface="+mn-ea"/>
                <a:cs typeface="+mn-cs"/>
              </a:rPr>
              <a:t>2</a:t>
            </a:r>
            <a:endParaRPr kumimoji="0" lang="en-GB"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p:txBody>
      </p:sp>
      <p:sp>
        <p:nvSpPr>
          <p:cNvPr id="16" name="Oval 15">
            <a:extLst>
              <a:ext uri="{FF2B5EF4-FFF2-40B4-BE49-F238E27FC236}">
                <a16:creationId xmlns:a16="http://schemas.microsoft.com/office/drawing/2014/main" id="{90FCB501-C99A-5821-5703-45B5DD1ACAFB}"/>
              </a:ext>
            </a:extLst>
          </p:cNvPr>
          <p:cNvSpPr/>
          <p:nvPr/>
        </p:nvSpPr>
        <p:spPr>
          <a:xfrm>
            <a:off x="4912190" y="2590850"/>
            <a:ext cx="89408" cy="8534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Oval 16">
            <a:extLst>
              <a:ext uri="{FF2B5EF4-FFF2-40B4-BE49-F238E27FC236}">
                <a16:creationId xmlns:a16="http://schemas.microsoft.com/office/drawing/2014/main" id="{ECE7B046-C23C-10D1-7C70-E3BB3B5E368E}"/>
              </a:ext>
            </a:extLst>
          </p:cNvPr>
          <p:cNvSpPr/>
          <p:nvPr/>
        </p:nvSpPr>
        <p:spPr>
          <a:xfrm>
            <a:off x="4889775" y="3509447"/>
            <a:ext cx="89408" cy="85344"/>
          </a:xfrm>
          <a:prstGeom prst="ellipse">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9" name="Straight Arrow Connector 18">
            <a:extLst>
              <a:ext uri="{FF2B5EF4-FFF2-40B4-BE49-F238E27FC236}">
                <a16:creationId xmlns:a16="http://schemas.microsoft.com/office/drawing/2014/main" id="{041872E0-F863-E2A0-1158-FD26D427C4A4}"/>
              </a:ext>
            </a:extLst>
          </p:cNvPr>
          <p:cNvCxnSpPr/>
          <p:nvPr/>
        </p:nvCxnSpPr>
        <p:spPr>
          <a:xfrm>
            <a:off x="1480352" y="3341005"/>
            <a:ext cx="268705" cy="1684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AB7121D8-A136-26BB-C5F8-55842663AC99}"/>
              </a:ext>
            </a:extLst>
          </p:cNvPr>
          <p:cNvSpPr txBox="1"/>
          <p:nvPr/>
        </p:nvSpPr>
        <p:spPr>
          <a:xfrm>
            <a:off x="1005408" y="3140115"/>
            <a:ext cx="57099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7030A0"/>
                </a:solidFill>
                <a:effectLst/>
                <a:uLnTx/>
                <a:uFillTx/>
                <a:latin typeface="Calibri" panose="020F0502020204030204"/>
                <a:ea typeface="+mn-ea"/>
                <a:cs typeface="+mn-cs"/>
              </a:rPr>
              <a:t>pick</a:t>
            </a:r>
            <a:endParaRPr kumimoji="0" lang="en-GB"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
        <p:nvSpPr>
          <p:cNvPr id="26" name="TextBox 25">
            <a:extLst>
              <a:ext uri="{FF2B5EF4-FFF2-40B4-BE49-F238E27FC236}">
                <a16:creationId xmlns:a16="http://schemas.microsoft.com/office/drawing/2014/main" id="{823399EB-F265-BBC6-6A25-2CCB916AC1F0}"/>
              </a:ext>
            </a:extLst>
          </p:cNvPr>
          <p:cNvSpPr txBox="1"/>
          <p:nvPr/>
        </p:nvSpPr>
        <p:spPr>
          <a:xfrm>
            <a:off x="2039367" y="3264430"/>
            <a:ext cx="251992"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Calibri" panose="020F0502020204030204"/>
                <a:ea typeface="+mn-ea"/>
                <a:cs typeface="+mn-cs"/>
              </a:rPr>
              <a:t>a</a:t>
            </a:r>
            <a:endParaRPr kumimoji="0" lang="en-GB" sz="11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27" name="TextBox 26">
            <a:extLst>
              <a:ext uri="{FF2B5EF4-FFF2-40B4-BE49-F238E27FC236}">
                <a16:creationId xmlns:a16="http://schemas.microsoft.com/office/drawing/2014/main" id="{59D36467-33B9-DD36-9E33-581A2E13C2F5}"/>
              </a:ext>
            </a:extLst>
          </p:cNvPr>
          <p:cNvSpPr txBox="1"/>
          <p:nvPr/>
        </p:nvSpPr>
        <p:spPr>
          <a:xfrm>
            <a:off x="6091517" y="2856121"/>
            <a:ext cx="25840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Calibri" panose="020F0502020204030204"/>
                <a:ea typeface="+mn-ea"/>
                <a:cs typeface="+mn-cs"/>
              </a:rPr>
              <a:t>b</a:t>
            </a:r>
            <a:endParaRPr kumimoji="0" lang="en-GB" sz="11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28" name="TextBox 27">
            <a:extLst>
              <a:ext uri="{FF2B5EF4-FFF2-40B4-BE49-F238E27FC236}">
                <a16:creationId xmlns:a16="http://schemas.microsoft.com/office/drawing/2014/main" id="{E25558D4-95CF-D410-9307-3F672E5D3C41}"/>
              </a:ext>
            </a:extLst>
          </p:cNvPr>
          <p:cNvSpPr txBox="1"/>
          <p:nvPr/>
        </p:nvSpPr>
        <p:spPr>
          <a:xfrm>
            <a:off x="4931583" y="2551270"/>
            <a:ext cx="243978"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Calibri" panose="020F0502020204030204"/>
                <a:ea typeface="+mn-ea"/>
                <a:cs typeface="+mn-cs"/>
              </a:rPr>
              <a:t>c</a:t>
            </a:r>
            <a:endParaRPr kumimoji="0" lang="en-GB" sz="11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29" name="TextBox 28">
            <a:extLst>
              <a:ext uri="{FF2B5EF4-FFF2-40B4-BE49-F238E27FC236}">
                <a16:creationId xmlns:a16="http://schemas.microsoft.com/office/drawing/2014/main" id="{067D206D-70DA-6776-96E4-0E26C8CEFF3A}"/>
              </a:ext>
            </a:extLst>
          </p:cNvPr>
          <p:cNvSpPr txBox="1"/>
          <p:nvPr/>
        </p:nvSpPr>
        <p:spPr>
          <a:xfrm>
            <a:off x="4917157" y="3554148"/>
            <a:ext cx="25840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Calibri" panose="020F0502020204030204"/>
                <a:ea typeface="+mn-ea"/>
                <a:cs typeface="+mn-cs"/>
              </a:rPr>
              <a:t>d</a:t>
            </a:r>
            <a:endParaRPr kumimoji="0" lang="en-GB" sz="11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31" name="TextBox 30">
            <a:extLst>
              <a:ext uri="{FF2B5EF4-FFF2-40B4-BE49-F238E27FC236}">
                <a16:creationId xmlns:a16="http://schemas.microsoft.com/office/drawing/2014/main" id="{ED74DDBF-B079-7AF8-FEDC-6F220E10DFEA}"/>
              </a:ext>
            </a:extLst>
          </p:cNvPr>
          <p:cNvSpPr txBox="1"/>
          <p:nvPr/>
        </p:nvSpPr>
        <p:spPr>
          <a:xfrm>
            <a:off x="199429" y="1487603"/>
            <a:ext cx="569643"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S-101</a:t>
            </a:r>
            <a:endParaRPr kumimoji="0" lang="en-GB"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33" name="TextBox 32">
            <a:extLst>
              <a:ext uri="{FF2B5EF4-FFF2-40B4-BE49-F238E27FC236}">
                <a16:creationId xmlns:a16="http://schemas.microsoft.com/office/drawing/2014/main" id="{74AAA8C0-8E0D-DC2C-0628-8685872C7FC3}"/>
              </a:ext>
            </a:extLst>
          </p:cNvPr>
          <p:cNvSpPr txBox="1"/>
          <p:nvPr/>
        </p:nvSpPr>
        <p:spPr>
          <a:xfrm>
            <a:off x="3611895" y="1487602"/>
            <a:ext cx="569643"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S-101</a:t>
            </a:r>
            <a:endParaRPr kumimoji="0" lang="en-GB"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2" name="Freeform: Shape 1">
            <a:extLst>
              <a:ext uri="{FF2B5EF4-FFF2-40B4-BE49-F238E27FC236}">
                <a16:creationId xmlns:a16="http://schemas.microsoft.com/office/drawing/2014/main" id="{1EE38AD8-E01A-B95C-E40E-23E9CD956A3A}"/>
              </a:ext>
            </a:extLst>
          </p:cNvPr>
          <p:cNvSpPr/>
          <p:nvPr/>
        </p:nvSpPr>
        <p:spPr>
          <a:xfrm>
            <a:off x="5025192" y="2566703"/>
            <a:ext cx="349144" cy="348919"/>
          </a:xfrm>
          <a:custGeom>
            <a:avLst/>
            <a:gdLst>
              <a:gd name="connsiteX0" fmla="*/ 0 w 349144"/>
              <a:gd name="connsiteY0" fmla="*/ 57566 h 348919"/>
              <a:gd name="connsiteX1" fmla="*/ 300317 w 349144"/>
              <a:gd name="connsiteY1" fmla="*/ 21707 h 348919"/>
              <a:gd name="connsiteX2" fmla="*/ 345141 w 349144"/>
              <a:gd name="connsiteY2" fmla="*/ 348919 h 348919"/>
            </a:gdLst>
            <a:ahLst/>
            <a:cxnLst>
              <a:cxn ang="0">
                <a:pos x="connsiteX0" y="connsiteY0"/>
              </a:cxn>
              <a:cxn ang="0">
                <a:pos x="connsiteX1" y="connsiteY1"/>
              </a:cxn>
              <a:cxn ang="0">
                <a:pos x="connsiteX2" y="connsiteY2"/>
              </a:cxn>
            </a:cxnLst>
            <a:rect l="l" t="t" r="r" b="b"/>
            <a:pathLst>
              <a:path w="349144" h="348919">
                <a:moveTo>
                  <a:pt x="0" y="57566"/>
                </a:moveTo>
                <a:cubicBezTo>
                  <a:pt x="121397" y="15357"/>
                  <a:pt x="242794" y="-26852"/>
                  <a:pt x="300317" y="21707"/>
                </a:cubicBezTo>
                <a:cubicBezTo>
                  <a:pt x="357840" y="70266"/>
                  <a:pt x="351490" y="209592"/>
                  <a:pt x="345141" y="348919"/>
                </a:cubicBezTo>
              </a:path>
            </a:pathLst>
          </a:custGeom>
          <a:noFill/>
          <a:ln>
            <a:headEnd type="triangl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23B6F084-7DE4-BB53-8CCB-1D4F487F70BF}"/>
              </a:ext>
            </a:extLst>
          </p:cNvPr>
          <p:cNvSpPr txBox="1"/>
          <p:nvPr/>
        </p:nvSpPr>
        <p:spPr>
          <a:xfrm>
            <a:off x="5147281" y="2390663"/>
            <a:ext cx="652743"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association</a:t>
            </a:r>
            <a:endParaRPr kumimoji="0" lang="en-GB"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4936263A-795C-D503-E607-05B3F1AE0F9D}"/>
              </a:ext>
            </a:extLst>
          </p:cNvPr>
          <p:cNvSpPr/>
          <p:nvPr/>
        </p:nvSpPr>
        <p:spPr>
          <a:xfrm>
            <a:off x="4705585" y="3334871"/>
            <a:ext cx="354991" cy="227783"/>
          </a:xfrm>
          <a:custGeom>
            <a:avLst/>
            <a:gdLst>
              <a:gd name="connsiteX0" fmla="*/ 354991 w 354991"/>
              <a:gd name="connsiteY0" fmla="*/ 0 h 227783"/>
              <a:gd name="connsiteX1" fmla="*/ 5368 w 354991"/>
              <a:gd name="connsiteY1" fmla="*/ 197224 h 227783"/>
              <a:gd name="connsiteX2" fmla="*/ 175697 w 354991"/>
              <a:gd name="connsiteY2" fmla="*/ 224118 h 227783"/>
            </a:gdLst>
            <a:ahLst/>
            <a:cxnLst>
              <a:cxn ang="0">
                <a:pos x="connsiteX0" y="connsiteY0"/>
              </a:cxn>
              <a:cxn ang="0">
                <a:pos x="connsiteX1" y="connsiteY1"/>
              </a:cxn>
              <a:cxn ang="0">
                <a:pos x="connsiteX2" y="connsiteY2"/>
              </a:cxn>
            </a:cxnLst>
            <a:rect l="l" t="t" r="r" b="b"/>
            <a:pathLst>
              <a:path w="354991" h="227783">
                <a:moveTo>
                  <a:pt x="354991" y="0"/>
                </a:moveTo>
                <a:cubicBezTo>
                  <a:pt x="195120" y="79935"/>
                  <a:pt x="35250" y="159871"/>
                  <a:pt x="5368" y="197224"/>
                </a:cubicBezTo>
                <a:cubicBezTo>
                  <a:pt x="-24514" y="234577"/>
                  <a:pt x="75591" y="229347"/>
                  <a:pt x="175697" y="224118"/>
                </a:cubicBezTo>
              </a:path>
            </a:pathLst>
          </a:custGeom>
          <a:noFill/>
          <a:ln>
            <a:headEnd type="triangl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C5BCC9E7-F9C8-6750-DC47-820B3D83BF94}"/>
              </a:ext>
            </a:extLst>
          </p:cNvPr>
          <p:cNvSpPr txBox="1"/>
          <p:nvPr/>
        </p:nvSpPr>
        <p:spPr>
          <a:xfrm>
            <a:off x="4407833" y="3570577"/>
            <a:ext cx="652743"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association</a:t>
            </a:r>
            <a:endParaRPr kumimoji="0" lang="en-GB"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173148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98E7A-4BB3-4899-D108-2FD918232EA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8951B56-5A26-478A-BD3E-4DC8534E0A6C}"/>
              </a:ext>
            </a:extLst>
          </p:cNvPr>
          <p:cNvSpPr/>
          <p:nvPr/>
        </p:nvSpPr>
        <p:spPr>
          <a:xfrm>
            <a:off x="230572" y="1505414"/>
            <a:ext cx="3438144" cy="3608832"/>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805C17C8-C90D-FD68-6183-C136FF13A5D0}"/>
              </a:ext>
            </a:extLst>
          </p:cNvPr>
          <p:cNvSpPr/>
          <p:nvPr/>
        </p:nvSpPr>
        <p:spPr>
          <a:xfrm>
            <a:off x="3668716" y="1505414"/>
            <a:ext cx="3438144" cy="3608832"/>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Rectangle 3">
            <a:extLst>
              <a:ext uri="{FF2B5EF4-FFF2-40B4-BE49-F238E27FC236}">
                <a16:creationId xmlns:a16="http://schemas.microsoft.com/office/drawing/2014/main" id="{7BFCA4C4-B9A7-802F-F856-6D0CD93CF559}"/>
              </a:ext>
            </a:extLst>
          </p:cNvPr>
          <p:cNvSpPr/>
          <p:nvPr/>
        </p:nvSpPr>
        <p:spPr>
          <a:xfrm rot="21193878">
            <a:off x="1648514" y="2866427"/>
            <a:ext cx="4937760" cy="673445"/>
          </a:xfrm>
          <a:prstGeom prst="rect">
            <a:avLst/>
          </a:prstGeom>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Bridge</a:t>
            </a: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ABD6B650-158A-A6C9-D5C5-C7D3D660AE02}"/>
              </a:ext>
            </a:extLst>
          </p:cNvPr>
          <p:cNvSpPr/>
          <p:nvPr/>
        </p:nvSpPr>
        <p:spPr>
          <a:xfrm>
            <a:off x="468316" y="2738838"/>
            <a:ext cx="2962656" cy="202996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85B1F050-2F9C-737D-80DD-DCE0CB129C13}"/>
              </a:ext>
            </a:extLst>
          </p:cNvPr>
          <p:cNvSpPr txBox="1"/>
          <p:nvPr/>
        </p:nvSpPr>
        <p:spPr>
          <a:xfrm>
            <a:off x="431219" y="2700230"/>
            <a:ext cx="104913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Viewport</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0" name="Straight Connector 9">
            <a:extLst>
              <a:ext uri="{FF2B5EF4-FFF2-40B4-BE49-F238E27FC236}">
                <a16:creationId xmlns:a16="http://schemas.microsoft.com/office/drawing/2014/main" id="{FB5D85EA-6B5A-C5BE-3A70-20B12DC18324}"/>
              </a:ext>
            </a:extLst>
          </p:cNvPr>
          <p:cNvCxnSpPr>
            <a:cxnSpLocks/>
          </p:cNvCxnSpPr>
          <p:nvPr/>
        </p:nvCxnSpPr>
        <p:spPr>
          <a:xfrm>
            <a:off x="3668716" y="2915622"/>
            <a:ext cx="0" cy="662432"/>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9560C74-F26A-9113-B300-F86A83092B9C}"/>
              </a:ext>
            </a:extLst>
          </p:cNvPr>
          <p:cNvSpPr txBox="1"/>
          <p:nvPr/>
        </p:nvSpPr>
        <p:spPr>
          <a:xfrm>
            <a:off x="3107005" y="1487603"/>
            <a:ext cx="6479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ENC</a:t>
            </a:r>
            <a:r>
              <a:rPr kumimoji="0" lang="en-US" sz="1800" b="0" i="0" u="none" strike="noStrike" kern="1200" cap="none" spc="0" normalizeH="0" baseline="-25000" noProof="0" dirty="0">
                <a:ln>
                  <a:noFill/>
                </a:ln>
                <a:solidFill>
                  <a:srgbClr val="44546A">
                    <a:lumMod val="50000"/>
                  </a:srgbClr>
                </a:solidFill>
                <a:effectLst/>
                <a:uLnTx/>
                <a:uFillTx/>
                <a:latin typeface="Calibri" panose="020F0502020204030204"/>
                <a:ea typeface="+mn-ea"/>
                <a:cs typeface="+mn-cs"/>
              </a:rPr>
              <a:t>1</a:t>
            </a:r>
            <a:endParaRPr kumimoji="0" lang="en-GB"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D6BFBBA0-15F6-8FA3-82BB-B82F302CF168}"/>
              </a:ext>
            </a:extLst>
          </p:cNvPr>
          <p:cNvSpPr txBox="1"/>
          <p:nvPr/>
        </p:nvSpPr>
        <p:spPr>
          <a:xfrm>
            <a:off x="6545149" y="1452827"/>
            <a:ext cx="6479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ENC</a:t>
            </a:r>
            <a:r>
              <a:rPr kumimoji="0" lang="en-US" sz="1800" b="0" i="0" u="none" strike="noStrike" kern="1200" cap="none" spc="0" normalizeH="0" baseline="-25000" noProof="0" dirty="0">
                <a:ln>
                  <a:noFill/>
                </a:ln>
                <a:solidFill>
                  <a:srgbClr val="44546A">
                    <a:lumMod val="50000"/>
                  </a:srgbClr>
                </a:solidFill>
                <a:effectLst/>
                <a:uLnTx/>
                <a:uFillTx/>
                <a:latin typeface="Calibri" panose="020F0502020204030204"/>
                <a:ea typeface="+mn-ea"/>
                <a:cs typeface="+mn-cs"/>
              </a:rPr>
              <a:t>2</a:t>
            </a:r>
            <a:endParaRPr kumimoji="0" lang="en-GB"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p:txBody>
      </p:sp>
      <p:sp>
        <p:nvSpPr>
          <p:cNvPr id="16" name="Oval 15">
            <a:extLst>
              <a:ext uri="{FF2B5EF4-FFF2-40B4-BE49-F238E27FC236}">
                <a16:creationId xmlns:a16="http://schemas.microsoft.com/office/drawing/2014/main" id="{637E202A-3FAF-8592-9B4D-4448D1802321}"/>
              </a:ext>
            </a:extLst>
          </p:cNvPr>
          <p:cNvSpPr/>
          <p:nvPr/>
        </p:nvSpPr>
        <p:spPr>
          <a:xfrm>
            <a:off x="4912190" y="2590850"/>
            <a:ext cx="89408" cy="8534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Oval 16">
            <a:extLst>
              <a:ext uri="{FF2B5EF4-FFF2-40B4-BE49-F238E27FC236}">
                <a16:creationId xmlns:a16="http://schemas.microsoft.com/office/drawing/2014/main" id="{7FF56587-9F60-211C-A67D-7AA98758F76D}"/>
              </a:ext>
            </a:extLst>
          </p:cNvPr>
          <p:cNvSpPr/>
          <p:nvPr/>
        </p:nvSpPr>
        <p:spPr>
          <a:xfrm>
            <a:off x="4889775" y="3509447"/>
            <a:ext cx="89408" cy="85344"/>
          </a:xfrm>
          <a:prstGeom prst="ellipse">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9" name="Straight Arrow Connector 18">
            <a:extLst>
              <a:ext uri="{FF2B5EF4-FFF2-40B4-BE49-F238E27FC236}">
                <a16:creationId xmlns:a16="http://schemas.microsoft.com/office/drawing/2014/main" id="{42B6BFB9-F338-8D1F-8CA7-93F6FF32A1D4}"/>
              </a:ext>
            </a:extLst>
          </p:cNvPr>
          <p:cNvCxnSpPr/>
          <p:nvPr/>
        </p:nvCxnSpPr>
        <p:spPr>
          <a:xfrm>
            <a:off x="1480352" y="3341005"/>
            <a:ext cx="268705" cy="1684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Freeform: Shape 11">
            <a:extLst>
              <a:ext uri="{FF2B5EF4-FFF2-40B4-BE49-F238E27FC236}">
                <a16:creationId xmlns:a16="http://schemas.microsoft.com/office/drawing/2014/main" id="{FA2A8E27-1CB8-DDD5-BDE7-37072666A57A}"/>
              </a:ext>
            </a:extLst>
          </p:cNvPr>
          <p:cNvSpPr/>
          <p:nvPr/>
        </p:nvSpPr>
        <p:spPr>
          <a:xfrm>
            <a:off x="5025192" y="2566703"/>
            <a:ext cx="349144" cy="348919"/>
          </a:xfrm>
          <a:custGeom>
            <a:avLst/>
            <a:gdLst>
              <a:gd name="connsiteX0" fmla="*/ 0 w 349144"/>
              <a:gd name="connsiteY0" fmla="*/ 57566 h 348919"/>
              <a:gd name="connsiteX1" fmla="*/ 300317 w 349144"/>
              <a:gd name="connsiteY1" fmla="*/ 21707 h 348919"/>
              <a:gd name="connsiteX2" fmla="*/ 345141 w 349144"/>
              <a:gd name="connsiteY2" fmla="*/ 348919 h 348919"/>
            </a:gdLst>
            <a:ahLst/>
            <a:cxnLst>
              <a:cxn ang="0">
                <a:pos x="connsiteX0" y="connsiteY0"/>
              </a:cxn>
              <a:cxn ang="0">
                <a:pos x="connsiteX1" y="connsiteY1"/>
              </a:cxn>
              <a:cxn ang="0">
                <a:pos x="connsiteX2" y="connsiteY2"/>
              </a:cxn>
            </a:cxnLst>
            <a:rect l="l" t="t" r="r" b="b"/>
            <a:pathLst>
              <a:path w="349144" h="348919">
                <a:moveTo>
                  <a:pt x="0" y="57566"/>
                </a:moveTo>
                <a:cubicBezTo>
                  <a:pt x="121397" y="15357"/>
                  <a:pt x="242794" y="-26852"/>
                  <a:pt x="300317" y="21707"/>
                </a:cubicBezTo>
                <a:cubicBezTo>
                  <a:pt x="357840" y="70266"/>
                  <a:pt x="351490" y="209592"/>
                  <a:pt x="345141" y="348919"/>
                </a:cubicBezTo>
              </a:path>
            </a:pathLst>
          </a:custGeom>
          <a:noFill/>
          <a:ln>
            <a:headEnd type="triangl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35EF2426-93A6-B43B-3424-F334538EADC4}"/>
              </a:ext>
            </a:extLst>
          </p:cNvPr>
          <p:cNvSpPr txBox="1"/>
          <p:nvPr/>
        </p:nvSpPr>
        <p:spPr>
          <a:xfrm>
            <a:off x="5147281" y="2390663"/>
            <a:ext cx="652743"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association</a:t>
            </a:r>
            <a:endParaRPr kumimoji="0" lang="en-GB"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Freeform: Shape 20">
            <a:extLst>
              <a:ext uri="{FF2B5EF4-FFF2-40B4-BE49-F238E27FC236}">
                <a16:creationId xmlns:a16="http://schemas.microsoft.com/office/drawing/2014/main" id="{CD4EE136-B1DF-0B18-60B7-CFD5910AAF4C}"/>
              </a:ext>
            </a:extLst>
          </p:cNvPr>
          <p:cNvSpPr/>
          <p:nvPr/>
        </p:nvSpPr>
        <p:spPr>
          <a:xfrm>
            <a:off x="4705585" y="3334871"/>
            <a:ext cx="354991" cy="227783"/>
          </a:xfrm>
          <a:custGeom>
            <a:avLst/>
            <a:gdLst>
              <a:gd name="connsiteX0" fmla="*/ 354991 w 354991"/>
              <a:gd name="connsiteY0" fmla="*/ 0 h 227783"/>
              <a:gd name="connsiteX1" fmla="*/ 5368 w 354991"/>
              <a:gd name="connsiteY1" fmla="*/ 197224 h 227783"/>
              <a:gd name="connsiteX2" fmla="*/ 175697 w 354991"/>
              <a:gd name="connsiteY2" fmla="*/ 224118 h 227783"/>
            </a:gdLst>
            <a:ahLst/>
            <a:cxnLst>
              <a:cxn ang="0">
                <a:pos x="connsiteX0" y="connsiteY0"/>
              </a:cxn>
              <a:cxn ang="0">
                <a:pos x="connsiteX1" y="connsiteY1"/>
              </a:cxn>
              <a:cxn ang="0">
                <a:pos x="connsiteX2" y="connsiteY2"/>
              </a:cxn>
            </a:cxnLst>
            <a:rect l="l" t="t" r="r" b="b"/>
            <a:pathLst>
              <a:path w="354991" h="227783">
                <a:moveTo>
                  <a:pt x="354991" y="0"/>
                </a:moveTo>
                <a:cubicBezTo>
                  <a:pt x="195120" y="79935"/>
                  <a:pt x="35250" y="159871"/>
                  <a:pt x="5368" y="197224"/>
                </a:cubicBezTo>
                <a:cubicBezTo>
                  <a:pt x="-24514" y="234577"/>
                  <a:pt x="75591" y="229347"/>
                  <a:pt x="175697" y="224118"/>
                </a:cubicBezTo>
              </a:path>
            </a:pathLst>
          </a:custGeom>
          <a:noFill/>
          <a:ln>
            <a:headEnd type="triangl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8D0F5A37-2E0C-C12D-0A57-3E6A6D1E7482}"/>
              </a:ext>
            </a:extLst>
          </p:cNvPr>
          <p:cNvSpPr txBox="1"/>
          <p:nvPr/>
        </p:nvSpPr>
        <p:spPr>
          <a:xfrm>
            <a:off x="4407833" y="3570577"/>
            <a:ext cx="652743"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association</a:t>
            </a:r>
            <a:endParaRPr kumimoji="0" lang="en-GB"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2F9B9FAE-85AD-F045-491B-CCF6F0D60956}"/>
              </a:ext>
            </a:extLst>
          </p:cNvPr>
          <p:cNvSpPr/>
          <p:nvPr/>
        </p:nvSpPr>
        <p:spPr>
          <a:xfrm>
            <a:off x="4775228" y="2473604"/>
            <a:ext cx="354246" cy="369332"/>
          </a:xfrm>
          <a:prstGeom prst="rect">
            <a:avLst/>
          </a:prstGeom>
          <a:noFill/>
          <a:ln>
            <a:solidFill>
              <a:srgbClr val="C925BD"/>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TextBox 23">
            <a:extLst>
              <a:ext uri="{FF2B5EF4-FFF2-40B4-BE49-F238E27FC236}">
                <a16:creationId xmlns:a16="http://schemas.microsoft.com/office/drawing/2014/main" id="{BD9B9A42-5DB9-5894-67C8-566DE1BB01B0}"/>
              </a:ext>
            </a:extLst>
          </p:cNvPr>
          <p:cNvSpPr txBox="1"/>
          <p:nvPr/>
        </p:nvSpPr>
        <p:spPr>
          <a:xfrm>
            <a:off x="4694361" y="2275970"/>
            <a:ext cx="569643"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S-124</a:t>
            </a:r>
            <a:endParaRPr kumimoji="0" lang="en-GB"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25" name="TextBox 24">
            <a:extLst>
              <a:ext uri="{FF2B5EF4-FFF2-40B4-BE49-F238E27FC236}">
                <a16:creationId xmlns:a16="http://schemas.microsoft.com/office/drawing/2014/main" id="{D687E604-983F-857C-7CF4-AEDA7BD195D0}"/>
              </a:ext>
            </a:extLst>
          </p:cNvPr>
          <p:cNvSpPr txBox="1"/>
          <p:nvPr/>
        </p:nvSpPr>
        <p:spPr>
          <a:xfrm>
            <a:off x="1005408" y="3140115"/>
            <a:ext cx="57099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7030A0"/>
                </a:solidFill>
                <a:effectLst/>
                <a:uLnTx/>
                <a:uFillTx/>
                <a:latin typeface="Calibri" panose="020F0502020204030204"/>
                <a:ea typeface="+mn-ea"/>
                <a:cs typeface="+mn-cs"/>
              </a:rPr>
              <a:t>pick</a:t>
            </a:r>
            <a:endParaRPr kumimoji="0" lang="en-GB"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
        <p:nvSpPr>
          <p:cNvPr id="26" name="TextBox 25">
            <a:extLst>
              <a:ext uri="{FF2B5EF4-FFF2-40B4-BE49-F238E27FC236}">
                <a16:creationId xmlns:a16="http://schemas.microsoft.com/office/drawing/2014/main" id="{A232C4CB-A70F-89C7-BC2D-A86BAD343597}"/>
              </a:ext>
            </a:extLst>
          </p:cNvPr>
          <p:cNvSpPr txBox="1"/>
          <p:nvPr/>
        </p:nvSpPr>
        <p:spPr>
          <a:xfrm>
            <a:off x="2039367" y="3264430"/>
            <a:ext cx="251992"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Calibri" panose="020F0502020204030204"/>
                <a:ea typeface="+mn-ea"/>
                <a:cs typeface="+mn-cs"/>
              </a:rPr>
              <a:t>a</a:t>
            </a:r>
            <a:endParaRPr kumimoji="0" lang="en-GB" sz="11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27" name="TextBox 26">
            <a:extLst>
              <a:ext uri="{FF2B5EF4-FFF2-40B4-BE49-F238E27FC236}">
                <a16:creationId xmlns:a16="http://schemas.microsoft.com/office/drawing/2014/main" id="{68DA7D72-BDF7-00E0-E1A5-DD1C41BBE4B8}"/>
              </a:ext>
            </a:extLst>
          </p:cNvPr>
          <p:cNvSpPr txBox="1"/>
          <p:nvPr/>
        </p:nvSpPr>
        <p:spPr>
          <a:xfrm>
            <a:off x="6091517" y="2856121"/>
            <a:ext cx="25840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Calibri" panose="020F0502020204030204"/>
                <a:ea typeface="+mn-ea"/>
                <a:cs typeface="+mn-cs"/>
              </a:rPr>
              <a:t>b</a:t>
            </a:r>
            <a:endParaRPr kumimoji="0" lang="en-GB" sz="11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28" name="TextBox 27">
            <a:extLst>
              <a:ext uri="{FF2B5EF4-FFF2-40B4-BE49-F238E27FC236}">
                <a16:creationId xmlns:a16="http://schemas.microsoft.com/office/drawing/2014/main" id="{40C9834F-EA2C-4949-0DFE-2BF21ABDE8BD}"/>
              </a:ext>
            </a:extLst>
          </p:cNvPr>
          <p:cNvSpPr txBox="1"/>
          <p:nvPr/>
        </p:nvSpPr>
        <p:spPr>
          <a:xfrm>
            <a:off x="4931583" y="2551270"/>
            <a:ext cx="243978"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Calibri" panose="020F0502020204030204"/>
                <a:ea typeface="+mn-ea"/>
                <a:cs typeface="+mn-cs"/>
              </a:rPr>
              <a:t>c</a:t>
            </a:r>
            <a:endParaRPr kumimoji="0" lang="en-GB" sz="11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29" name="TextBox 28">
            <a:extLst>
              <a:ext uri="{FF2B5EF4-FFF2-40B4-BE49-F238E27FC236}">
                <a16:creationId xmlns:a16="http://schemas.microsoft.com/office/drawing/2014/main" id="{2C458519-CD6B-8499-4A49-DF7D55F9DA22}"/>
              </a:ext>
            </a:extLst>
          </p:cNvPr>
          <p:cNvSpPr txBox="1"/>
          <p:nvPr/>
        </p:nvSpPr>
        <p:spPr>
          <a:xfrm>
            <a:off x="4917157" y="3554148"/>
            <a:ext cx="25840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Calibri" panose="020F0502020204030204"/>
                <a:ea typeface="+mn-ea"/>
                <a:cs typeface="+mn-cs"/>
              </a:rPr>
              <a:t>d</a:t>
            </a:r>
            <a:endParaRPr kumimoji="0" lang="en-GB" sz="11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30" name="TextBox 29">
            <a:extLst>
              <a:ext uri="{FF2B5EF4-FFF2-40B4-BE49-F238E27FC236}">
                <a16:creationId xmlns:a16="http://schemas.microsoft.com/office/drawing/2014/main" id="{B76D2190-05E1-B62E-0A17-7C6568AB8B1A}"/>
              </a:ext>
            </a:extLst>
          </p:cNvPr>
          <p:cNvSpPr txBox="1"/>
          <p:nvPr/>
        </p:nvSpPr>
        <p:spPr>
          <a:xfrm>
            <a:off x="4599504" y="2307273"/>
            <a:ext cx="25840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Calibri" panose="020F0502020204030204"/>
                <a:ea typeface="+mn-ea"/>
                <a:cs typeface="+mn-cs"/>
              </a:rPr>
              <a:t>e</a:t>
            </a:r>
            <a:endParaRPr kumimoji="0" lang="en-GB" sz="11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31" name="TextBox 30">
            <a:extLst>
              <a:ext uri="{FF2B5EF4-FFF2-40B4-BE49-F238E27FC236}">
                <a16:creationId xmlns:a16="http://schemas.microsoft.com/office/drawing/2014/main" id="{04A609F5-00ED-2654-4E24-D75FF234E723}"/>
              </a:ext>
            </a:extLst>
          </p:cNvPr>
          <p:cNvSpPr txBox="1"/>
          <p:nvPr/>
        </p:nvSpPr>
        <p:spPr>
          <a:xfrm>
            <a:off x="199429" y="1487603"/>
            <a:ext cx="569643"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S-101</a:t>
            </a:r>
            <a:endParaRPr kumimoji="0" lang="en-GB"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33" name="TextBox 32">
            <a:extLst>
              <a:ext uri="{FF2B5EF4-FFF2-40B4-BE49-F238E27FC236}">
                <a16:creationId xmlns:a16="http://schemas.microsoft.com/office/drawing/2014/main" id="{26352F4C-D614-632D-77E7-1E015A4978C5}"/>
              </a:ext>
            </a:extLst>
          </p:cNvPr>
          <p:cNvSpPr txBox="1"/>
          <p:nvPr/>
        </p:nvSpPr>
        <p:spPr>
          <a:xfrm>
            <a:off x="3611895" y="1487602"/>
            <a:ext cx="569643"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S-101</a:t>
            </a:r>
            <a:endParaRPr kumimoji="0" lang="en-GB"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39" name="TextBox 38">
            <a:extLst>
              <a:ext uri="{FF2B5EF4-FFF2-40B4-BE49-F238E27FC236}">
                <a16:creationId xmlns:a16="http://schemas.microsoft.com/office/drawing/2014/main" id="{8A4E9779-CFD2-C2B7-C73F-7EF4258E5F3F}"/>
              </a:ext>
            </a:extLst>
          </p:cNvPr>
          <p:cNvSpPr txBox="1"/>
          <p:nvPr/>
        </p:nvSpPr>
        <p:spPr>
          <a:xfrm>
            <a:off x="1147012" y="5408210"/>
            <a:ext cx="4731295" cy="923330"/>
          </a:xfrm>
          <a:prstGeom prst="rect">
            <a:avLst/>
          </a:prstGeom>
          <a:noFill/>
        </p:spPr>
        <p:txBody>
          <a:bodyPr wrap="none" rtlCol="0">
            <a:spAutoFit/>
          </a:bodyPr>
          <a:lstStyle/>
          <a:p>
            <a:r>
              <a:rPr lang="en-US" dirty="0"/>
              <a:t>What happens when you do a pick report?</a:t>
            </a:r>
          </a:p>
          <a:p>
            <a:endParaRPr lang="en-US" dirty="0"/>
          </a:p>
          <a:p>
            <a:r>
              <a:rPr lang="en-US" dirty="0"/>
              <a:t>Which features do you get information for [a-e]?</a:t>
            </a:r>
            <a:endParaRPr lang="en-GB" dirty="0"/>
          </a:p>
        </p:txBody>
      </p:sp>
      <p:sp>
        <p:nvSpPr>
          <p:cNvPr id="40" name="TextBox 39">
            <a:extLst>
              <a:ext uri="{FF2B5EF4-FFF2-40B4-BE49-F238E27FC236}">
                <a16:creationId xmlns:a16="http://schemas.microsoft.com/office/drawing/2014/main" id="{AF71247E-3258-F45A-DDDA-A44CF445862E}"/>
              </a:ext>
            </a:extLst>
          </p:cNvPr>
          <p:cNvSpPr txBox="1"/>
          <p:nvPr/>
        </p:nvSpPr>
        <p:spPr>
          <a:xfrm>
            <a:off x="253202" y="67437"/>
            <a:ext cx="10413359" cy="1067343"/>
          </a:xfrm>
          <a:prstGeom prst="rect">
            <a:avLst/>
          </a:prstGeom>
          <a:noFill/>
        </p:spPr>
        <p:txBody>
          <a:bodyPr wrap="square">
            <a:spAutoFit/>
          </a:bodyPr>
          <a:lstStyle/>
          <a:p>
            <a:pPr>
              <a:lnSpc>
                <a:spcPct val="120000"/>
              </a:lnSpc>
            </a:pPr>
            <a:r>
              <a:rPr lang="en-US" dirty="0"/>
              <a:t>Interoperability Identifier is ECDIS functionality. It is a “join field” – it says which features you want to be grouped together when one of them is picked by the pick report. How does it work when you want the NW information to be returned when the user picks a component of the bridge?</a:t>
            </a:r>
          </a:p>
        </p:txBody>
      </p:sp>
    </p:spTree>
    <p:extLst>
      <p:ext uri="{BB962C8B-B14F-4D97-AF65-F5344CB8AC3E}">
        <p14:creationId xmlns:p14="http://schemas.microsoft.com/office/powerpoint/2010/main" val="37213171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40244-18F6-3920-56DB-288FABFBC8D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B37204B-0E94-4C15-6910-5F8811E13773}"/>
              </a:ext>
            </a:extLst>
          </p:cNvPr>
          <p:cNvSpPr/>
          <p:nvPr/>
        </p:nvSpPr>
        <p:spPr>
          <a:xfrm>
            <a:off x="230572" y="1505414"/>
            <a:ext cx="3438144" cy="3608832"/>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30034E8E-E7A7-3E7C-28B1-1B27ACA67D45}"/>
              </a:ext>
            </a:extLst>
          </p:cNvPr>
          <p:cNvSpPr/>
          <p:nvPr/>
        </p:nvSpPr>
        <p:spPr>
          <a:xfrm>
            <a:off x="3668716" y="1505414"/>
            <a:ext cx="3438144" cy="3608832"/>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DF31B898-1B07-8783-4FA6-1EC66401B824}"/>
              </a:ext>
            </a:extLst>
          </p:cNvPr>
          <p:cNvSpPr/>
          <p:nvPr/>
        </p:nvSpPr>
        <p:spPr>
          <a:xfrm>
            <a:off x="1817504" y="2877120"/>
            <a:ext cx="2962656" cy="202996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11FC75F9-46CE-3480-42D3-563EF2D7F474}"/>
              </a:ext>
            </a:extLst>
          </p:cNvPr>
          <p:cNvSpPr txBox="1"/>
          <p:nvPr/>
        </p:nvSpPr>
        <p:spPr>
          <a:xfrm>
            <a:off x="3107005" y="1487603"/>
            <a:ext cx="6479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ENC</a:t>
            </a:r>
            <a:r>
              <a:rPr kumimoji="0" lang="en-US" sz="1800" b="0" i="0" u="none" strike="noStrike" kern="1200" cap="none" spc="0" normalizeH="0" baseline="-25000" noProof="0" dirty="0">
                <a:ln>
                  <a:noFill/>
                </a:ln>
                <a:solidFill>
                  <a:srgbClr val="44546A">
                    <a:lumMod val="50000"/>
                  </a:srgbClr>
                </a:solidFill>
                <a:effectLst/>
                <a:uLnTx/>
                <a:uFillTx/>
                <a:latin typeface="Calibri" panose="020F0502020204030204"/>
                <a:ea typeface="+mn-ea"/>
                <a:cs typeface="+mn-cs"/>
              </a:rPr>
              <a:t>1</a:t>
            </a:r>
            <a:endParaRPr kumimoji="0" lang="en-GB"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13D47504-EDC1-E97C-B718-F0AE47F414A7}"/>
              </a:ext>
            </a:extLst>
          </p:cNvPr>
          <p:cNvSpPr txBox="1"/>
          <p:nvPr/>
        </p:nvSpPr>
        <p:spPr>
          <a:xfrm>
            <a:off x="6545149" y="1452827"/>
            <a:ext cx="6479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ENC</a:t>
            </a:r>
            <a:r>
              <a:rPr kumimoji="0" lang="en-US" sz="1800" b="0" i="0" u="none" strike="noStrike" kern="1200" cap="none" spc="0" normalizeH="0" baseline="-25000" noProof="0" dirty="0">
                <a:ln>
                  <a:noFill/>
                </a:ln>
                <a:solidFill>
                  <a:srgbClr val="44546A">
                    <a:lumMod val="50000"/>
                  </a:srgbClr>
                </a:solidFill>
                <a:effectLst/>
                <a:uLnTx/>
                <a:uFillTx/>
                <a:latin typeface="Calibri" panose="020F0502020204030204"/>
                <a:ea typeface="+mn-ea"/>
                <a:cs typeface="+mn-cs"/>
              </a:rPr>
              <a:t>2</a:t>
            </a:r>
            <a:endParaRPr kumimoji="0" lang="en-GB"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p:txBody>
      </p:sp>
      <p:sp>
        <p:nvSpPr>
          <p:cNvPr id="31" name="TextBox 30">
            <a:extLst>
              <a:ext uri="{FF2B5EF4-FFF2-40B4-BE49-F238E27FC236}">
                <a16:creationId xmlns:a16="http://schemas.microsoft.com/office/drawing/2014/main" id="{DDE19897-7E51-1929-8CED-226F56E364F4}"/>
              </a:ext>
            </a:extLst>
          </p:cNvPr>
          <p:cNvSpPr txBox="1"/>
          <p:nvPr/>
        </p:nvSpPr>
        <p:spPr>
          <a:xfrm>
            <a:off x="199429" y="1487603"/>
            <a:ext cx="569643"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S-101</a:t>
            </a:r>
            <a:endParaRPr kumimoji="0" lang="en-GB"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33" name="TextBox 32">
            <a:extLst>
              <a:ext uri="{FF2B5EF4-FFF2-40B4-BE49-F238E27FC236}">
                <a16:creationId xmlns:a16="http://schemas.microsoft.com/office/drawing/2014/main" id="{8E1DA65A-4E31-F4ED-79B0-710ABB917E76}"/>
              </a:ext>
            </a:extLst>
          </p:cNvPr>
          <p:cNvSpPr txBox="1"/>
          <p:nvPr/>
        </p:nvSpPr>
        <p:spPr>
          <a:xfrm>
            <a:off x="3611895" y="1487602"/>
            <a:ext cx="569643"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S-101</a:t>
            </a:r>
            <a:endParaRPr kumimoji="0" lang="en-GB"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39" name="Freeform: Shape 38">
            <a:extLst>
              <a:ext uri="{FF2B5EF4-FFF2-40B4-BE49-F238E27FC236}">
                <a16:creationId xmlns:a16="http://schemas.microsoft.com/office/drawing/2014/main" id="{9E816672-C3B2-BA0B-415B-0BD46A7A1A4C}"/>
              </a:ext>
            </a:extLst>
          </p:cNvPr>
          <p:cNvSpPr/>
          <p:nvPr/>
        </p:nvSpPr>
        <p:spPr>
          <a:xfrm rot="16200000">
            <a:off x="3369255" y="3721432"/>
            <a:ext cx="685149" cy="1191416"/>
          </a:xfrm>
          <a:custGeom>
            <a:avLst/>
            <a:gdLst>
              <a:gd name="connsiteX0" fmla="*/ 226406 w 685149"/>
              <a:gd name="connsiteY0" fmla="*/ 0 h 1191416"/>
              <a:gd name="connsiteX1" fmla="*/ 2288 w 685149"/>
              <a:gd name="connsiteY1" fmla="*/ 663388 h 1191416"/>
              <a:gd name="connsiteX2" fmla="*/ 136759 w 685149"/>
              <a:gd name="connsiteY2" fmla="*/ 1071282 h 1191416"/>
              <a:gd name="connsiteX3" fmla="*/ 540171 w 685149"/>
              <a:gd name="connsiteY3" fmla="*/ 1174376 h 1191416"/>
              <a:gd name="connsiteX4" fmla="*/ 674641 w 685149"/>
              <a:gd name="connsiteY4" fmla="*/ 770964 h 1191416"/>
              <a:gd name="connsiteX5" fmla="*/ 665677 w 685149"/>
              <a:gd name="connsiteY5" fmla="*/ 591670 h 1191416"/>
              <a:gd name="connsiteX6" fmla="*/ 580512 w 685149"/>
              <a:gd name="connsiteY6" fmla="*/ 219635 h 1191416"/>
              <a:gd name="connsiteX7" fmla="*/ 450524 w 685149"/>
              <a:gd name="connsiteY7" fmla="*/ 4482 h 1191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149" h="1191416">
                <a:moveTo>
                  <a:pt x="226406" y="0"/>
                </a:moveTo>
                <a:cubicBezTo>
                  <a:pt x="121817" y="242420"/>
                  <a:pt x="17229" y="484841"/>
                  <a:pt x="2288" y="663388"/>
                </a:cubicBezTo>
                <a:cubicBezTo>
                  <a:pt x="-12653" y="841935"/>
                  <a:pt x="47112" y="986117"/>
                  <a:pt x="136759" y="1071282"/>
                </a:cubicBezTo>
                <a:cubicBezTo>
                  <a:pt x="226406" y="1156447"/>
                  <a:pt x="450524" y="1224429"/>
                  <a:pt x="540171" y="1174376"/>
                </a:cubicBezTo>
                <a:cubicBezTo>
                  <a:pt x="629818" y="1124323"/>
                  <a:pt x="653723" y="868082"/>
                  <a:pt x="674641" y="770964"/>
                </a:cubicBezTo>
                <a:cubicBezTo>
                  <a:pt x="695559" y="673846"/>
                  <a:pt x="681365" y="683558"/>
                  <a:pt x="665677" y="591670"/>
                </a:cubicBezTo>
                <a:cubicBezTo>
                  <a:pt x="649989" y="499782"/>
                  <a:pt x="616371" y="317500"/>
                  <a:pt x="580512" y="219635"/>
                </a:cubicBezTo>
                <a:cubicBezTo>
                  <a:pt x="544653" y="121770"/>
                  <a:pt x="497588" y="63126"/>
                  <a:pt x="450524" y="4482"/>
                </a:cubicBezTo>
              </a:path>
            </a:pathLst>
          </a:custGeom>
          <a:noFill/>
          <a:ln w="28575">
            <a:solidFill>
              <a:srgbClr val="C925BD"/>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5C37B6AC-DB01-6E91-A373-21E79BA93466}"/>
              </a:ext>
            </a:extLst>
          </p:cNvPr>
          <p:cNvSpPr txBox="1"/>
          <p:nvPr/>
        </p:nvSpPr>
        <p:spPr>
          <a:xfrm rot="20414996">
            <a:off x="3056051" y="3865474"/>
            <a:ext cx="591829"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Spatial</a:t>
            </a:r>
            <a:r>
              <a:rPr kumimoji="0" lang="en-US" sz="1000" b="1" i="0" u="none" strike="noStrike" kern="1200" cap="none" spc="0" normalizeH="0" baseline="-25000" noProof="0" dirty="0">
                <a:ln>
                  <a:noFill/>
                </a:ln>
                <a:solidFill>
                  <a:prstClr val="black"/>
                </a:solidFill>
                <a:effectLst/>
                <a:uLnTx/>
                <a:uFillTx/>
                <a:latin typeface="Calibri" panose="020F0502020204030204"/>
                <a:ea typeface="+mn-ea"/>
                <a:cs typeface="+mn-cs"/>
              </a:rPr>
              <a:t>1</a:t>
            </a:r>
            <a:endParaRPr kumimoji="0" lang="en-GB" sz="1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Box 31">
            <a:extLst>
              <a:ext uri="{FF2B5EF4-FFF2-40B4-BE49-F238E27FC236}">
                <a16:creationId xmlns:a16="http://schemas.microsoft.com/office/drawing/2014/main" id="{10368217-EA8F-8C80-68D7-7E2258198DD0}"/>
              </a:ext>
            </a:extLst>
          </p:cNvPr>
          <p:cNvSpPr txBox="1"/>
          <p:nvPr/>
        </p:nvSpPr>
        <p:spPr>
          <a:xfrm rot="1382470">
            <a:off x="3048476" y="4515153"/>
            <a:ext cx="591829"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Spatial</a:t>
            </a:r>
            <a:r>
              <a:rPr kumimoji="0" lang="en-US" sz="1000" b="1" i="0" u="none" strike="noStrike" kern="1200" cap="none" spc="0" normalizeH="0" baseline="-25000" noProof="0" dirty="0">
                <a:ln>
                  <a:noFill/>
                </a:ln>
                <a:solidFill>
                  <a:prstClr val="black"/>
                </a:solidFill>
                <a:effectLst/>
                <a:uLnTx/>
                <a:uFillTx/>
                <a:latin typeface="Calibri" panose="020F0502020204030204"/>
                <a:ea typeface="+mn-ea"/>
                <a:cs typeface="+mn-cs"/>
              </a:rPr>
              <a:t>2</a:t>
            </a:r>
            <a:endParaRPr kumimoji="0" lang="en-GB" sz="1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TextBox 40">
            <a:extLst>
              <a:ext uri="{FF2B5EF4-FFF2-40B4-BE49-F238E27FC236}">
                <a16:creationId xmlns:a16="http://schemas.microsoft.com/office/drawing/2014/main" id="{9A032D78-C4BA-7BA1-D86D-E79587E4F1BE}"/>
              </a:ext>
            </a:extLst>
          </p:cNvPr>
          <p:cNvSpPr txBox="1"/>
          <p:nvPr/>
        </p:nvSpPr>
        <p:spPr>
          <a:xfrm>
            <a:off x="3869865" y="5193649"/>
            <a:ext cx="1075936"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err="1">
                <a:ln>
                  <a:noFill/>
                </a:ln>
                <a:solidFill>
                  <a:prstClr val="black"/>
                </a:solidFill>
                <a:effectLst/>
                <a:uLnTx/>
                <a:uFillTx/>
                <a:latin typeface="Calibri" panose="020F0502020204030204"/>
                <a:ea typeface="+mn-ea"/>
                <a:cs typeface="+mn-cs"/>
              </a:rPr>
              <a:t>foid</a:t>
            </a:r>
            <a:r>
              <a:rPr kumimoji="0" lang="en-US" sz="800" b="1" i="0" u="none" strike="noStrike" kern="1200" cap="none" spc="0" normalizeH="0" baseline="0" noProof="0" dirty="0">
                <a:ln>
                  <a:noFill/>
                </a:ln>
                <a:solidFill>
                  <a:prstClr val="black"/>
                </a:solidFill>
                <a:effectLst/>
                <a:uLnTx/>
                <a:uFillTx/>
                <a:latin typeface="Calibri" panose="020F0502020204030204"/>
                <a:ea typeface="+mn-ea"/>
                <a:cs typeface="+mn-cs"/>
              </a:rPr>
              <a:t>=1810:238975:35</a:t>
            </a:r>
            <a:endParaRPr kumimoji="0" lang="en-GB" sz="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Box 41">
            <a:extLst>
              <a:ext uri="{FF2B5EF4-FFF2-40B4-BE49-F238E27FC236}">
                <a16:creationId xmlns:a16="http://schemas.microsoft.com/office/drawing/2014/main" id="{F89DF5A9-B0C6-81BD-25D6-77531BEBBCDD}"/>
              </a:ext>
            </a:extLst>
          </p:cNvPr>
          <p:cNvSpPr txBox="1"/>
          <p:nvPr/>
        </p:nvSpPr>
        <p:spPr>
          <a:xfrm>
            <a:off x="2268454" y="5180514"/>
            <a:ext cx="1075936"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err="1">
                <a:ln>
                  <a:noFill/>
                </a:ln>
                <a:solidFill>
                  <a:prstClr val="black"/>
                </a:solidFill>
                <a:effectLst/>
                <a:uLnTx/>
                <a:uFillTx/>
                <a:latin typeface="Calibri" panose="020F0502020204030204"/>
                <a:ea typeface="+mn-ea"/>
                <a:cs typeface="+mn-cs"/>
              </a:rPr>
              <a:t>foid</a:t>
            </a:r>
            <a:r>
              <a:rPr kumimoji="0" lang="en-US" sz="800" b="1" i="0" u="none" strike="noStrike" kern="1200" cap="none" spc="0" normalizeH="0" baseline="0" noProof="0" dirty="0">
                <a:ln>
                  <a:noFill/>
                </a:ln>
                <a:solidFill>
                  <a:prstClr val="black"/>
                </a:solidFill>
                <a:effectLst/>
                <a:uLnTx/>
                <a:uFillTx/>
                <a:latin typeface="Calibri" panose="020F0502020204030204"/>
                <a:ea typeface="+mn-ea"/>
                <a:cs typeface="+mn-cs"/>
              </a:rPr>
              <a:t>=1810:238975:35</a:t>
            </a:r>
            <a:endParaRPr kumimoji="0" lang="en-GB" sz="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Freeform: Shape 42">
            <a:extLst>
              <a:ext uri="{FF2B5EF4-FFF2-40B4-BE49-F238E27FC236}">
                <a16:creationId xmlns:a16="http://schemas.microsoft.com/office/drawing/2014/main" id="{B83A61B6-5CEF-CDB3-1684-3B7575F481F4}"/>
              </a:ext>
            </a:extLst>
          </p:cNvPr>
          <p:cNvSpPr/>
          <p:nvPr/>
        </p:nvSpPr>
        <p:spPr>
          <a:xfrm>
            <a:off x="2865412" y="4508073"/>
            <a:ext cx="358624" cy="721658"/>
          </a:xfrm>
          <a:custGeom>
            <a:avLst/>
            <a:gdLst>
              <a:gd name="connsiteX0" fmla="*/ 9000 w 358624"/>
              <a:gd name="connsiteY0" fmla="*/ 721658 h 721658"/>
              <a:gd name="connsiteX1" fmla="*/ 44859 w 358624"/>
              <a:gd name="connsiteY1" fmla="*/ 138953 h 721658"/>
              <a:gd name="connsiteX2" fmla="*/ 358624 w 358624"/>
              <a:gd name="connsiteY2" fmla="*/ 0 h 721658"/>
            </a:gdLst>
            <a:ahLst/>
            <a:cxnLst>
              <a:cxn ang="0">
                <a:pos x="connsiteX0" y="connsiteY0"/>
              </a:cxn>
              <a:cxn ang="0">
                <a:pos x="connsiteX1" y="connsiteY1"/>
              </a:cxn>
              <a:cxn ang="0">
                <a:pos x="connsiteX2" y="connsiteY2"/>
              </a:cxn>
            </a:cxnLst>
            <a:rect l="l" t="t" r="r" b="b"/>
            <a:pathLst>
              <a:path w="358624" h="721658">
                <a:moveTo>
                  <a:pt x="9000" y="721658"/>
                </a:moveTo>
                <a:cubicBezTo>
                  <a:pt x="-2206" y="490443"/>
                  <a:pt x="-13412" y="259229"/>
                  <a:pt x="44859" y="138953"/>
                </a:cubicBezTo>
                <a:cubicBezTo>
                  <a:pt x="103130" y="18677"/>
                  <a:pt x="230877" y="9338"/>
                  <a:pt x="358624" y="0"/>
                </a:cubicBezTo>
              </a:path>
            </a:pathLst>
          </a:custGeom>
          <a:noFill/>
          <a:ln>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4" name="Freeform: Shape 43">
            <a:extLst>
              <a:ext uri="{FF2B5EF4-FFF2-40B4-BE49-F238E27FC236}">
                <a16:creationId xmlns:a16="http://schemas.microsoft.com/office/drawing/2014/main" id="{77EF0AF1-70A9-9A69-5A75-690424FC5BF8}"/>
              </a:ext>
            </a:extLst>
          </p:cNvPr>
          <p:cNvSpPr/>
          <p:nvPr/>
        </p:nvSpPr>
        <p:spPr>
          <a:xfrm>
            <a:off x="2639457" y="4082234"/>
            <a:ext cx="533919" cy="1154962"/>
          </a:xfrm>
          <a:custGeom>
            <a:avLst/>
            <a:gdLst>
              <a:gd name="connsiteX0" fmla="*/ 247049 w 533919"/>
              <a:gd name="connsiteY0" fmla="*/ 1154962 h 1154962"/>
              <a:gd name="connsiteX1" fmla="*/ 519 w 533919"/>
              <a:gd name="connsiteY1" fmla="*/ 285386 h 1154962"/>
              <a:gd name="connsiteX2" fmla="*/ 305319 w 533919"/>
              <a:gd name="connsiteY2" fmla="*/ 16445 h 1154962"/>
              <a:gd name="connsiteX3" fmla="*/ 533919 w 533919"/>
              <a:gd name="connsiteY3" fmla="*/ 52303 h 1154962"/>
            </a:gdLst>
            <a:ahLst/>
            <a:cxnLst>
              <a:cxn ang="0">
                <a:pos x="connsiteX0" y="connsiteY0"/>
              </a:cxn>
              <a:cxn ang="0">
                <a:pos x="connsiteX1" y="connsiteY1"/>
              </a:cxn>
              <a:cxn ang="0">
                <a:pos x="connsiteX2" y="connsiteY2"/>
              </a:cxn>
              <a:cxn ang="0">
                <a:pos x="connsiteX3" y="connsiteY3"/>
              </a:cxn>
            </a:cxnLst>
            <a:rect l="l" t="t" r="r" b="b"/>
            <a:pathLst>
              <a:path w="533919" h="1154962">
                <a:moveTo>
                  <a:pt x="247049" y="1154962"/>
                </a:moveTo>
                <a:cubicBezTo>
                  <a:pt x="118928" y="815050"/>
                  <a:pt x="-9193" y="475139"/>
                  <a:pt x="519" y="285386"/>
                </a:cubicBezTo>
                <a:cubicBezTo>
                  <a:pt x="10231" y="95633"/>
                  <a:pt x="216419" y="55292"/>
                  <a:pt x="305319" y="16445"/>
                </a:cubicBezTo>
                <a:cubicBezTo>
                  <a:pt x="394219" y="-22402"/>
                  <a:pt x="464069" y="14950"/>
                  <a:pt x="533919" y="52303"/>
                </a:cubicBezTo>
              </a:path>
            </a:pathLst>
          </a:custGeom>
          <a:noFill/>
          <a:ln>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 name="Freeform: Shape 44">
            <a:extLst>
              <a:ext uri="{FF2B5EF4-FFF2-40B4-BE49-F238E27FC236}">
                <a16:creationId xmlns:a16="http://schemas.microsoft.com/office/drawing/2014/main" id="{CFF85DA0-DF9B-C5EF-E2BC-3F35C26960D5}"/>
              </a:ext>
            </a:extLst>
          </p:cNvPr>
          <p:cNvSpPr/>
          <p:nvPr/>
        </p:nvSpPr>
        <p:spPr>
          <a:xfrm>
            <a:off x="4231341" y="4347882"/>
            <a:ext cx="167100" cy="900953"/>
          </a:xfrm>
          <a:custGeom>
            <a:avLst/>
            <a:gdLst>
              <a:gd name="connsiteX0" fmla="*/ 0 w 167100"/>
              <a:gd name="connsiteY0" fmla="*/ 900953 h 900953"/>
              <a:gd name="connsiteX1" fmla="*/ 165847 w 167100"/>
              <a:gd name="connsiteY1" fmla="*/ 170330 h 900953"/>
              <a:gd name="connsiteX2" fmla="*/ 62753 w 167100"/>
              <a:gd name="connsiteY2" fmla="*/ 0 h 900953"/>
            </a:gdLst>
            <a:ahLst/>
            <a:cxnLst>
              <a:cxn ang="0">
                <a:pos x="connsiteX0" y="connsiteY0"/>
              </a:cxn>
              <a:cxn ang="0">
                <a:pos x="connsiteX1" y="connsiteY1"/>
              </a:cxn>
              <a:cxn ang="0">
                <a:pos x="connsiteX2" y="connsiteY2"/>
              </a:cxn>
            </a:cxnLst>
            <a:rect l="l" t="t" r="r" b="b"/>
            <a:pathLst>
              <a:path w="167100" h="900953">
                <a:moveTo>
                  <a:pt x="0" y="900953"/>
                </a:moveTo>
                <a:cubicBezTo>
                  <a:pt x="77694" y="610721"/>
                  <a:pt x="155388" y="320489"/>
                  <a:pt x="165847" y="170330"/>
                </a:cubicBezTo>
                <a:cubicBezTo>
                  <a:pt x="176306" y="20171"/>
                  <a:pt x="119529" y="10085"/>
                  <a:pt x="62753" y="0"/>
                </a:cubicBezTo>
              </a:path>
            </a:pathLst>
          </a:custGeom>
          <a:noFill/>
          <a:ln>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 name="TextBox 45">
            <a:extLst>
              <a:ext uri="{FF2B5EF4-FFF2-40B4-BE49-F238E27FC236}">
                <a16:creationId xmlns:a16="http://schemas.microsoft.com/office/drawing/2014/main" id="{464A6E19-7BE0-9D35-B525-6EBE29C5EA5E}"/>
              </a:ext>
            </a:extLst>
          </p:cNvPr>
          <p:cNvSpPr txBox="1"/>
          <p:nvPr/>
        </p:nvSpPr>
        <p:spPr>
          <a:xfrm>
            <a:off x="1996885" y="4362617"/>
            <a:ext cx="57099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7030A0"/>
                </a:solidFill>
                <a:effectLst/>
                <a:uLnTx/>
                <a:uFillTx/>
                <a:latin typeface="Calibri" panose="020F0502020204030204"/>
                <a:ea typeface="+mn-ea"/>
                <a:cs typeface="+mn-cs"/>
              </a:rPr>
              <a:t>pick</a:t>
            </a:r>
            <a:endParaRPr kumimoji="0" lang="en-GB"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cxnSp>
        <p:nvCxnSpPr>
          <p:cNvPr id="47" name="Straight Arrow Connector 46">
            <a:extLst>
              <a:ext uri="{FF2B5EF4-FFF2-40B4-BE49-F238E27FC236}">
                <a16:creationId xmlns:a16="http://schemas.microsoft.com/office/drawing/2014/main" id="{CBB8C004-95F3-D3C3-56C2-341448E08C37}"/>
              </a:ext>
            </a:extLst>
          </p:cNvPr>
          <p:cNvCxnSpPr>
            <a:cxnSpLocks/>
          </p:cNvCxnSpPr>
          <p:nvPr/>
        </p:nvCxnSpPr>
        <p:spPr>
          <a:xfrm flipV="1">
            <a:off x="2490002" y="4455459"/>
            <a:ext cx="599109" cy="1052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242E6D35-AB1B-5A28-A693-1B282E2E05CF}"/>
              </a:ext>
            </a:extLst>
          </p:cNvPr>
          <p:cNvSpPr txBox="1"/>
          <p:nvPr/>
        </p:nvSpPr>
        <p:spPr>
          <a:xfrm>
            <a:off x="1814161" y="2842383"/>
            <a:ext cx="104913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Viewport</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1BEC0B0B-66E6-CF4C-B801-AD7107D110AA}"/>
              </a:ext>
            </a:extLst>
          </p:cNvPr>
          <p:cNvSpPr txBox="1"/>
          <p:nvPr/>
        </p:nvSpPr>
        <p:spPr>
          <a:xfrm>
            <a:off x="349478" y="5454520"/>
            <a:ext cx="9192645" cy="923330"/>
          </a:xfrm>
          <a:prstGeom prst="rect">
            <a:avLst/>
          </a:prstGeom>
          <a:noFill/>
        </p:spPr>
        <p:txBody>
          <a:bodyPr wrap="none" rtlCol="0">
            <a:spAutoFit/>
          </a:bodyPr>
          <a:lstStyle/>
          <a:p>
            <a:r>
              <a:rPr lang="en-US" dirty="0"/>
              <a:t>What happens when you do a pick report?</a:t>
            </a:r>
          </a:p>
          <a:p>
            <a:endParaRPr lang="en-US" dirty="0"/>
          </a:p>
          <a:p>
            <a:r>
              <a:rPr lang="en-US" dirty="0"/>
              <a:t>Is the whole feature highlighted? Are the attributes merged (although they should be the same?)</a:t>
            </a:r>
            <a:endParaRPr lang="en-GB" dirty="0"/>
          </a:p>
        </p:txBody>
      </p:sp>
    </p:spTree>
    <p:extLst>
      <p:ext uri="{BB962C8B-B14F-4D97-AF65-F5344CB8AC3E}">
        <p14:creationId xmlns:p14="http://schemas.microsoft.com/office/powerpoint/2010/main" val="2237259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0B89-96FE-78C6-17E8-6EA31608AD5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093399-CF04-CB78-FE82-889F632EBB3B}"/>
              </a:ext>
            </a:extLst>
          </p:cNvPr>
          <p:cNvSpPr>
            <a:spLocks noGrp="1"/>
          </p:cNvSpPr>
          <p:nvPr>
            <p:ph idx="1"/>
          </p:nvPr>
        </p:nvSpPr>
        <p:spPr>
          <a:xfrm>
            <a:off x="268857" y="672943"/>
            <a:ext cx="8958670" cy="5387197"/>
          </a:xfrm>
        </p:spPr>
        <p:txBody>
          <a:bodyPr>
            <a:normAutofit fontScale="70000" lnSpcReduction="20000"/>
          </a:bodyPr>
          <a:lstStyle/>
          <a:p>
            <a:pPr>
              <a:lnSpc>
                <a:spcPct val="110000"/>
              </a:lnSpc>
            </a:pPr>
            <a:r>
              <a:rPr lang="en-US" dirty="0"/>
              <a:t>We are trying to do 2 different things:</a:t>
            </a:r>
          </a:p>
          <a:p>
            <a:pPr lvl="1">
              <a:lnSpc>
                <a:spcPct val="110000"/>
              </a:lnSpc>
            </a:pPr>
            <a:r>
              <a:rPr lang="en-US" dirty="0"/>
              <a:t>Identify features (</a:t>
            </a:r>
            <a:r>
              <a:rPr lang="en-US" dirty="0" err="1"/>
              <a:t>interoperabilityIdentifer</a:t>
            </a:r>
            <a:r>
              <a:rPr lang="en-US" dirty="0"/>
              <a:t> does this)</a:t>
            </a:r>
          </a:p>
          <a:p>
            <a:pPr lvl="1">
              <a:lnSpc>
                <a:spcPct val="110000"/>
              </a:lnSpc>
            </a:pPr>
            <a:r>
              <a:rPr lang="en-US" dirty="0"/>
              <a:t>Associate between features in different PS, as well as in different datasets (the same PS)</a:t>
            </a:r>
          </a:p>
          <a:p>
            <a:pPr lvl="1">
              <a:lnSpc>
                <a:spcPct val="110000"/>
              </a:lnSpc>
            </a:pPr>
            <a:endParaRPr lang="en-US" dirty="0"/>
          </a:p>
          <a:p>
            <a:pPr>
              <a:lnSpc>
                <a:spcPct val="110000"/>
              </a:lnSpc>
            </a:pPr>
            <a:r>
              <a:rPr lang="en-US" dirty="0"/>
              <a:t>So, </a:t>
            </a:r>
            <a:r>
              <a:rPr lang="en-US" b="1" i="1" dirty="0" err="1"/>
              <a:t>interoperablityIdentifier</a:t>
            </a:r>
            <a:r>
              <a:rPr lang="en-US" dirty="0"/>
              <a:t> identifies “features”</a:t>
            </a:r>
          </a:p>
          <a:p>
            <a:pPr>
              <a:lnSpc>
                <a:spcPct val="110000"/>
              </a:lnSpc>
            </a:pPr>
            <a:r>
              <a:rPr lang="en-US" b="1" i="1" dirty="0" err="1"/>
              <a:t>featureReference.interoperabilityIdentifier</a:t>
            </a:r>
            <a:r>
              <a:rPr lang="en-US" b="1" i="1" dirty="0"/>
              <a:t> </a:t>
            </a:r>
            <a:r>
              <a:rPr lang="en-US" dirty="0"/>
              <a:t>contains a reference to “other” identifiers in some product specifications (not all)</a:t>
            </a:r>
          </a:p>
          <a:p>
            <a:pPr>
              <a:lnSpc>
                <a:spcPct val="110000"/>
              </a:lnSpc>
            </a:pPr>
            <a:endParaRPr lang="en-US" dirty="0"/>
          </a:p>
          <a:p>
            <a:pPr>
              <a:lnSpc>
                <a:spcPct val="110000"/>
              </a:lnSpc>
            </a:pPr>
            <a:r>
              <a:rPr lang="en-US" dirty="0"/>
              <a:t>The ECDIS must return (in the pick report)</a:t>
            </a:r>
          </a:p>
          <a:p>
            <a:pPr lvl="1">
              <a:lnSpc>
                <a:spcPct val="110000"/>
              </a:lnSpc>
            </a:pPr>
            <a:r>
              <a:rPr lang="en-US" b="1" dirty="0">
                <a:solidFill>
                  <a:srgbClr val="C00000"/>
                </a:solidFill>
              </a:rPr>
              <a:t>All features with identical </a:t>
            </a:r>
            <a:r>
              <a:rPr lang="en-US" b="1" dirty="0" err="1">
                <a:solidFill>
                  <a:srgbClr val="C00000"/>
                </a:solidFill>
              </a:rPr>
              <a:t>interoperabilityIdentifiers</a:t>
            </a:r>
            <a:endParaRPr lang="en-US" b="1" dirty="0">
              <a:solidFill>
                <a:srgbClr val="C00000"/>
              </a:solidFill>
            </a:endParaRPr>
          </a:p>
          <a:p>
            <a:pPr lvl="1">
              <a:lnSpc>
                <a:spcPct val="110000"/>
              </a:lnSpc>
            </a:pPr>
            <a:r>
              <a:rPr lang="en-US" b="1" dirty="0">
                <a:solidFill>
                  <a:srgbClr val="C00000"/>
                </a:solidFill>
              </a:rPr>
              <a:t>Any feature which has a feature reference containing the </a:t>
            </a:r>
            <a:r>
              <a:rPr lang="en-US" b="1" dirty="0" err="1">
                <a:solidFill>
                  <a:srgbClr val="C00000"/>
                </a:solidFill>
              </a:rPr>
              <a:t>interoperabilityIdentifier</a:t>
            </a:r>
            <a:r>
              <a:rPr lang="en-US" b="1" dirty="0">
                <a:solidFill>
                  <a:srgbClr val="C00000"/>
                </a:solidFill>
              </a:rPr>
              <a:t> of the picked feature.</a:t>
            </a:r>
          </a:p>
          <a:p>
            <a:pPr lvl="1">
              <a:lnSpc>
                <a:spcPct val="110000"/>
              </a:lnSpc>
            </a:pPr>
            <a:endParaRPr lang="en-US" dirty="0"/>
          </a:p>
          <a:p>
            <a:pPr>
              <a:lnSpc>
                <a:spcPct val="110000"/>
              </a:lnSpc>
            </a:pPr>
            <a:r>
              <a:rPr lang="en-US" dirty="0"/>
              <a:t>There can be multiple feature references in S-124</a:t>
            </a:r>
          </a:p>
          <a:p>
            <a:pPr>
              <a:lnSpc>
                <a:spcPct val="110000"/>
              </a:lnSpc>
            </a:pPr>
            <a:r>
              <a:rPr lang="en-US" dirty="0"/>
              <a:t>How can you associate between different datasets (same PS) Using common </a:t>
            </a:r>
            <a:r>
              <a:rPr lang="en-US" dirty="0" err="1"/>
              <a:t>foid</a:t>
            </a:r>
            <a:r>
              <a:rPr lang="en-US" dirty="0"/>
              <a:t>?</a:t>
            </a:r>
          </a:p>
          <a:p>
            <a:pPr>
              <a:lnSpc>
                <a:spcPct val="110000"/>
              </a:lnSpc>
            </a:pPr>
            <a:endParaRPr lang="en-GB" dirty="0"/>
          </a:p>
        </p:txBody>
      </p:sp>
      <p:pic>
        <p:nvPicPr>
          <p:cNvPr id="4" name="Picture 3">
            <a:extLst>
              <a:ext uri="{FF2B5EF4-FFF2-40B4-BE49-F238E27FC236}">
                <a16:creationId xmlns:a16="http://schemas.microsoft.com/office/drawing/2014/main" id="{B3107FBF-E529-1A89-9B9A-FC64687B3CF3}"/>
              </a:ext>
            </a:extLst>
          </p:cNvPr>
          <p:cNvPicPr>
            <a:picLocks noChangeAspect="1"/>
          </p:cNvPicPr>
          <p:nvPr/>
        </p:nvPicPr>
        <p:blipFill>
          <a:blip r:embed="rId2"/>
          <a:stretch>
            <a:fillRect/>
          </a:stretch>
        </p:blipFill>
        <p:spPr>
          <a:xfrm>
            <a:off x="8692564" y="2025618"/>
            <a:ext cx="2863129" cy="1513867"/>
          </a:xfrm>
          <a:prstGeom prst="rect">
            <a:avLst/>
          </a:prstGeom>
        </p:spPr>
      </p:pic>
    </p:spTree>
    <p:extLst>
      <p:ext uri="{BB962C8B-B14F-4D97-AF65-F5344CB8AC3E}">
        <p14:creationId xmlns:p14="http://schemas.microsoft.com/office/powerpoint/2010/main" val="1281628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1083A-06E6-8148-D37E-75C6090C39E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0329CD9-400A-F30A-F929-013152D3245D}"/>
              </a:ext>
            </a:extLst>
          </p:cNvPr>
          <p:cNvSpPr/>
          <p:nvPr/>
        </p:nvSpPr>
        <p:spPr>
          <a:xfrm>
            <a:off x="573472" y="1125739"/>
            <a:ext cx="3438144" cy="3608832"/>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B23C6100-5181-6E3E-A0A8-5CB8D680612E}"/>
              </a:ext>
            </a:extLst>
          </p:cNvPr>
          <p:cNvSpPr/>
          <p:nvPr/>
        </p:nvSpPr>
        <p:spPr>
          <a:xfrm>
            <a:off x="4011616" y="1125739"/>
            <a:ext cx="3438144" cy="3608832"/>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Rectangle 3">
            <a:extLst>
              <a:ext uri="{FF2B5EF4-FFF2-40B4-BE49-F238E27FC236}">
                <a16:creationId xmlns:a16="http://schemas.microsoft.com/office/drawing/2014/main" id="{79568CC3-FBA2-78D5-F9EF-52EA4FF7A076}"/>
              </a:ext>
            </a:extLst>
          </p:cNvPr>
          <p:cNvSpPr/>
          <p:nvPr/>
        </p:nvSpPr>
        <p:spPr>
          <a:xfrm rot="21193878">
            <a:off x="1991414" y="2486752"/>
            <a:ext cx="4937760" cy="673445"/>
          </a:xfrm>
          <a:prstGeom prst="rect">
            <a:avLst/>
          </a:prstGeom>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Bridge</a:t>
            </a: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56B4F7CD-59B3-E0D6-EE0C-617F0532E93E}"/>
              </a:ext>
            </a:extLst>
          </p:cNvPr>
          <p:cNvSpPr/>
          <p:nvPr/>
        </p:nvSpPr>
        <p:spPr>
          <a:xfrm>
            <a:off x="811216" y="2010988"/>
            <a:ext cx="3939516" cy="237814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4902D3ED-7A01-3F0E-5528-0D258FDC9F01}"/>
              </a:ext>
            </a:extLst>
          </p:cNvPr>
          <p:cNvSpPr txBox="1"/>
          <p:nvPr/>
        </p:nvSpPr>
        <p:spPr>
          <a:xfrm>
            <a:off x="774119" y="2320555"/>
            <a:ext cx="104913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Viewport</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0" name="Straight Connector 9">
            <a:extLst>
              <a:ext uri="{FF2B5EF4-FFF2-40B4-BE49-F238E27FC236}">
                <a16:creationId xmlns:a16="http://schemas.microsoft.com/office/drawing/2014/main" id="{63FBFA4F-17FE-DFBA-CAD8-9DA9D8CB163A}"/>
              </a:ext>
            </a:extLst>
          </p:cNvPr>
          <p:cNvCxnSpPr>
            <a:cxnSpLocks/>
          </p:cNvCxnSpPr>
          <p:nvPr/>
        </p:nvCxnSpPr>
        <p:spPr>
          <a:xfrm>
            <a:off x="4011616" y="2535947"/>
            <a:ext cx="0" cy="662432"/>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5C767BC-008D-9ABF-DAAA-6EE75787245A}"/>
              </a:ext>
            </a:extLst>
          </p:cNvPr>
          <p:cNvSpPr txBox="1"/>
          <p:nvPr/>
        </p:nvSpPr>
        <p:spPr>
          <a:xfrm>
            <a:off x="3449905" y="1107928"/>
            <a:ext cx="6479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ENC</a:t>
            </a:r>
            <a:r>
              <a:rPr kumimoji="0" lang="en-US" sz="1800" b="0" i="0" u="none" strike="noStrike" kern="1200" cap="none" spc="0" normalizeH="0" baseline="-25000" noProof="0" dirty="0">
                <a:ln>
                  <a:noFill/>
                </a:ln>
                <a:solidFill>
                  <a:srgbClr val="44546A">
                    <a:lumMod val="50000"/>
                  </a:srgbClr>
                </a:solidFill>
                <a:effectLst/>
                <a:uLnTx/>
                <a:uFillTx/>
                <a:latin typeface="Calibri" panose="020F0502020204030204"/>
                <a:ea typeface="+mn-ea"/>
                <a:cs typeface="+mn-cs"/>
              </a:rPr>
              <a:t>1</a:t>
            </a:r>
            <a:endParaRPr kumimoji="0" lang="en-GB"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B260C8AF-F442-9FB6-1A6D-055E884B275A}"/>
              </a:ext>
            </a:extLst>
          </p:cNvPr>
          <p:cNvSpPr txBox="1"/>
          <p:nvPr/>
        </p:nvSpPr>
        <p:spPr>
          <a:xfrm>
            <a:off x="6888049" y="1073152"/>
            <a:ext cx="6479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ENC</a:t>
            </a:r>
            <a:r>
              <a:rPr kumimoji="0" lang="en-US" sz="1800" b="0" i="0" u="none" strike="noStrike" kern="1200" cap="none" spc="0" normalizeH="0" baseline="-25000" noProof="0" dirty="0">
                <a:ln>
                  <a:noFill/>
                </a:ln>
                <a:solidFill>
                  <a:srgbClr val="44546A">
                    <a:lumMod val="50000"/>
                  </a:srgbClr>
                </a:solidFill>
                <a:effectLst/>
                <a:uLnTx/>
                <a:uFillTx/>
                <a:latin typeface="Calibri" panose="020F0502020204030204"/>
                <a:ea typeface="+mn-ea"/>
                <a:cs typeface="+mn-cs"/>
              </a:rPr>
              <a:t>2</a:t>
            </a:r>
            <a:endParaRPr kumimoji="0" lang="en-GB"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p:txBody>
      </p:sp>
      <p:sp>
        <p:nvSpPr>
          <p:cNvPr id="16" name="Oval 15">
            <a:extLst>
              <a:ext uri="{FF2B5EF4-FFF2-40B4-BE49-F238E27FC236}">
                <a16:creationId xmlns:a16="http://schemas.microsoft.com/office/drawing/2014/main" id="{8A65CFE6-7B4E-5800-7BA4-05B10889452A}"/>
              </a:ext>
            </a:extLst>
          </p:cNvPr>
          <p:cNvSpPr/>
          <p:nvPr/>
        </p:nvSpPr>
        <p:spPr>
          <a:xfrm>
            <a:off x="5255090" y="2211175"/>
            <a:ext cx="89408" cy="8534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Oval 16">
            <a:extLst>
              <a:ext uri="{FF2B5EF4-FFF2-40B4-BE49-F238E27FC236}">
                <a16:creationId xmlns:a16="http://schemas.microsoft.com/office/drawing/2014/main" id="{5BAEA201-FAB1-5FE1-19BF-15BCAA266962}"/>
              </a:ext>
            </a:extLst>
          </p:cNvPr>
          <p:cNvSpPr/>
          <p:nvPr/>
        </p:nvSpPr>
        <p:spPr>
          <a:xfrm>
            <a:off x="5232675" y="3129772"/>
            <a:ext cx="89408" cy="85344"/>
          </a:xfrm>
          <a:prstGeom prst="ellipse">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9" name="Straight Arrow Connector 18">
            <a:extLst>
              <a:ext uri="{FF2B5EF4-FFF2-40B4-BE49-F238E27FC236}">
                <a16:creationId xmlns:a16="http://schemas.microsoft.com/office/drawing/2014/main" id="{ED2D1FD2-2F10-3483-BE71-8C4CC14B0AE1}"/>
              </a:ext>
            </a:extLst>
          </p:cNvPr>
          <p:cNvCxnSpPr/>
          <p:nvPr/>
        </p:nvCxnSpPr>
        <p:spPr>
          <a:xfrm>
            <a:off x="1823252" y="2961330"/>
            <a:ext cx="268705" cy="1684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ADF4CA20-7286-EA4C-ED07-80D0829594FE}"/>
              </a:ext>
            </a:extLst>
          </p:cNvPr>
          <p:cNvSpPr txBox="1"/>
          <p:nvPr/>
        </p:nvSpPr>
        <p:spPr>
          <a:xfrm>
            <a:off x="1348308" y="2760440"/>
            <a:ext cx="57099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7030A0"/>
                </a:solidFill>
                <a:effectLst/>
                <a:uLnTx/>
                <a:uFillTx/>
                <a:latin typeface="Calibri" panose="020F0502020204030204"/>
                <a:ea typeface="+mn-ea"/>
                <a:cs typeface="+mn-cs"/>
              </a:rPr>
              <a:t>pick</a:t>
            </a:r>
            <a:endParaRPr kumimoji="0" lang="en-GB"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
        <p:nvSpPr>
          <p:cNvPr id="26" name="TextBox 25">
            <a:extLst>
              <a:ext uri="{FF2B5EF4-FFF2-40B4-BE49-F238E27FC236}">
                <a16:creationId xmlns:a16="http://schemas.microsoft.com/office/drawing/2014/main" id="{20D8D174-B2BC-289A-47B4-BB329550C24B}"/>
              </a:ext>
            </a:extLst>
          </p:cNvPr>
          <p:cNvSpPr txBox="1"/>
          <p:nvPr/>
        </p:nvSpPr>
        <p:spPr>
          <a:xfrm>
            <a:off x="2382267" y="2884755"/>
            <a:ext cx="251992"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Calibri" panose="020F0502020204030204"/>
                <a:ea typeface="+mn-ea"/>
                <a:cs typeface="+mn-cs"/>
              </a:rPr>
              <a:t>a</a:t>
            </a:r>
            <a:endParaRPr kumimoji="0" lang="en-GB" sz="11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27" name="TextBox 26">
            <a:extLst>
              <a:ext uri="{FF2B5EF4-FFF2-40B4-BE49-F238E27FC236}">
                <a16:creationId xmlns:a16="http://schemas.microsoft.com/office/drawing/2014/main" id="{C63AE18D-B29F-C092-5882-060EE908B1AF}"/>
              </a:ext>
            </a:extLst>
          </p:cNvPr>
          <p:cNvSpPr txBox="1"/>
          <p:nvPr/>
        </p:nvSpPr>
        <p:spPr>
          <a:xfrm>
            <a:off x="6434417" y="2476446"/>
            <a:ext cx="25840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Calibri" panose="020F0502020204030204"/>
                <a:ea typeface="+mn-ea"/>
                <a:cs typeface="+mn-cs"/>
              </a:rPr>
              <a:t>b</a:t>
            </a:r>
            <a:endParaRPr kumimoji="0" lang="en-GB" sz="11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28" name="TextBox 27">
            <a:extLst>
              <a:ext uri="{FF2B5EF4-FFF2-40B4-BE49-F238E27FC236}">
                <a16:creationId xmlns:a16="http://schemas.microsoft.com/office/drawing/2014/main" id="{30DBC9BE-FF17-F0E0-650B-375BF303F4F3}"/>
              </a:ext>
            </a:extLst>
          </p:cNvPr>
          <p:cNvSpPr txBox="1"/>
          <p:nvPr/>
        </p:nvSpPr>
        <p:spPr>
          <a:xfrm>
            <a:off x="5274483" y="2171595"/>
            <a:ext cx="243978"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Calibri" panose="020F0502020204030204"/>
                <a:ea typeface="+mn-ea"/>
                <a:cs typeface="+mn-cs"/>
              </a:rPr>
              <a:t>c</a:t>
            </a:r>
            <a:endParaRPr kumimoji="0" lang="en-GB" sz="11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29" name="TextBox 28">
            <a:extLst>
              <a:ext uri="{FF2B5EF4-FFF2-40B4-BE49-F238E27FC236}">
                <a16:creationId xmlns:a16="http://schemas.microsoft.com/office/drawing/2014/main" id="{89185FB4-CD63-F444-4009-E4C52F90A41A}"/>
              </a:ext>
            </a:extLst>
          </p:cNvPr>
          <p:cNvSpPr txBox="1"/>
          <p:nvPr/>
        </p:nvSpPr>
        <p:spPr>
          <a:xfrm>
            <a:off x="5260057" y="3174473"/>
            <a:ext cx="25840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Calibri" panose="020F0502020204030204"/>
                <a:ea typeface="+mn-ea"/>
                <a:cs typeface="+mn-cs"/>
              </a:rPr>
              <a:t>d</a:t>
            </a:r>
            <a:endParaRPr kumimoji="0" lang="en-GB" sz="11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31" name="TextBox 30">
            <a:extLst>
              <a:ext uri="{FF2B5EF4-FFF2-40B4-BE49-F238E27FC236}">
                <a16:creationId xmlns:a16="http://schemas.microsoft.com/office/drawing/2014/main" id="{A3AEBCEA-8BF4-EFC5-CC42-584B7DDF1FE3}"/>
              </a:ext>
            </a:extLst>
          </p:cNvPr>
          <p:cNvSpPr txBox="1"/>
          <p:nvPr/>
        </p:nvSpPr>
        <p:spPr>
          <a:xfrm>
            <a:off x="542329" y="1107928"/>
            <a:ext cx="569643"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S-101</a:t>
            </a:r>
            <a:endParaRPr kumimoji="0" lang="en-GB"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33" name="TextBox 32">
            <a:extLst>
              <a:ext uri="{FF2B5EF4-FFF2-40B4-BE49-F238E27FC236}">
                <a16:creationId xmlns:a16="http://schemas.microsoft.com/office/drawing/2014/main" id="{C388E41E-F4F7-FC4E-1A86-BB201A6148A3}"/>
              </a:ext>
            </a:extLst>
          </p:cNvPr>
          <p:cNvSpPr txBox="1"/>
          <p:nvPr/>
        </p:nvSpPr>
        <p:spPr>
          <a:xfrm>
            <a:off x="3954795" y="1107927"/>
            <a:ext cx="569643"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S-101</a:t>
            </a:r>
            <a:endParaRPr kumimoji="0" lang="en-GB"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9" name="TextBox 8">
            <a:extLst>
              <a:ext uri="{FF2B5EF4-FFF2-40B4-BE49-F238E27FC236}">
                <a16:creationId xmlns:a16="http://schemas.microsoft.com/office/drawing/2014/main" id="{72580E56-1095-1F1F-8FC3-2ECE2A1284DD}"/>
              </a:ext>
            </a:extLst>
          </p:cNvPr>
          <p:cNvSpPr txBox="1"/>
          <p:nvPr/>
        </p:nvSpPr>
        <p:spPr>
          <a:xfrm>
            <a:off x="1111972" y="5027657"/>
            <a:ext cx="4528997" cy="1477328"/>
          </a:xfrm>
          <a:prstGeom prst="rect">
            <a:avLst/>
          </a:prstGeom>
          <a:noFill/>
        </p:spPr>
        <p:txBody>
          <a:bodyPr wrap="none" rtlCol="0">
            <a:spAutoFit/>
          </a:bodyPr>
          <a:lstStyle/>
          <a:p>
            <a:r>
              <a:rPr lang="en-US" dirty="0"/>
              <a:t>What happens when you do a pick report (a)? </a:t>
            </a:r>
          </a:p>
          <a:p>
            <a:pPr marL="342900" indent="-342900">
              <a:buAutoNum type="alphaLcParenBoth"/>
            </a:pPr>
            <a:r>
              <a:rPr lang="en-US" dirty="0"/>
              <a:t>Feature picked</a:t>
            </a:r>
          </a:p>
          <a:p>
            <a:pPr marL="342900" indent="-342900">
              <a:buAutoNum type="alphaLcParenBoth"/>
            </a:pPr>
            <a:r>
              <a:rPr lang="en-US" dirty="0"/>
              <a:t>Common </a:t>
            </a:r>
            <a:r>
              <a:rPr lang="en-US" dirty="0" err="1"/>
              <a:t>foid</a:t>
            </a:r>
            <a:endParaRPr lang="en-US" dirty="0"/>
          </a:p>
          <a:p>
            <a:pPr marL="342900" indent="-342900">
              <a:buAutoNum type="alphaLcParenBoth"/>
            </a:pPr>
            <a:r>
              <a:rPr lang="en-US" dirty="0"/>
              <a:t>Associated with (b)</a:t>
            </a:r>
          </a:p>
          <a:p>
            <a:pPr marL="342900" indent="-342900">
              <a:buAutoNum type="alphaLcParenBoth"/>
            </a:pPr>
            <a:r>
              <a:rPr lang="en-US" dirty="0"/>
              <a:t>Associated with (b)</a:t>
            </a:r>
          </a:p>
        </p:txBody>
      </p:sp>
      <p:sp>
        <p:nvSpPr>
          <p:cNvPr id="39" name="TextBox 38">
            <a:extLst>
              <a:ext uri="{FF2B5EF4-FFF2-40B4-BE49-F238E27FC236}">
                <a16:creationId xmlns:a16="http://schemas.microsoft.com/office/drawing/2014/main" id="{93700FB7-8217-E87D-3EAD-16FE2E94EE41}"/>
              </a:ext>
            </a:extLst>
          </p:cNvPr>
          <p:cNvSpPr txBox="1"/>
          <p:nvPr/>
        </p:nvSpPr>
        <p:spPr>
          <a:xfrm>
            <a:off x="161412" y="303944"/>
            <a:ext cx="10413359" cy="402546"/>
          </a:xfrm>
          <a:prstGeom prst="rect">
            <a:avLst/>
          </a:prstGeom>
          <a:noFill/>
        </p:spPr>
        <p:txBody>
          <a:bodyPr wrap="square">
            <a:spAutoFit/>
          </a:bodyPr>
          <a:lstStyle/>
          <a:p>
            <a:pPr>
              <a:lnSpc>
                <a:spcPct val="120000"/>
              </a:lnSpc>
            </a:pPr>
            <a:r>
              <a:rPr lang="en-US" dirty="0"/>
              <a:t>So: </a:t>
            </a:r>
            <a:r>
              <a:rPr lang="en-US" b="1" dirty="0">
                <a:solidFill>
                  <a:srgbClr val="C00000"/>
                </a:solidFill>
              </a:rPr>
              <a:t>Features with common </a:t>
            </a:r>
            <a:r>
              <a:rPr lang="en-US" b="1" dirty="0" err="1">
                <a:solidFill>
                  <a:srgbClr val="C00000"/>
                </a:solidFill>
              </a:rPr>
              <a:t>foids</a:t>
            </a:r>
            <a:r>
              <a:rPr lang="en-US" b="1" dirty="0">
                <a:solidFill>
                  <a:srgbClr val="C00000"/>
                </a:solidFill>
              </a:rPr>
              <a:t> in the viewport should be merged together for the pick report</a:t>
            </a:r>
            <a:r>
              <a:rPr lang="en-US" dirty="0"/>
              <a:t>?</a:t>
            </a:r>
          </a:p>
        </p:txBody>
      </p:sp>
      <p:sp>
        <p:nvSpPr>
          <p:cNvPr id="2" name="TextBox 1">
            <a:extLst>
              <a:ext uri="{FF2B5EF4-FFF2-40B4-BE49-F238E27FC236}">
                <a16:creationId xmlns:a16="http://schemas.microsoft.com/office/drawing/2014/main" id="{C43B634A-9ADF-03FC-773C-273A1ABB531F}"/>
              </a:ext>
            </a:extLst>
          </p:cNvPr>
          <p:cNvSpPr txBox="1"/>
          <p:nvPr/>
        </p:nvSpPr>
        <p:spPr>
          <a:xfrm rot="21175780">
            <a:off x="1982882" y="3187077"/>
            <a:ext cx="1180131"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err="1">
                <a:ln>
                  <a:noFill/>
                </a:ln>
                <a:solidFill>
                  <a:prstClr val="black"/>
                </a:solidFill>
                <a:effectLst/>
                <a:uLnTx/>
                <a:uFillTx/>
                <a:latin typeface="Calibri" panose="020F0502020204030204"/>
                <a:ea typeface="+mn-ea"/>
                <a:cs typeface="+mn-cs"/>
              </a:rPr>
              <a:t>foid</a:t>
            </a:r>
            <a:r>
              <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rPr>
              <a:t>=1810:238972:42</a:t>
            </a:r>
            <a:endParaRPr kumimoji="0" lang="en-GB"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A7B70A66-3A89-5BA2-EE8F-D9B5D5ED3AB7}"/>
              </a:ext>
            </a:extLst>
          </p:cNvPr>
          <p:cNvSpPr txBox="1"/>
          <p:nvPr/>
        </p:nvSpPr>
        <p:spPr>
          <a:xfrm rot="21175780">
            <a:off x="3941845" y="2956508"/>
            <a:ext cx="1180131"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err="1">
                <a:ln>
                  <a:noFill/>
                </a:ln>
                <a:solidFill>
                  <a:prstClr val="black"/>
                </a:solidFill>
                <a:effectLst/>
                <a:uLnTx/>
                <a:uFillTx/>
                <a:latin typeface="Calibri" panose="020F0502020204030204"/>
                <a:ea typeface="+mn-ea"/>
                <a:cs typeface="+mn-cs"/>
              </a:rPr>
              <a:t>foid</a:t>
            </a:r>
            <a:r>
              <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rPr>
              <a:t>=1810:238972:42</a:t>
            </a:r>
            <a:endParaRPr kumimoji="0" lang="en-GB"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A72C5E6C-DD3E-6CF3-B2CD-DF353FD8DF07}"/>
              </a:ext>
            </a:extLst>
          </p:cNvPr>
          <p:cNvSpPr/>
          <p:nvPr/>
        </p:nvSpPr>
        <p:spPr>
          <a:xfrm>
            <a:off x="5368092" y="2187028"/>
            <a:ext cx="349144" cy="348919"/>
          </a:xfrm>
          <a:custGeom>
            <a:avLst/>
            <a:gdLst>
              <a:gd name="connsiteX0" fmla="*/ 0 w 349144"/>
              <a:gd name="connsiteY0" fmla="*/ 57566 h 348919"/>
              <a:gd name="connsiteX1" fmla="*/ 300317 w 349144"/>
              <a:gd name="connsiteY1" fmla="*/ 21707 h 348919"/>
              <a:gd name="connsiteX2" fmla="*/ 345141 w 349144"/>
              <a:gd name="connsiteY2" fmla="*/ 348919 h 348919"/>
            </a:gdLst>
            <a:ahLst/>
            <a:cxnLst>
              <a:cxn ang="0">
                <a:pos x="connsiteX0" y="connsiteY0"/>
              </a:cxn>
              <a:cxn ang="0">
                <a:pos x="connsiteX1" y="connsiteY1"/>
              </a:cxn>
              <a:cxn ang="0">
                <a:pos x="connsiteX2" y="connsiteY2"/>
              </a:cxn>
            </a:cxnLst>
            <a:rect l="l" t="t" r="r" b="b"/>
            <a:pathLst>
              <a:path w="349144" h="348919">
                <a:moveTo>
                  <a:pt x="0" y="57566"/>
                </a:moveTo>
                <a:cubicBezTo>
                  <a:pt x="121397" y="15357"/>
                  <a:pt x="242794" y="-26852"/>
                  <a:pt x="300317" y="21707"/>
                </a:cubicBezTo>
                <a:cubicBezTo>
                  <a:pt x="357840" y="70266"/>
                  <a:pt x="351490" y="209592"/>
                  <a:pt x="345141" y="348919"/>
                </a:cubicBezTo>
              </a:path>
            </a:pathLst>
          </a:custGeom>
          <a:noFill/>
          <a:ln>
            <a:headEnd type="triangl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C513D881-0220-76B0-816B-8195BE703C0D}"/>
              </a:ext>
            </a:extLst>
          </p:cNvPr>
          <p:cNvSpPr txBox="1"/>
          <p:nvPr/>
        </p:nvSpPr>
        <p:spPr>
          <a:xfrm>
            <a:off x="5490181" y="2010988"/>
            <a:ext cx="652743"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association</a:t>
            </a:r>
            <a:endParaRPr kumimoji="0" lang="en-GB"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1904DF43-5EC4-5228-7163-692F60FEDAB0}"/>
              </a:ext>
            </a:extLst>
          </p:cNvPr>
          <p:cNvSpPr/>
          <p:nvPr/>
        </p:nvSpPr>
        <p:spPr>
          <a:xfrm>
            <a:off x="5048485" y="2955196"/>
            <a:ext cx="354991" cy="227783"/>
          </a:xfrm>
          <a:custGeom>
            <a:avLst/>
            <a:gdLst>
              <a:gd name="connsiteX0" fmla="*/ 354991 w 354991"/>
              <a:gd name="connsiteY0" fmla="*/ 0 h 227783"/>
              <a:gd name="connsiteX1" fmla="*/ 5368 w 354991"/>
              <a:gd name="connsiteY1" fmla="*/ 197224 h 227783"/>
              <a:gd name="connsiteX2" fmla="*/ 175697 w 354991"/>
              <a:gd name="connsiteY2" fmla="*/ 224118 h 227783"/>
            </a:gdLst>
            <a:ahLst/>
            <a:cxnLst>
              <a:cxn ang="0">
                <a:pos x="connsiteX0" y="connsiteY0"/>
              </a:cxn>
              <a:cxn ang="0">
                <a:pos x="connsiteX1" y="connsiteY1"/>
              </a:cxn>
              <a:cxn ang="0">
                <a:pos x="connsiteX2" y="connsiteY2"/>
              </a:cxn>
            </a:cxnLst>
            <a:rect l="l" t="t" r="r" b="b"/>
            <a:pathLst>
              <a:path w="354991" h="227783">
                <a:moveTo>
                  <a:pt x="354991" y="0"/>
                </a:moveTo>
                <a:cubicBezTo>
                  <a:pt x="195120" y="79935"/>
                  <a:pt x="35250" y="159871"/>
                  <a:pt x="5368" y="197224"/>
                </a:cubicBezTo>
                <a:cubicBezTo>
                  <a:pt x="-24514" y="234577"/>
                  <a:pt x="75591" y="229347"/>
                  <a:pt x="175697" y="224118"/>
                </a:cubicBezTo>
              </a:path>
            </a:pathLst>
          </a:custGeom>
          <a:noFill/>
          <a:ln>
            <a:headEnd type="triangl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TextBox 19">
            <a:extLst>
              <a:ext uri="{FF2B5EF4-FFF2-40B4-BE49-F238E27FC236}">
                <a16:creationId xmlns:a16="http://schemas.microsoft.com/office/drawing/2014/main" id="{32E89090-35C2-D0F6-4EE6-494B6BA40F07}"/>
              </a:ext>
            </a:extLst>
          </p:cNvPr>
          <p:cNvSpPr txBox="1"/>
          <p:nvPr/>
        </p:nvSpPr>
        <p:spPr>
          <a:xfrm>
            <a:off x="4750733" y="3190902"/>
            <a:ext cx="652743"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association</a:t>
            </a:r>
            <a:endParaRPr kumimoji="0" lang="en-GB"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098366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276A7-1574-DDA2-C537-2C17642052B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0367840-A7E9-939B-ABEC-6B0D4F9B398B}"/>
              </a:ext>
            </a:extLst>
          </p:cNvPr>
          <p:cNvSpPr/>
          <p:nvPr/>
        </p:nvSpPr>
        <p:spPr>
          <a:xfrm>
            <a:off x="230572" y="1505414"/>
            <a:ext cx="3438144" cy="3608832"/>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20693A36-C65C-CCA8-16C0-91CC50ED5405}"/>
              </a:ext>
            </a:extLst>
          </p:cNvPr>
          <p:cNvSpPr/>
          <p:nvPr/>
        </p:nvSpPr>
        <p:spPr>
          <a:xfrm>
            <a:off x="3668716" y="1505414"/>
            <a:ext cx="3438144" cy="3608832"/>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Rectangle 3">
            <a:extLst>
              <a:ext uri="{FF2B5EF4-FFF2-40B4-BE49-F238E27FC236}">
                <a16:creationId xmlns:a16="http://schemas.microsoft.com/office/drawing/2014/main" id="{2E7CF74D-004E-1424-C69F-E98705752EEE}"/>
              </a:ext>
            </a:extLst>
          </p:cNvPr>
          <p:cNvSpPr/>
          <p:nvPr/>
        </p:nvSpPr>
        <p:spPr>
          <a:xfrm rot="21193878">
            <a:off x="1648514" y="2866427"/>
            <a:ext cx="4937760" cy="673445"/>
          </a:xfrm>
          <a:prstGeom prst="rect">
            <a:avLst/>
          </a:prstGeom>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Bridge</a:t>
            </a: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E9C57A8D-6B0D-420A-5AF6-E87E66A0CCEA}"/>
              </a:ext>
            </a:extLst>
          </p:cNvPr>
          <p:cNvSpPr/>
          <p:nvPr/>
        </p:nvSpPr>
        <p:spPr>
          <a:xfrm>
            <a:off x="468316" y="2738838"/>
            <a:ext cx="2962656" cy="202996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7D9F3BDF-83A2-3C20-0883-8418C465DF12}"/>
              </a:ext>
            </a:extLst>
          </p:cNvPr>
          <p:cNvSpPr txBox="1"/>
          <p:nvPr/>
        </p:nvSpPr>
        <p:spPr>
          <a:xfrm>
            <a:off x="431219" y="2700230"/>
            <a:ext cx="104913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Viewport</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0" name="Straight Connector 9">
            <a:extLst>
              <a:ext uri="{FF2B5EF4-FFF2-40B4-BE49-F238E27FC236}">
                <a16:creationId xmlns:a16="http://schemas.microsoft.com/office/drawing/2014/main" id="{9C8E3E2B-CCBE-7BC6-D36F-8B1C8E912E39}"/>
              </a:ext>
            </a:extLst>
          </p:cNvPr>
          <p:cNvCxnSpPr>
            <a:cxnSpLocks/>
          </p:cNvCxnSpPr>
          <p:nvPr/>
        </p:nvCxnSpPr>
        <p:spPr>
          <a:xfrm>
            <a:off x="3668716" y="2915622"/>
            <a:ext cx="0" cy="662432"/>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5BD16CB-9F4C-AC9C-5CFE-62A61745C89A}"/>
              </a:ext>
            </a:extLst>
          </p:cNvPr>
          <p:cNvSpPr txBox="1"/>
          <p:nvPr/>
        </p:nvSpPr>
        <p:spPr>
          <a:xfrm>
            <a:off x="3107005" y="1487603"/>
            <a:ext cx="6479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ENC</a:t>
            </a:r>
            <a:r>
              <a:rPr kumimoji="0" lang="en-US" sz="1800" b="0" i="0" u="none" strike="noStrike" kern="1200" cap="none" spc="0" normalizeH="0" baseline="-25000" noProof="0" dirty="0">
                <a:ln>
                  <a:noFill/>
                </a:ln>
                <a:solidFill>
                  <a:srgbClr val="44546A">
                    <a:lumMod val="50000"/>
                  </a:srgbClr>
                </a:solidFill>
                <a:effectLst/>
                <a:uLnTx/>
                <a:uFillTx/>
                <a:latin typeface="Calibri" panose="020F0502020204030204"/>
                <a:ea typeface="+mn-ea"/>
                <a:cs typeface="+mn-cs"/>
              </a:rPr>
              <a:t>1</a:t>
            </a:r>
            <a:endParaRPr kumimoji="0" lang="en-GB"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62AF44F1-E25C-4810-D323-996CA8B9CE51}"/>
              </a:ext>
            </a:extLst>
          </p:cNvPr>
          <p:cNvSpPr txBox="1"/>
          <p:nvPr/>
        </p:nvSpPr>
        <p:spPr>
          <a:xfrm>
            <a:off x="6545149" y="1452827"/>
            <a:ext cx="64793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rPr>
              <a:t>ENC</a:t>
            </a:r>
            <a:r>
              <a:rPr kumimoji="0" lang="en-US" sz="1800" b="0" i="0" u="none" strike="noStrike" kern="1200" cap="none" spc="0" normalizeH="0" baseline="-25000" noProof="0" dirty="0">
                <a:ln>
                  <a:noFill/>
                </a:ln>
                <a:solidFill>
                  <a:srgbClr val="44546A">
                    <a:lumMod val="50000"/>
                  </a:srgbClr>
                </a:solidFill>
                <a:effectLst/>
                <a:uLnTx/>
                <a:uFillTx/>
                <a:latin typeface="Calibri" panose="020F0502020204030204"/>
                <a:ea typeface="+mn-ea"/>
                <a:cs typeface="+mn-cs"/>
              </a:rPr>
              <a:t>2</a:t>
            </a:r>
            <a:endParaRPr kumimoji="0" lang="en-GB" sz="1800" b="0" i="0" u="none" strike="noStrike" kern="1200" cap="none" spc="0" normalizeH="0" baseline="0" noProof="0" dirty="0">
              <a:ln>
                <a:noFill/>
              </a:ln>
              <a:solidFill>
                <a:srgbClr val="44546A">
                  <a:lumMod val="50000"/>
                </a:srgbClr>
              </a:solidFill>
              <a:effectLst/>
              <a:uLnTx/>
              <a:uFillTx/>
              <a:latin typeface="Calibri" panose="020F0502020204030204"/>
              <a:ea typeface="+mn-ea"/>
              <a:cs typeface="+mn-cs"/>
            </a:endParaRPr>
          </a:p>
        </p:txBody>
      </p:sp>
      <p:sp>
        <p:nvSpPr>
          <p:cNvPr id="16" name="Oval 15">
            <a:extLst>
              <a:ext uri="{FF2B5EF4-FFF2-40B4-BE49-F238E27FC236}">
                <a16:creationId xmlns:a16="http://schemas.microsoft.com/office/drawing/2014/main" id="{D9150EF9-BF1B-F10D-C495-848D6944B1BE}"/>
              </a:ext>
            </a:extLst>
          </p:cNvPr>
          <p:cNvSpPr/>
          <p:nvPr/>
        </p:nvSpPr>
        <p:spPr>
          <a:xfrm>
            <a:off x="4912190" y="2590850"/>
            <a:ext cx="89408" cy="8534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Oval 16">
            <a:extLst>
              <a:ext uri="{FF2B5EF4-FFF2-40B4-BE49-F238E27FC236}">
                <a16:creationId xmlns:a16="http://schemas.microsoft.com/office/drawing/2014/main" id="{6177CC9C-06D9-C651-3E85-75ECCCDEFFD7}"/>
              </a:ext>
            </a:extLst>
          </p:cNvPr>
          <p:cNvSpPr/>
          <p:nvPr/>
        </p:nvSpPr>
        <p:spPr>
          <a:xfrm>
            <a:off x="4889775" y="3509447"/>
            <a:ext cx="89408" cy="85344"/>
          </a:xfrm>
          <a:prstGeom prst="ellipse">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9" name="Straight Arrow Connector 18">
            <a:extLst>
              <a:ext uri="{FF2B5EF4-FFF2-40B4-BE49-F238E27FC236}">
                <a16:creationId xmlns:a16="http://schemas.microsoft.com/office/drawing/2014/main" id="{470E6B8A-7851-DF0D-F66E-868C8EDF9E03}"/>
              </a:ext>
            </a:extLst>
          </p:cNvPr>
          <p:cNvCxnSpPr/>
          <p:nvPr/>
        </p:nvCxnSpPr>
        <p:spPr>
          <a:xfrm>
            <a:off x="1480352" y="3341005"/>
            <a:ext cx="268705" cy="1684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681C5A88-4EE6-81D0-D159-B897AA304869}"/>
              </a:ext>
            </a:extLst>
          </p:cNvPr>
          <p:cNvSpPr txBox="1"/>
          <p:nvPr/>
        </p:nvSpPr>
        <p:spPr>
          <a:xfrm rot="21175780">
            <a:off x="1639982" y="3566752"/>
            <a:ext cx="1180131"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err="1">
                <a:ln>
                  <a:noFill/>
                </a:ln>
                <a:solidFill>
                  <a:prstClr val="black"/>
                </a:solidFill>
                <a:effectLst/>
                <a:uLnTx/>
                <a:uFillTx/>
                <a:latin typeface="Calibri" panose="020F0502020204030204"/>
                <a:ea typeface="+mn-ea"/>
                <a:cs typeface="+mn-cs"/>
              </a:rPr>
              <a:t>foid</a:t>
            </a:r>
            <a:r>
              <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rPr>
              <a:t>=1810:238972:42</a:t>
            </a:r>
            <a:endParaRPr kumimoji="0" lang="en-GB"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A83DAB12-1B65-0E16-E5FB-08F7E5FCCA64}"/>
              </a:ext>
            </a:extLst>
          </p:cNvPr>
          <p:cNvSpPr txBox="1"/>
          <p:nvPr/>
        </p:nvSpPr>
        <p:spPr>
          <a:xfrm rot="21175780">
            <a:off x="3598945" y="3336183"/>
            <a:ext cx="1180131" cy="2308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err="1">
                <a:ln>
                  <a:noFill/>
                </a:ln>
                <a:solidFill>
                  <a:prstClr val="black"/>
                </a:solidFill>
                <a:effectLst/>
                <a:uLnTx/>
                <a:uFillTx/>
                <a:latin typeface="Calibri" panose="020F0502020204030204"/>
                <a:ea typeface="+mn-ea"/>
                <a:cs typeface="+mn-cs"/>
              </a:rPr>
              <a:t>foid</a:t>
            </a:r>
            <a:r>
              <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rPr>
              <a:t>=1810:238972:42</a:t>
            </a:r>
            <a:endParaRPr kumimoji="0" lang="en-GB"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1FCD36D5-78F1-E512-871E-D324D5BD47AF}"/>
              </a:ext>
            </a:extLst>
          </p:cNvPr>
          <p:cNvSpPr/>
          <p:nvPr/>
        </p:nvSpPr>
        <p:spPr>
          <a:xfrm>
            <a:off x="5025192" y="2566703"/>
            <a:ext cx="349144" cy="348919"/>
          </a:xfrm>
          <a:custGeom>
            <a:avLst/>
            <a:gdLst>
              <a:gd name="connsiteX0" fmla="*/ 0 w 349144"/>
              <a:gd name="connsiteY0" fmla="*/ 57566 h 348919"/>
              <a:gd name="connsiteX1" fmla="*/ 300317 w 349144"/>
              <a:gd name="connsiteY1" fmla="*/ 21707 h 348919"/>
              <a:gd name="connsiteX2" fmla="*/ 345141 w 349144"/>
              <a:gd name="connsiteY2" fmla="*/ 348919 h 348919"/>
            </a:gdLst>
            <a:ahLst/>
            <a:cxnLst>
              <a:cxn ang="0">
                <a:pos x="connsiteX0" y="connsiteY0"/>
              </a:cxn>
              <a:cxn ang="0">
                <a:pos x="connsiteX1" y="connsiteY1"/>
              </a:cxn>
              <a:cxn ang="0">
                <a:pos x="connsiteX2" y="connsiteY2"/>
              </a:cxn>
            </a:cxnLst>
            <a:rect l="l" t="t" r="r" b="b"/>
            <a:pathLst>
              <a:path w="349144" h="348919">
                <a:moveTo>
                  <a:pt x="0" y="57566"/>
                </a:moveTo>
                <a:cubicBezTo>
                  <a:pt x="121397" y="15357"/>
                  <a:pt x="242794" y="-26852"/>
                  <a:pt x="300317" y="21707"/>
                </a:cubicBezTo>
                <a:cubicBezTo>
                  <a:pt x="357840" y="70266"/>
                  <a:pt x="351490" y="209592"/>
                  <a:pt x="345141" y="348919"/>
                </a:cubicBezTo>
              </a:path>
            </a:pathLst>
          </a:custGeom>
          <a:noFill/>
          <a:ln>
            <a:headEnd type="triangl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50A960D8-2617-5C4E-8F69-D73A3F7003EC}"/>
              </a:ext>
            </a:extLst>
          </p:cNvPr>
          <p:cNvSpPr txBox="1"/>
          <p:nvPr/>
        </p:nvSpPr>
        <p:spPr>
          <a:xfrm>
            <a:off x="5147281" y="2390663"/>
            <a:ext cx="652743"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association</a:t>
            </a:r>
            <a:endParaRPr kumimoji="0" lang="en-GB"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Box 17">
            <a:extLst>
              <a:ext uri="{FF2B5EF4-FFF2-40B4-BE49-F238E27FC236}">
                <a16:creationId xmlns:a16="http://schemas.microsoft.com/office/drawing/2014/main" id="{80EDA634-2DAB-AC62-6181-2D1B039F7899}"/>
              </a:ext>
            </a:extLst>
          </p:cNvPr>
          <p:cNvSpPr txBox="1"/>
          <p:nvPr/>
        </p:nvSpPr>
        <p:spPr>
          <a:xfrm>
            <a:off x="3927148" y="2592632"/>
            <a:ext cx="1071127"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err="1">
                <a:ln>
                  <a:noFill/>
                </a:ln>
                <a:solidFill>
                  <a:schemeClr val="bg1">
                    <a:lumMod val="50000"/>
                  </a:schemeClr>
                </a:solidFill>
                <a:effectLst/>
                <a:uLnTx/>
                <a:uFillTx/>
                <a:latin typeface="Calibri" panose="020F0502020204030204"/>
                <a:ea typeface="+mn-ea"/>
                <a:cs typeface="+mn-cs"/>
              </a:rPr>
              <a:t>foid</a:t>
            </a:r>
            <a:r>
              <a:rPr kumimoji="0" lang="en-US" sz="800" b="1" i="0" u="none" strike="noStrike" kern="1200" cap="none" spc="0" normalizeH="0" baseline="0" noProof="0" dirty="0">
                <a:ln>
                  <a:noFill/>
                </a:ln>
                <a:solidFill>
                  <a:schemeClr val="bg1">
                    <a:lumMod val="50000"/>
                  </a:schemeClr>
                </a:solidFill>
                <a:effectLst/>
                <a:uLnTx/>
                <a:uFillTx/>
                <a:latin typeface="Calibri" panose="020F0502020204030204"/>
                <a:ea typeface="+mn-ea"/>
                <a:cs typeface="+mn-cs"/>
              </a:rPr>
              <a:t>=1810:856723:11</a:t>
            </a:r>
            <a:endParaRPr kumimoji="0" lang="en-GB" sz="800" b="1" i="0" u="none" strike="noStrike" kern="1200" cap="none" spc="0" normalizeH="0" baseline="0" noProof="0" dirty="0">
              <a:ln>
                <a:noFill/>
              </a:ln>
              <a:solidFill>
                <a:schemeClr val="bg1">
                  <a:lumMod val="50000"/>
                </a:schemeClr>
              </a:solidFill>
              <a:effectLst/>
              <a:uLnTx/>
              <a:uFillTx/>
              <a:latin typeface="Calibri" panose="020F0502020204030204"/>
              <a:ea typeface="+mn-ea"/>
              <a:cs typeface="+mn-cs"/>
            </a:endParaRPr>
          </a:p>
        </p:txBody>
      </p:sp>
      <p:sp>
        <p:nvSpPr>
          <p:cNvPr id="20" name="TextBox 19">
            <a:extLst>
              <a:ext uri="{FF2B5EF4-FFF2-40B4-BE49-F238E27FC236}">
                <a16:creationId xmlns:a16="http://schemas.microsoft.com/office/drawing/2014/main" id="{1783524A-E357-A607-D07F-2FBEF89179A3}"/>
              </a:ext>
            </a:extLst>
          </p:cNvPr>
          <p:cNvSpPr txBox="1"/>
          <p:nvPr/>
        </p:nvSpPr>
        <p:spPr>
          <a:xfrm>
            <a:off x="4912190" y="3449096"/>
            <a:ext cx="1075936"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err="1">
                <a:ln>
                  <a:noFill/>
                </a:ln>
                <a:solidFill>
                  <a:prstClr val="black"/>
                </a:solidFill>
                <a:effectLst/>
                <a:uLnTx/>
                <a:uFillTx/>
                <a:latin typeface="Calibri" panose="020F0502020204030204"/>
                <a:ea typeface="+mn-ea"/>
                <a:cs typeface="+mn-cs"/>
              </a:rPr>
              <a:t>foid</a:t>
            </a:r>
            <a:r>
              <a:rPr kumimoji="0" lang="en-US" sz="800" b="1" i="0" u="none" strike="noStrike" kern="1200" cap="none" spc="0" normalizeH="0" baseline="0" noProof="0" dirty="0">
                <a:ln>
                  <a:noFill/>
                </a:ln>
                <a:solidFill>
                  <a:prstClr val="black"/>
                </a:solidFill>
                <a:effectLst/>
                <a:uLnTx/>
                <a:uFillTx/>
                <a:latin typeface="Calibri" panose="020F0502020204030204"/>
                <a:ea typeface="+mn-ea"/>
                <a:cs typeface="+mn-cs"/>
              </a:rPr>
              <a:t>=1810:856723:12</a:t>
            </a:r>
            <a:endParaRPr kumimoji="0" lang="en-GB" sz="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Freeform: Shape 20">
            <a:extLst>
              <a:ext uri="{FF2B5EF4-FFF2-40B4-BE49-F238E27FC236}">
                <a16:creationId xmlns:a16="http://schemas.microsoft.com/office/drawing/2014/main" id="{D27B8AA3-CEB0-3B43-B203-70E7C07B23C2}"/>
              </a:ext>
            </a:extLst>
          </p:cNvPr>
          <p:cNvSpPr/>
          <p:nvPr/>
        </p:nvSpPr>
        <p:spPr>
          <a:xfrm>
            <a:off x="4705585" y="3334871"/>
            <a:ext cx="354991" cy="227783"/>
          </a:xfrm>
          <a:custGeom>
            <a:avLst/>
            <a:gdLst>
              <a:gd name="connsiteX0" fmla="*/ 354991 w 354991"/>
              <a:gd name="connsiteY0" fmla="*/ 0 h 227783"/>
              <a:gd name="connsiteX1" fmla="*/ 5368 w 354991"/>
              <a:gd name="connsiteY1" fmla="*/ 197224 h 227783"/>
              <a:gd name="connsiteX2" fmla="*/ 175697 w 354991"/>
              <a:gd name="connsiteY2" fmla="*/ 224118 h 227783"/>
            </a:gdLst>
            <a:ahLst/>
            <a:cxnLst>
              <a:cxn ang="0">
                <a:pos x="connsiteX0" y="connsiteY0"/>
              </a:cxn>
              <a:cxn ang="0">
                <a:pos x="connsiteX1" y="connsiteY1"/>
              </a:cxn>
              <a:cxn ang="0">
                <a:pos x="connsiteX2" y="connsiteY2"/>
              </a:cxn>
            </a:cxnLst>
            <a:rect l="l" t="t" r="r" b="b"/>
            <a:pathLst>
              <a:path w="354991" h="227783">
                <a:moveTo>
                  <a:pt x="354991" y="0"/>
                </a:moveTo>
                <a:cubicBezTo>
                  <a:pt x="195120" y="79935"/>
                  <a:pt x="35250" y="159871"/>
                  <a:pt x="5368" y="197224"/>
                </a:cubicBezTo>
                <a:cubicBezTo>
                  <a:pt x="-24514" y="234577"/>
                  <a:pt x="75591" y="229347"/>
                  <a:pt x="175697" y="224118"/>
                </a:cubicBezTo>
              </a:path>
            </a:pathLst>
          </a:custGeom>
          <a:noFill/>
          <a:ln>
            <a:headEnd type="triangle"/>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17AB3123-3C9D-CC6E-0CA2-6AFADDDAB825}"/>
              </a:ext>
            </a:extLst>
          </p:cNvPr>
          <p:cNvSpPr txBox="1"/>
          <p:nvPr/>
        </p:nvSpPr>
        <p:spPr>
          <a:xfrm>
            <a:off x="4407833" y="3570577"/>
            <a:ext cx="652743"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rPr>
              <a:t>association</a:t>
            </a:r>
            <a:endParaRPr kumimoji="0" lang="en-GB"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B70E2F02-7BAD-F336-AD34-06335F451B28}"/>
              </a:ext>
            </a:extLst>
          </p:cNvPr>
          <p:cNvSpPr/>
          <p:nvPr/>
        </p:nvSpPr>
        <p:spPr>
          <a:xfrm>
            <a:off x="4775228" y="2473604"/>
            <a:ext cx="354246" cy="369332"/>
          </a:xfrm>
          <a:prstGeom prst="rect">
            <a:avLst/>
          </a:prstGeom>
          <a:noFill/>
          <a:ln>
            <a:solidFill>
              <a:srgbClr val="C925BD"/>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TextBox 23">
            <a:extLst>
              <a:ext uri="{FF2B5EF4-FFF2-40B4-BE49-F238E27FC236}">
                <a16:creationId xmlns:a16="http://schemas.microsoft.com/office/drawing/2014/main" id="{32DAAC75-7CB6-70FB-53EF-8056E52B17EC}"/>
              </a:ext>
            </a:extLst>
          </p:cNvPr>
          <p:cNvSpPr txBox="1"/>
          <p:nvPr/>
        </p:nvSpPr>
        <p:spPr>
          <a:xfrm>
            <a:off x="4694361" y="2275970"/>
            <a:ext cx="569643"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S-124</a:t>
            </a:r>
            <a:endParaRPr kumimoji="0" lang="en-GB"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25" name="TextBox 24">
            <a:extLst>
              <a:ext uri="{FF2B5EF4-FFF2-40B4-BE49-F238E27FC236}">
                <a16:creationId xmlns:a16="http://schemas.microsoft.com/office/drawing/2014/main" id="{C91DCF22-5ADD-CD55-9011-90811BAF0368}"/>
              </a:ext>
            </a:extLst>
          </p:cNvPr>
          <p:cNvSpPr txBox="1"/>
          <p:nvPr/>
        </p:nvSpPr>
        <p:spPr>
          <a:xfrm>
            <a:off x="1005408" y="3140115"/>
            <a:ext cx="57099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7030A0"/>
                </a:solidFill>
                <a:effectLst/>
                <a:uLnTx/>
                <a:uFillTx/>
                <a:latin typeface="Calibri" panose="020F0502020204030204"/>
                <a:ea typeface="+mn-ea"/>
                <a:cs typeface="+mn-cs"/>
              </a:rPr>
              <a:t>pick</a:t>
            </a:r>
            <a:endParaRPr kumimoji="0" lang="en-GB"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
        <p:nvSpPr>
          <p:cNvPr id="26" name="TextBox 25">
            <a:extLst>
              <a:ext uri="{FF2B5EF4-FFF2-40B4-BE49-F238E27FC236}">
                <a16:creationId xmlns:a16="http://schemas.microsoft.com/office/drawing/2014/main" id="{93F2D207-C0D6-D6D0-405F-37B8117AB72F}"/>
              </a:ext>
            </a:extLst>
          </p:cNvPr>
          <p:cNvSpPr txBox="1"/>
          <p:nvPr/>
        </p:nvSpPr>
        <p:spPr>
          <a:xfrm>
            <a:off x="2039367" y="3264430"/>
            <a:ext cx="251992"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Calibri" panose="020F0502020204030204"/>
                <a:ea typeface="+mn-ea"/>
                <a:cs typeface="+mn-cs"/>
              </a:rPr>
              <a:t>a</a:t>
            </a:r>
            <a:endParaRPr kumimoji="0" lang="en-GB" sz="11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27" name="TextBox 26">
            <a:extLst>
              <a:ext uri="{FF2B5EF4-FFF2-40B4-BE49-F238E27FC236}">
                <a16:creationId xmlns:a16="http://schemas.microsoft.com/office/drawing/2014/main" id="{5FE8461E-1079-A498-3C66-CF62811D2E67}"/>
              </a:ext>
            </a:extLst>
          </p:cNvPr>
          <p:cNvSpPr txBox="1"/>
          <p:nvPr/>
        </p:nvSpPr>
        <p:spPr>
          <a:xfrm>
            <a:off x="6091517" y="2856121"/>
            <a:ext cx="25840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Calibri" panose="020F0502020204030204"/>
                <a:ea typeface="+mn-ea"/>
                <a:cs typeface="+mn-cs"/>
              </a:rPr>
              <a:t>b</a:t>
            </a:r>
            <a:endParaRPr kumimoji="0" lang="en-GB" sz="11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28" name="TextBox 27">
            <a:extLst>
              <a:ext uri="{FF2B5EF4-FFF2-40B4-BE49-F238E27FC236}">
                <a16:creationId xmlns:a16="http://schemas.microsoft.com/office/drawing/2014/main" id="{876C3874-6759-5449-1ECC-93AD36ADD25E}"/>
              </a:ext>
            </a:extLst>
          </p:cNvPr>
          <p:cNvSpPr txBox="1"/>
          <p:nvPr/>
        </p:nvSpPr>
        <p:spPr>
          <a:xfrm>
            <a:off x="4931583" y="2551270"/>
            <a:ext cx="243978"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Calibri" panose="020F0502020204030204"/>
                <a:ea typeface="+mn-ea"/>
                <a:cs typeface="+mn-cs"/>
              </a:rPr>
              <a:t>c</a:t>
            </a:r>
            <a:endParaRPr kumimoji="0" lang="en-GB" sz="11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29" name="TextBox 28">
            <a:extLst>
              <a:ext uri="{FF2B5EF4-FFF2-40B4-BE49-F238E27FC236}">
                <a16:creationId xmlns:a16="http://schemas.microsoft.com/office/drawing/2014/main" id="{31DCE353-B380-FA24-B518-1E40970A6D91}"/>
              </a:ext>
            </a:extLst>
          </p:cNvPr>
          <p:cNvSpPr txBox="1"/>
          <p:nvPr/>
        </p:nvSpPr>
        <p:spPr>
          <a:xfrm>
            <a:off x="4917157" y="3554148"/>
            <a:ext cx="25840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Calibri" panose="020F0502020204030204"/>
                <a:ea typeface="+mn-ea"/>
                <a:cs typeface="+mn-cs"/>
              </a:rPr>
              <a:t>d</a:t>
            </a:r>
            <a:endParaRPr kumimoji="0" lang="en-GB" sz="11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30" name="TextBox 29">
            <a:extLst>
              <a:ext uri="{FF2B5EF4-FFF2-40B4-BE49-F238E27FC236}">
                <a16:creationId xmlns:a16="http://schemas.microsoft.com/office/drawing/2014/main" id="{D50E6707-C502-2965-1413-B188CD6720EC}"/>
              </a:ext>
            </a:extLst>
          </p:cNvPr>
          <p:cNvSpPr txBox="1"/>
          <p:nvPr/>
        </p:nvSpPr>
        <p:spPr>
          <a:xfrm>
            <a:off x="4599504" y="2307273"/>
            <a:ext cx="25840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00000"/>
                </a:solidFill>
                <a:effectLst/>
                <a:uLnTx/>
                <a:uFillTx/>
                <a:latin typeface="Calibri" panose="020F0502020204030204"/>
                <a:ea typeface="+mn-ea"/>
                <a:cs typeface="+mn-cs"/>
              </a:rPr>
              <a:t>e</a:t>
            </a:r>
            <a:endParaRPr kumimoji="0" lang="en-GB" sz="1100" b="1"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31" name="TextBox 30">
            <a:extLst>
              <a:ext uri="{FF2B5EF4-FFF2-40B4-BE49-F238E27FC236}">
                <a16:creationId xmlns:a16="http://schemas.microsoft.com/office/drawing/2014/main" id="{F5E25DE2-E16A-EA2F-C2FD-FCBE3FFA7FF4}"/>
              </a:ext>
            </a:extLst>
          </p:cNvPr>
          <p:cNvSpPr txBox="1"/>
          <p:nvPr/>
        </p:nvSpPr>
        <p:spPr>
          <a:xfrm>
            <a:off x="199429" y="1487603"/>
            <a:ext cx="569643"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S-101</a:t>
            </a:r>
            <a:endParaRPr kumimoji="0" lang="en-GB"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33" name="TextBox 32">
            <a:extLst>
              <a:ext uri="{FF2B5EF4-FFF2-40B4-BE49-F238E27FC236}">
                <a16:creationId xmlns:a16="http://schemas.microsoft.com/office/drawing/2014/main" id="{91087BEE-3AF8-1973-3668-F42BC71C7FA6}"/>
              </a:ext>
            </a:extLst>
          </p:cNvPr>
          <p:cNvSpPr txBox="1"/>
          <p:nvPr/>
        </p:nvSpPr>
        <p:spPr>
          <a:xfrm>
            <a:off x="3611895" y="1487602"/>
            <a:ext cx="569643"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S-101</a:t>
            </a:r>
            <a:endParaRPr kumimoji="0" lang="en-GB" sz="10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34" name="TextBox 33">
            <a:extLst>
              <a:ext uri="{FF2B5EF4-FFF2-40B4-BE49-F238E27FC236}">
                <a16:creationId xmlns:a16="http://schemas.microsoft.com/office/drawing/2014/main" id="{4AE4532D-2488-A961-4033-AF4AB2403A7C}"/>
              </a:ext>
            </a:extLst>
          </p:cNvPr>
          <p:cNvSpPr txBox="1"/>
          <p:nvPr/>
        </p:nvSpPr>
        <p:spPr>
          <a:xfrm>
            <a:off x="7387039" y="1590444"/>
            <a:ext cx="4909416" cy="203132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Pick Report must return attributes from:</a:t>
            </a:r>
          </a:p>
          <a:p>
            <a:pPr marL="342900" marR="0" lvl="0" indent="-342900" algn="l" defTabSz="914400" rtl="0" eaLnBrk="1" fontAlgn="auto" latinLnBrk="0" hangingPunct="1">
              <a:lnSpc>
                <a:spcPct val="100000"/>
              </a:lnSpc>
              <a:spcBef>
                <a:spcPts val="0"/>
              </a:spcBef>
              <a:spcAft>
                <a:spcPts val="0"/>
              </a:spcAft>
              <a:buClrTx/>
              <a:buSzTx/>
              <a:buFontTx/>
              <a:buAutoNum type="alphaL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Bridge at picked position</a:t>
            </a:r>
          </a:p>
          <a:p>
            <a:pPr marL="342900" marR="0" lvl="0" indent="-342900" algn="l" defTabSz="914400" rtl="0" eaLnBrk="1" fontAlgn="auto" latinLnBrk="0" hangingPunct="1">
              <a:lnSpc>
                <a:spcPct val="100000"/>
              </a:lnSpc>
              <a:spcBef>
                <a:spcPts val="0"/>
              </a:spcBef>
              <a:spcAft>
                <a:spcPts val="0"/>
              </a:spcAft>
              <a:buClrTx/>
              <a:buSzTx/>
              <a:buFontTx/>
              <a:buAutoNum type="alphaL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Because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foid</a:t>
            </a:r>
            <a:r>
              <a:rPr kumimoji="0" lang="en-US" sz="1800" b="0" i="0" u="none" strike="noStrike" kern="1200" cap="none" spc="0" normalizeH="0" baseline="-25000" noProof="0" dirty="0" err="1">
                <a:ln>
                  <a:noFill/>
                </a:ln>
                <a:solidFill>
                  <a:prstClr val="black"/>
                </a:solidFill>
                <a:effectLst/>
                <a:uLnTx/>
                <a:uFillTx/>
                <a:latin typeface="Calibri" panose="020F0502020204030204"/>
                <a:ea typeface="+mn-ea"/>
                <a:cs typeface="+mn-cs"/>
              </a:rPr>
              <a:t>a</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foid</a:t>
            </a:r>
            <a:r>
              <a:rPr kumimoji="0" lang="en-US" sz="1800" b="0" i="0" u="none" strike="noStrike" kern="1200" cap="none" spc="0" normalizeH="0" baseline="-25000" noProof="0" dirty="0" err="1">
                <a:ln>
                  <a:noFill/>
                </a:ln>
                <a:solidFill>
                  <a:prstClr val="black"/>
                </a:solidFill>
                <a:effectLst/>
                <a:uLnTx/>
                <a:uFillTx/>
                <a:latin typeface="Calibri" panose="020F0502020204030204"/>
                <a:ea typeface="+mn-ea"/>
                <a:cs typeface="+mn-cs"/>
              </a:rPr>
              <a:t>b</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lphaL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Because (b) is associated with (c) </a:t>
            </a:r>
          </a:p>
          <a:p>
            <a:pPr marL="342900" marR="0" lvl="0" indent="-342900" algn="l" defTabSz="914400" rtl="0" eaLnBrk="1" fontAlgn="auto" latinLnBrk="0" hangingPunct="1">
              <a:lnSpc>
                <a:spcPct val="100000"/>
              </a:lnSpc>
              <a:spcBef>
                <a:spcPts val="0"/>
              </a:spcBef>
              <a:spcAft>
                <a:spcPts val="0"/>
              </a:spcAft>
              <a:buClrTx/>
              <a:buSzTx/>
              <a:buFontTx/>
              <a:buAutoNum type="alphaL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Because (b) is associated with (d)</a:t>
            </a:r>
          </a:p>
          <a:p>
            <a:pPr marL="342900" marR="0" lvl="0" indent="-342900" algn="l" defTabSz="914400" rtl="0" eaLnBrk="1" fontAlgn="auto" latinLnBrk="0" hangingPunct="1">
              <a:lnSpc>
                <a:spcPct val="100000"/>
              </a:lnSpc>
              <a:spcBef>
                <a:spcPts val="0"/>
              </a:spcBef>
              <a:spcAft>
                <a:spcPts val="0"/>
              </a:spcAft>
              <a:buClrTx/>
              <a:buSzTx/>
              <a:buFontTx/>
              <a:buAutoNum type="alphaL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Because </a:t>
            </a: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II</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(Bridge) = referenced </a:t>
            </a:r>
            <a:r>
              <a:rPr kumimoji="0" lang="en-US" sz="18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II</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(S-124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Navwarn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Part)</a:t>
            </a:r>
          </a:p>
        </p:txBody>
      </p:sp>
      <p:sp>
        <p:nvSpPr>
          <p:cNvPr id="35" name="TextBox 34">
            <a:extLst>
              <a:ext uri="{FF2B5EF4-FFF2-40B4-BE49-F238E27FC236}">
                <a16:creationId xmlns:a16="http://schemas.microsoft.com/office/drawing/2014/main" id="{233800C7-81CF-CA19-292D-2903ED0EB6FA}"/>
              </a:ext>
            </a:extLst>
          </p:cNvPr>
          <p:cNvSpPr txBox="1"/>
          <p:nvPr/>
        </p:nvSpPr>
        <p:spPr>
          <a:xfrm>
            <a:off x="2735828" y="0"/>
            <a:ext cx="6629152" cy="93871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S-124 </a:t>
            </a:r>
            <a:r>
              <a:rPr kumimoji="0" lang="en-US" sz="1100" b="0" i="0" u="none" strike="noStrike" kern="1200" cap="none" spc="0" normalizeH="0" baseline="0" noProof="0" dirty="0" err="1">
                <a:ln>
                  <a:noFill/>
                </a:ln>
                <a:solidFill>
                  <a:prstClr val="black"/>
                </a:solidFill>
                <a:effectLst/>
                <a:uLnTx/>
                <a:uFillTx/>
                <a:latin typeface="Consolas" panose="020B0609020204030204" pitchFamily="49" charset="0"/>
                <a:ea typeface="+mn-ea"/>
                <a:cs typeface="+mn-cs"/>
              </a:rPr>
              <a:t>NavwarnPart</a:t>
            </a: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 (e):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     </a:t>
            </a:r>
          </a:p>
          <a:p>
            <a:pPr lvl="0">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   </a:t>
            </a:r>
            <a:r>
              <a:rPr lang="en-US" sz="1100" dirty="0" err="1"/>
              <a:t>featureReference.interoperabilityIdentifier</a:t>
            </a:r>
            <a:r>
              <a:rPr lang="en-US" sz="1100" i="1" dirty="0"/>
              <a:t> </a:t>
            </a: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=urn:mrn:iho:DK00:00365:856723:11</a:t>
            </a:r>
          </a:p>
          <a:p>
            <a:pPr lvl="0">
              <a:defRPr/>
            </a:pPr>
            <a:r>
              <a:rPr lang="en-US" sz="1100" dirty="0">
                <a:solidFill>
                  <a:prstClr val="black"/>
                </a:solidFill>
                <a:latin typeface="Consolas" panose="020B0609020204030204" pitchFamily="49" charset="0"/>
              </a:rPr>
              <a:t>   </a:t>
            </a:r>
            <a:r>
              <a:rPr lang="en-US" sz="1100" dirty="0" err="1"/>
              <a:t>featureReference.interoperabilityIdentifier</a:t>
            </a:r>
            <a:r>
              <a:rPr lang="en-US" sz="1100" i="1" dirty="0"/>
              <a:t> </a:t>
            </a:r>
            <a:r>
              <a:rPr lang="en-US" sz="1100" dirty="0">
                <a:solidFill>
                  <a:prstClr val="black"/>
                </a:solidFill>
                <a:latin typeface="Consolas" panose="020B0609020204030204" pitchFamily="49" charset="0"/>
              </a:rPr>
              <a:t>=urn:mrn:iho:DK00:00365:238973:42</a:t>
            </a:r>
          </a:p>
          <a:p>
            <a:pPr lvl="0">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a:t>
            </a:r>
            <a:endParaRPr kumimoji="0" lang="en-GB"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36" name="Freeform: Shape 35">
            <a:extLst>
              <a:ext uri="{FF2B5EF4-FFF2-40B4-BE49-F238E27FC236}">
                <a16:creationId xmlns:a16="http://schemas.microsoft.com/office/drawing/2014/main" id="{60FCDE25-AAD5-3EC2-C8D1-E6A214CE2540}"/>
              </a:ext>
            </a:extLst>
          </p:cNvPr>
          <p:cNvSpPr/>
          <p:nvPr/>
        </p:nvSpPr>
        <p:spPr>
          <a:xfrm>
            <a:off x="4979894" y="820271"/>
            <a:ext cx="767814" cy="1662953"/>
          </a:xfrm>
          <a:custGeom>
            <a:avLst/>
            <a:gdLst>
              <a:gd name="connsiteX0" fmla="*/ 147918 w 767814"/>
              <a:gd name="connsiteY0" fmla="*/ 1662953 h 1662953"/>
              <a:gd name="connsiteX1" fmla="*/ 766482 w 767814"/>
              <a:gd name="connsiteY1" fmla="*/ 1048871 h 1662953"/>
              <a:gd name="connsiteX2" fmla="*/ 0 w 767814"/>
              <a:gd name="connsiteY2" fmla="*/ 0 h 1662953"/>
            </a:gdLst>
            <a:ahLst/>
            <a:cxnLst>
              <a:cxn ang="0">
                <a:pos x="connsiteX0" y="connsiteY0"/>
              </a:cxn>
              <a:cxn ang="0">
                <a:pos x="connsiteX1" y="connsiteY1"/>
              </a:cxn>
              <a:cxn ang="0">
                <a:pos x="connsiteX2" y="connsiteY2"/>
              </a:cxn>
            </a:cxnLst>
            <a:rect l="l" t="t" r="r" b="b"/>
            <a:pathLst>
              <a:path w="767814" h="1662953">
                <a:moveTo>
                  <a:pt x="147918" y="1662953"/>
                </a:moveTo>
                <a:cubicBezTo>
                  <a:pt x="469526" y="1494491"/>
                  <a:pt x="791135" y="1326030"/>
                  <a:pt x="766482" y="1048871"/>
                </a:cubicBezTo>
                <a:cubicBezTo>
                  <a:pt x="741829" y="771712"/>
                  <a:pt x="370914" y="385856"/>
                  <a:pt x="0" y="0"/>
                </a:cubicBezTo>
              </a:path>
            </a:pathLst>
          </a:custGeom>
          <a:noFill/>
          <a:ln>
            <a:solidFill>
              <a:schemeClr val="accent6">
                <a:lumMod val="50000"/>
              </a:schemeClr>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TextBox 36">
            <a:extLst>
              <a:ext uri="{FF2B5EF4-FFF2-40B4-BE49-F238E27FC236}">
                <a16:creationId xmlns:a16="http://schemas.microsoft.com/office/drawing/2014/main" id="{0E92EF7B-7EB2-B97C-48CC-58DA319D9195}"/>
              </a:ext>
            </a:extLst>
          </p:cNvPr>
          <p:cNvSpPr txBox="1"/>
          <p:nvPr/>
        </p:nvSpPr>
        <p:spPr>
          <a:xfrm>
            <a:off x="2451198" y="5344815"/>
            <a:ext cx="3245874"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S-101 Bridge (a) and (b):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    II=urn:mrn:iho:DK00:00365:856723:11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a:t>
            </a:r>
            <a:endParaRPr kumimoji="0" lang="en-GB"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38" name="Freeform: Shape 37">
            <a:extLst>
              <a:ext uri="{FF2B5EF4-FFF2-40B4-BE49-F238E27FC236}">
                <a16:creationId xmlns:a16="http://schemas.microsoft.com/office/drawing/2014/main" id="{89E262F8-98BC-639F-E111-D5E2825A2242}"/>
              </a:ext>
            </a:extLst>
          </p:cNvPr>
          <p:cNvSpPr/>
          <p:nvPr/>
        </p:nvSpPr>
        <p:spPr>
          <a:xfrm>
            <a:off x="5567082" y="3222813"/>
            <a:ext cx="770220" cy="2675301"/>
          </a:xfrm>
          <a:custGeom>
            <a:avLst/>
            <a:gdLst>
              <a:gd name="connsiteX0" fmla="*/ 735106 w 770220"/>
              <a:gd name="connsiteY0" fmla="*/ 0 h 2675301"/>
              <a:gd name="connsiteX1" fmla="*/ 685800 w 770220"/>
              <a:gd name="connsiteY1" fmla="*/ 2294964 h 2675301"/>
              <a:gd name="connsiteX2" fmla="*/ 0 w 770220"/>
              <a:gd name="connsiteY2" fmla="*/ 2649070 h 2675301"/>
            </a:gdLst>
            <a:ahLst/>
            <a:cxnLst>
              <a:cxn ang="0">
                <a:pos x="connsiteX0" y="connsiteY0"/>
              </a:cxn>
              <a:cxn ang="0">
                <a:pos x="connsiteX1" y="connsiteY1"/>
              </a:cxn>
              <a:cxn ang="0">
                <a:pos x="connsiteX2" y="connsiteY2"/>
              </a:cxn>
            </a:cxnLst>
            <a:rect l="l" t="t" r="r" b="b"/>
            <a:pathLst>
              <a:path w="770220" h="2675301">
                <a:moveTo>
                  <a:pt x="735106" y="0"/>
                </a:moveTo>
                <a:cubicBezTo>
                  <a:pt x="771712" y="926726"/>
                  <a:pt x="808318" y="1853452"/>
                  <a:pt x="685800" y="2294964"/>
                </a:cubicBezTo>
                <a:cubicBezTo>
                  <a:pt x="563282" y="2736476"/>
                  <a:pt x="281641" y="2692773"/>
                  <a:pt x="0" y="2649070"/>
                </a:cubicBezTo>
              </a:path>
            </a:pathLst>
          </a:custGeom>
          <a:noFill/>
          <a:ln>
            <a:solidFill>
              <a:schemeClr val="accent6">
                <a:lumMod val="50000"/>
              </a:schemeClr>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80493F00-12E7-1C9A-0A51-CE56ECED23A0}"/>
              </a:ext>
            </a:extLst>
          </p:cNvPr>
          <p:cNvSpPr txBox="1"/>
          <p:nvPr/>
        </p:nvSpPr>
        <p:spPr>
          <a:xfrm>
            <a:off x="240215" y="681151"/>
            <a:ext cx="3245874"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S-101 </a:t>
            </a:r>
            <a:r>
              <a:rPr kumimoji="0" lang="en-US" sz="1100" b="0" i="0" u="none" strike="noStrike" kern="1200" cap="none" spc="0" normalizeH="0" baseline="0" noProof="0" dirty="0" err="1">
                <a:ln>
                  <a:noFill/>
                </a:ln>
                <a:solidFill>
                  <a:prstClr val="black"/>
                </a:solidFill>
                <a:effectLst/>
                <a:uLnTx/>
                <a:uFillTx/>
                <a:latin typeface="Consolas" panose="020B0609020204030204" pitchFamily="49" charset="0"/>
                <a:ea typeface="+mn-ea"/>
                <a:cs typeface="+mn-cs"/>
              </a:rPr>
              <a:t>AllRoundLight</a:t>
            </a: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 (c):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    II=urn:mrn:iho:DK00:00365:238973:42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a:t>
            </a:r>
            <a:endParaRPr kumimoji="0" lang="en-GB" sz="11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
        <p:nvSpPr>
          <p:cNvPr id="11" name="Freeform: Shape 10">
            <a:extLst>
              <a:ext uri="{FF2B5EF4-FFF2-40B4-BE49-F238E27FC236}">
                <a16:creationId xmlns:a16="http://schemas.microsoft.com/office/drawing/2014/main" id="{259C8A08-3E8A-8847-232F-C25D0B2F9B0E}"/>
              </a:ext>
            </a:extLst>
          </p:cNvPr>
          <p:cNvSpPr/>
          <p:nvPr/>
        </p:nvSpPr>
        <p:spPr>
          <a:xfrm>
            <a:off x="1324155" y="1268083"/>
            <a:ext cx="3597215" cy="1345721"/>
          </a:xfrm>
          <a:custGeom>
            <a:avLst/>
            <a:gdLst>
              <a:gd name="csX0" fmla="*/ 3597215 w 3597215"/>
              <a:gd name="csY0" fmla="*/ 1345721 h 1345721"/>
              <a:gd name="csX1" fmla="*/ 711679 w 3597215"/>
              <a:gd name="csY1" fmla="*/ 944592 h 1345721"/>
              <a:gd name="csX2" fmla="*/ 0 w 3597215"/>
              <a:gd name="csY2" fmla="*/ 0 h 1345721"/>
            </a:gdLst>
            <a:ahLst/>
            <a:cxnLst>
              <a:cxn ang="0">
                <a:pos x="csX0" y="csY0"/>
              </a:cxn>
              <a:cxn ang="0">
                <a:pos x="csX1" y="csY1"/>
              </a:cxn>
              <a:cxn ang="0">
                <a:pos x="csX2" y="csY2"/>
              </a:cxn>
            </a:cxnLst>
            <a:rect l="l" t="t" r="r" b="b"/>
            <a:pathLst>
              <a:path w="3597215" h="1345721">
                <a:moveTo>
                  <a:pt x="3597215" y="1345721"/>
                </a:moveTo>
                <a:cubicBezTo>
                  <a:pt x="2454215" y="1257300"/>
                  <a:pt x="1311215" y="1168879"/>
                  <a:pt x="711679" y="944592"/>
                </a:cubicBezTo>
                <a:cubicBezTo>
                  <a:pt x="112143" y="720305"/>
                  <a:pt x="56071" y="360152"/>
                  <a:pt x="0" y="0"/>
                </a:cubicBezTo>
              </a:path>
            </a:pathLst>
          </a:custGeom>
          <a:noFill/>
          <a:ln>
            <a:solidFill>
              <a:schemeClr val="accent6">
                <a:lumMod val="50000"/>
              </a:schemeClr>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Freeform: Shape 31">
            <a:extLst>
              <a:ext uri="{FF2B5EF4-FFF2-40B4-BE49-F238E27FC236}">
                <a16:creationId xmlns:a16="http://schemas.microsoft.com/office/drawing/2014/main" id="{8D32B15A-1A3B-83B7-5BCD-9AAEEC16EA2A}"/>
              </a:ext>
            </a:extLst>
          </p:cNvPr>
          <p:cNvSpPr/>
          <p:nvPr/>
        </p:nvSpPr>
        <p:spPr>
          <a:xfrm>
            <a:off x="1339313" y="3793881"/>
            <a:ext cx="1201664" cy="2026627"/>
          </a:xfrm>
          <a:custGeom>
            <a:avLst/>
            <a:gdLst>
              <a:gd name="csX0" fmla="*/ 405960 w 1201664"/>
              <a:gd name="csY0" fmla="*/ 0 h 2026627"/>
              <a:gd name="csX1" fmla="*/ 36683 w 1201664"/>
              <a:gd name="csY1" fmla="*/ 1490296 h 2026627"/>
              <a:gd name="csX2" fmla="*/ 1201664 w 1201664"/>
              <a:gd name="csY2" fmla="*/ 2026627 h 2026627"/>
            </a:gdLst>
            <a:ahLst/>
            <a:cxnLst>
              <a:cxn ang="0">
                <a:pos x="csX0" y="csY0"/>
              </a:cxn>
              <a:cxn ang="0">
                <a:pos x="csX1" y="csY1"/>
              </a:cxn>
              <a:cxn ang="0">
                <a:pos x="csX2" y="csY2"/>
              </a:cxn>
            </a:cxnLst>
            <a:rect l="l" t="t" r="r" b="b"/>
            <a:pathLst>
              <a:path w="1201664" h="2026627">
                <a:moveTo>
                  <a:pt x="405960" y="0"/>
                </a:moveTo>
                <a:cubicBezTo>
                  <a:pt x="155013" y="576262"/>
                  <a:pt x="-95934" y="1152525"/>
                  <a:pt x="36683" y="1490296"/>
                </a:cubicBezTo>
                <a:cubicBezTo>
                  <a:pt x="169300" y="1828067"/>
                  <a:pt x="685482" y="1927347"/>
                  <a:pt x="1201664" y="2026627"/>
                </a:cubicBezTo>
              </a:path>
            </a:pathLst>
          </a:custGeom>
          <a:noFill/>
          <a:ln>
            <a:solidFill>
              <a:schemeClr val="accent6">
                <a:lumMod val="50000"/>
              </a:schemeClr>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2573283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B8EEE-54AB-1516-8757-3729AB1930B2}"/>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5B3A606D-877E-BC75-E6E9-9390C7AF83A4}"/>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3530440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4DED2-A1A2-CF1F-339C-390A730FF2C7}"/>
              </a:ext>
            </a:extLst>
          </p:cNvPr>
          <p:cNvSpPr>
            <a:spLocks noGrp="1"/>
          </p:cNvSpPr>
          <p:nvPr>
            <p:ph type="title"/>
          </p:nvPr>
        </p:nvSpPr>
        <p:spPr/>
        <p:txBody>
          <a:bodyPr/>
          <a:lstStyle/>
          <a:p>
            <a:r>
              <a:rPr lang="en-GB" dirty="0"/>
              <a:t>S-98 Inputs</a:t>
            </a:r>
          </a:p>
        </p:txBody>
      </p:sp>
      <p:sp>
        <p:nvSpPr>
          <p:cNvPr id="3" name="Content Placeholder 2">
            <a:extLst>
              <a:ext uri="{FF2B5EF4-FFF2-40B4-BE49-F238E27FC236}">
                <a16:creationId xmlns:a16="http://schemas.microsoft.com/office/drawing/2014/main" id="{829E7E81-CFA1-46FE-7C7C-3EB4CE0E35D3}"/>
              </a:ext>
            </a:extLst>
          </p:cNvPr>
          <p:cNvSpPr>
            <a:spLocks noGrp="1"/>
          </p:cNvSpPr>
          <p:nvPr>
            <p:ph idx="1"/>
          </p:nvPr>
        </p:nvSpPr>
        <p:spPr>
          <a:xfrm>
            <a:off x="1052700" y="1530425"/>
            <a:ext cx="10086600" cy="4351338"/>
          </a:xfrm>
        </p:spPr>
        <p:txBody>
          <a:bodyPr>
            <a:normAutofit/>
          </a:bodyPr>
          <a:lstStyle/>
          <a:p>
            <a:r>
              <a:rPr lang="en-GB" sz="4000" dirty="0"/>
              <a:t>Comment Sheets</a:t>
            </a:r>
          </a:p>
          <a:p>
            <a:endParaRPr lang="en-GB" sz="4000" dirty="0"/>
          </a:p>
          <a:p>
            <a:pPr lvl="1"/>
            <a:r>
              <a:rPr lang="en-GB" sz="3600" dirty="0"/>
              <a:t>OSI</a:t>
            </a:r>
          </a:p>
          <a:p>
            <a:pPr lvl="2"/>
            <a:r>
              <a:rPr lang="en-GB" sz="3200" dirty="0"/>
              <a:t>Also, 12.5.3 – is it necessary</a:t>
            </a:r>
          </a:p>
          <a:p>
            <a:pPr lvl="1"/>
            <a:r>
              <a:rPr lang="en-GB" sz="3600" dirty="0"/>
              <a:t>Sperry Marine</a:t>
            </a:r>
          </a:p>
          <a:p>
            <a:pPr lvl="1"/>
            <a:r>
              <a:rPr lang="en-GB" sz="3600" dirty="0"/>
              <a:t>ESRI [marked up v2.4.0]</a:t>
            </a:r>
          </a:p>
        </p:txBody>
      </p:sp>
    </p:spTree>
    <p:extLst>
      <p:ext uri="{BB962C8B-B14F-4D97-AF65-F5344CB8AC3E}">
        <p14:creationId xmlns:p14="http://schemas.microsoft.com/office/powerpoint/2010/main" val="10372023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061A0-2147-ABE8-1C25-C3D31EEB93FC}"/>
              </a:ext>
            </a:extLst>
          </p:cNvPr>
          <p:cNvSpPr>
            <a:spLocks noGrp="1"/>
          </p:cNvSpPr>
          <p:nvPr>
            <p:ph type="title"/>
          </p:nvPr>
        </p:nvSpPr>
        <p:spPr/>
        <p:txBody>
          <a:bodyPr/>
          <a:lstStyle/>
          <a:p>
            <a:r>
              <a:rPr lang="en-US" dirty="0"/>
              <a:t>Testing multiple product specifications</a:t>
            </a:r>
            <a:endParaRPr lang="en-GB" dirty="0"/>
          </a:p>
        </p:txBody>
      </p:sp>
      <p:pic>
        <p:nvPicPr>
          <p:cNvPr id="5" name="Picture 4" descr="A screenshot of a computer&#10;&#10;AI-generated content may be incorrect.">
            <a:extLst>
              <a:ext uri="{FF2B5EF4-FFF2-40B4-BE49-F238E27FC236}">
                <a16:creationId xmlns:a16="http://schemas.microsoft.com/office/drawing/2014/main" id="{540163B6-2A30-219E-E7FA-D071FB79590C}"/>
              </a:ext>
            </a:extLst>
          </p:cNvPr>
          <p:cNvPicPr>
            <a:picLocks noChangeAspect="1"/>
          </p:cNvPicPr>
          <p:nvPr/>
        </p:nvPicPr>
        <p:blipFill>
          <a:blip r:embed="rId2"/>
          <a:srcRect l="39426" t="15466" r="25653" b="37955"/>
          <a:stretch>
            <a:fillRect/>
          </a:stretch>
        </p:blipFill>
        <p:spPr>
          <a:xfrm>
            <a:off x="6563360" y="1846241"/>
            <a:ext cx="5482336" cy="4814655"/>
          </a:xfrm>
          <a:prstGeom prst="rect">
            <a:avLst/>
          </a:prstGeom>
        </p:spPr>
      </p:pic>
      <p:sp>
        <p:nvSpPr>
          <p:cNvPr id="6" name="TextBox 5">
            <a:extLst>
              <a:ext uri="{FF2B5EF4-FFF2-40B4-BE49-F238E27FC236}">
                <a16:creationId xmlns:a16="http://schemas.microsoft.com/office/drawing/2014/main" id="{1EE75EED-9914-2F47-37C8-802A04AF7066}"/>
              </a:ext>
            </a:extLst>
          </p:cNvPr>
          <p:cNvSpPr txBox="1"/>
          <p:nvPr/>
        </p:nvSpPr>
        <p:spPr>
          <a:xfrm>
            <a:off x="703072" y="2495296"/>
            <a:ext cx="4219297" cy="1200329"/>
          </a:xfrm>
          <a:prstGeom prst="rect">
            <a:avLst/>
          </a:prstGeom>
          <a:noFill/>
        </p:spPr>
        <p:txBody>
          <a:bodyPr wrap="none" rtlCol="0">
            <a:spAutoFit/>
          </a:bodyPr>
          <a:lstStyle/>
          <a:p>
            <a:r>
              <a:rPr lang="en-US" dirty="0"/>
              <a:t>Multi dataset test (1</a:t>
            </a:r>
            <a:r>
              <a:rPr lang="en-US" baseline="30000" dirty="0"/>
              <a:t>st</a:t>
            </a:r>
            <a:r>
              <a:rPr lang="en-US" dirty="0"/>
              <a:t> version)</a:t>
            </a:r>
          </a:p>
          <a:p>
            <a:pPr marL="285750" indent="-285750">
              <a:buFont typeface="Arial" panose="020B0604020202020204" pitchFamily="34" charset="0"/>
              <a:buChar char="•"/>
            </a:pPr>
            <a:r>
              <a:rPr lang="en-US" dirty="0"/>
              <a:t>4 datasets</a:t>
            </a:r>
          </a:p>
          <a:p>
            <a:pPr marL="285750" indent="-285750">
              <a:buFont typeface="Arial" panose="020B0604020202020204" pitchFamily="34" charset="0"/>
              <a:buChar char="•"/>
            </a:pPr>
            <a:r>
              <a:rPr lang="en-US" dirty="0"/>
              <a:t>4 feature catalogues, 2.5 2.6 2.7 and 2.8</a:t>
            </a:r>
          </a:p>
          <a:p>
            <a:pPr marL="285750" indent="-285750">
              <a:buFont typeface="Arial" panose="020B0604020202020204" pitchFamily="34" charset="0"/>
              <a:buChar char="•"/>
            </a:pPr>
            <a:r>
              <a:rPr lang="en-US" dirty="0"/>
              <a:t>Landmarks are defined in FC versions</a:t>
            </a:r>
            <a:endParaRPr lang="en-GB" dirty="0"/>
          </a:p>
        </p:txBody>
      </p:sp>
    </p:spTree>
    <p:extLst>
      <p:ext uri="{BB962C8B-B14F-4D97-AF65-F5344CB8AC3E}">
        <p14:creationId xmlns:p14="http://schemas.microsoft.com/office/powerpoint/2010/main" val="15755764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66868-325F-CF9E-43A5-9921CAB6FDD8}"/>
              </a:ext>
            </a:extLst>
          </p:cNvPr>
          <p:cNvSpPr>
            <a:spLocks noGrp="1"/>
          </p:cNvSpPr>
          <p:nvPr>
            <p:ph type="title"/>
          </p:nvPr>
        </p:nvSpPr>
        <p:spPr/>
        <p:txBody>
          <a:bodyPr/>
          <a:lstStyle/>
          <a:p>
            <a:r>
              <a:rPr lang="en-GB" dirty="0"/>
              <a:t>Other Inputs</a:t>
            </a:r>
          </a:p>
        </p:txBody>
      </p:sp>
      <p:sp>
        <p:nvSpPr>
          <p:cNvPr id="3" name="Content Placeholder 2">
            <a:extLst>
              <a:ext uri="{FF2B5EF4-FFF2-40B4-BE49-F238E27FC236}">
                <a16:creationId xmlns:a16="http://schemas.microsoft.com/office/drawing/2014/main" id="{0B9EE054-F54B-BEC7-CD7A-488ADB6FF42F}"/>
              </a:ext>
            </a:extLst>
          </p:cNvPr>
          <p:cNvSpPr>
            <a:spLocks noGrp="1"/>
          </p:cNvSpPr>
          <p:nvPr>
            <p:ph idx="1"/>
          </p:nvPr>
        </p:nvSpPr>
        <p:spPr/>
        <p:txBody>
          <a:bodyPr/>
          <a:lstStyle/>
          <a:p>
            <a:r>
              <a:rPr lang="en-GB" dirty="0"/>
              <a:t>BS E-Nav Inputs</a:t>
            </a:r>
          </a:p>
          <a:p>
            <a:r>
              <a:rPr lang="en-GB" dirty="0"/>
              <a:t>UKHO Paper, S-104 naming</a:t>
            </a:r>
          </a:p>
        </p:txBody>
      </p:sp>
    </p:spTree>
    <p:extLst>
      <p:ext uri="{BB962C8B-B14F-4D97-AF65-F5344CB8AC3E}">
        <p14:creationId xmlns:p14="http://schemas.microsoft.com/office/powerpoint/2010/main" val="29118217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713A5-83F1-2466-12AE-70B5C7AD61A1}"/>
              </a:ext>
            </a:extLst>
          </p:cNvPr>
          <p:cNvSpPr>
            <a:spLocks noGrp="1"/>
          </p:cNvSpPr>
          <p:nvPr>
            <p:ph type="title"/>
          </p:nvPr>
        </p:nvSpPr>
        <p:spPr>
          <a:xfrm>
            <a:off x="182880" y="346223"/>
            <a:ext cx="10515600" cy="1325563"/>
          </a:xfrm>
        </p:spPr>
        <p:txBody>
          <a:bodyPr/>
          <a:lstStyle/>
          <a:p>
            <a:r>
              <a:rPr lang="en-GB" dirty="0"/>
              <a:t>BS E-Nav inputs</a:t>
            </a:r>
          </a:p>
        </p:txBody>
      </p:sp>
      <p:sp>
        <p:nvSpPr>
          <p:cNvPr id="4" name="Rectangle 1">
            <a:extLst>
              <a:ext uri="{FF2B5EF4-FFF2-40B4-BE49-F238E27FC236}">
                <a16:creationId xmlns:a16="http://schemas.microsoft.com/office/drawing/2014/main" id="{2D38BA50-56B4-9ED8-821F-5657FCC71293}"/>
              </a:ext>
            </a:extLst>
          </p:cNvPr>
          <p:cNvSpPr>
            <a:spLocks noChangeArrowheads="1"/>
          </p:cNvSpPr>
          <p:nvPr/>
        </p:nvSpPr>
        <p:spPr bwMode="auto">
          <a:xfrm>
            <a:off x="588180" y="1513379"/>
            <a:ext cx="9705000" cy="458587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42424"/>
                </a:solidFill>
                <a:effectLst/>
                <a:latin typeface="Calibri" panose="020F0502020204030204" pitchFamily="34" charset="0"/>
                <a:cs typeface="Calibri" panose="020F0502020204030204" pitchFamily="34" charset="0"/>
              </a:rPr>
              <a:t> </a:t>
            </a:r>
            <a:endParaRPr kumimoji="0" lang="en-US" altLang="en-US" sz="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400" b="0" i="0" u="none" strike="noStrike" cap="none" normalizeH="0" baseline="0" dirty="0">
                <a:ln>
                  <a:noFill/>
                </a:ln>
                <a:solidFill>
                  <a:srgbClr val="242424"/>
                </a:solidFill>
                <a:effectLst/>
                <a:latin typeface="Calibri" panose="020F0502020204030204" pitchFamily="34" charset="0"/>
                <a:cs typeface="Calibri" panose="020F0502020204030204" pitchFamily="34" charset="0"/>
              </a:rPr>
              <a:t>Why is horizontal datum is not included in S-98 </a:t>
            </a:r>
            <a:r>
              <a:rPr kumimoji="0" lang="en-US" altLang="en-US" sz="1400" b="1" i="0" u="none" strike="noStrike" cap="none" normalizeH="0" baseline="0" dirty="0">
                <a:ln>
                  <a:noFill/>
                </a:ln>
                <a:solidFill>
                  <a:srgbClr val="242424"/>
                </a:solidFill>
                <a:effectLst/>
                <a:latin typeface="Calibri" panose="020F0502020204030204" pitchFamily="34" charset="0"/>
                <a:cs typeface="Calibri" panose="020F0502020204030204" pitchFamily="34" charset="0"/>
              </a:rPr>
              <a:t>D-1.2 Constraints on input data</a:t>
            </a:r>
            <a:r>
              <a:rPr kumimoji="0" lang="en-US" altLang="en-US" sz="1400" b="0" i="0" u="none" strike="noStrike" cap="none" normalizeH="0" baseline="0" dirty="0">
                <a:ln>
                  <a:noFill/>
                </a:ln>
                <a:solidFill>
                  <a:srgbClr val="242424"/>
                </a:solidFill>
                <a:effectLst/>
                <a:latin typeface="Calibri" panose="020F0502020204030204" pitchFamily="34" charset="0"/>
                <a:cs typeface="Calibri" panose="020F0502020204030204" pitchFamily="34" charset="0"/>
              </a:rPr>
              <a:t> and whether it should be:</a:t>
            </a:r>
            <a:endParaRPr kumimoji="0" lang="en-US" altLang="en-US" sz="1400" b="0" i="0" u="none" strike="noStrike" cap="none" normalizeH="0" baseline="0" dirty="0">
              <a:ln>
                <a:noFill/>
              </a:ln>
              <a:solidFill>
                <a:srgbClr val="242424"/>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42424"/>
                </a:solidFill>
                <a:effectLst/>
                <a:latin typeface="Calibri" panose="020F0502020204030204" pitchFamily="34" charset="0"/>
                <a:cs typeface="Calibri" panose="020F0502020204030204" pitchFamily="34" charset="0"/>
              </a:rPr>
              <a:t>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B050"/>
                </a:solidFill>
                <a:effectLst/>
                <a:latin typeface="Calibri" panose="020F0502020204030204" pitchFamily="34" charset="0"/>
                <a:cs typeface="Calibri" panose="020F0502020204030204" pitchFamily="34" charset="0"/>
              </a:rPr>
              <a:t>“WLA must not be applied unless the S-102 and S-104 features are on the same vertical </a:t>
            </a:r>
            <a:r>
              <a:rPr kumimoji="0" lang="en-US" altLang="en-US" sz="1400" b="0" i="0" u="none" strike="noStrike" cap="none" normalizeH="0" baseline="0" dirty="0">
                <a:ln>
                  <a:noFill/>
                </a:ln>
                <a:solidFill>
                  <a:srgbClr val="FF0000"/>
                </a:solidFill>
                <a:effectLst/>
                <a:latin typeface="Calibri" panose="020F0502020204030204" pitchFamily="34" charset="0"/>
                <a:cs typeface="Calibri" panose="020F0502020204030204" pitchFamily="34" charset="0"/>
              </a:rPr>
              <a:t>or </a:t>
            </a:r>
            <a:r>
              <a:rPr kumimoji="0" lang="en-US" altLang="en-US" sz="1400" b="1" i="0" u="none" strike="noStrike" cap="none" normalizeH="0" baseline="0" dirty="0">
                <a:ln>
                  <a:noFill/>
                </a:ln>
                <a:solidFill>
                  <a:srgbClr val="FF0000"/>
                </a:solidFill>
                <a:effectLst/>
                <a:latin typeface="Calibri" panose="020F0502020204030204" pitchFamily="34" charset="0"/>
                <a:cs typeface="Calibri" panose="020F0502020204030204" pitchFamily="34" charset="0"/>
              </a:rPr>
              <a:t>[and?] </a:t>
            </a:r>
            <a:r>
              <a:rPr kumimoji="0" lang="en-US" altLang="en-US" sz="1400" b="0" i="0" u="none" strike="noStrike" cap="none" normalizeH="0" baseline="0" dirty="0">
                <a:ln>
                  <a:noFill/>
                </a:ln>
                <a:solidFill>
                  <a:srgbClr val="FF0000"/>
                </a:solidFill>
                <a:effectLst/>
                <a:latin typeface="Calibri" panose="020F0502020204030204" pitchFamily="34" charset="0"/>
                <a:cs typeface="Calibri" panose="020F0502020204030204" pitchFamily="34" charset="0"/>
              </a:rPr>
              <a:t>horizontal</a:t>
            </a:r>
            <a:r>
              <a:rPr kumimoji="0" lang="en-US" altLang="en-US" sz="1400" b="0" i="0" u="none" strike="noStrike" cap="none" normalizeH="0" baseline="0" dirty="0">
                <a:ln>
                  <a:noFill/>
                </a:ln>
                <a:solidFill>
                  <a:srgbClr val="00B050"/>
                </a:solidFill>
                <a:effectLst/>
                <a:latin typeface="Calibri" panose="020F0502020204030204" pitchFamily="34" charset="0"/>
                <a:cs typeface="Calibri" panose="020F0502020204030204" pitchFamily="34" charset="0"/>
              </a:rPr>
              <a:t> datum. If the S-102 and S-104 features are not on the same vertical datum then an indication “Incompatible vertical datums” must be given to the user.”</a:t>
            </a:r>
            <a:endParaRPr kumimoji="0" lang="en-US" altLang="en-US" sz="1400" b="0"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rgbClr val="242424"/>
                </a:solidFill>
                <a:effectLst/>
                <a:latin typeface="Calibri" panose="020F0502020204030204" pitchFamily="34" charset="0"/>
                <a:cs typeface="Calibri" panose="020F0502020204030204" pitchFamily="34" charset="0"/>
              </a:rPr>
              <a:t>This was raised as different horizonal CRS’s are allowed in S-104 and S-102, which has been causing issues when viewed on the ECDIS (Furuno). </a:t>
            </a:r>
            <a:endParaRPr kumimoji="0" lang="en-US" altLang="en-US" sz="1400" b="0"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rgbClr val="242424"/>
                </a:solidFill>
                <a:effectLst/>
                <a:latin typeface="Calibri" panose="020F0502020204030204" pitchFamily="34" charset="0"/>
                <a:cs typeface="Calibri" panose="020F0502020204030204" pitchFamily="34" charset="0"/>
              </a:rPr>
              <a:t>I am pretty sure that you are going to say that this was requested by S-102 and S-104, so I presume that it needs to go back to those PTs as feedback.  I have attached the slides from Furuno, they are having issues with the S-102 and S-104 not agreeing (see slides)</a:t>
            </a:r>
            <a:endParaRPr lang="en-US" altLang="en-US" sz="1400" dirty="0"/>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rgbClr val="242424"/>
                </a:solidFill>
                <a:effectLst/>
                <a:latin typeface="Calibri" panose="020F0502020204030204" pitchFamily="34" charset="0"/>
                <a:cs typeface="Calibri" panose="020F0502020204030204" pitchFamily="34" charset="0"/>
              </a:rPr>
              <a:t>If this cannot be stopped perhaps there can be a statement in the Data Constraints section or C-165 saying don’t use different horizontal CRS’s for S-102 and S-104.</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42424"/>
                </a:solidFill>
                <a:effectLst/>
                <a:latin typeface="Calibri" panose="020F0502020204030204" pitchFamily="34" charset="0"/>
                <a:cs typeface="Calibri" panose="020F0502020204030204" pitchFamily="34" charset="0"/>
              </a:rPr>
              <a:t>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400" b="0" i="0" u="none" strike="noStrike" cap="none" normalizeH="0" baseline="0" dirty="0">
                <a:ln>
                  <a:noFill/>
                </a:ln>
                <a:solidFill>
                  <a:srgbClr val="242424"/>
                </a:solidFill>
                <a:effectLst/>
                <a:latin typeface="Calibri" panose="020F0502020204030204" pitchFamily="34" charset="0"/>
                <a:cs typeface="Calibri" panose="020F0502020204030204" pitchFamily="34" charset="0"/>
              </a:rPr>
              <a:t>Question over why </a:t>
            </a:r>
            <a:r>
              <a:rPr kumimoji="0" lang="en-US" altLang="en-US" sz="1400" b="1" i="0" u="none" strike="noStrike" cap="none" normalizeH="0" baseline="0" dirty="0">
                <a:ln>
                  <a:noFill/>
                </a:ln>
                <a:solidFill>
                  <a:srgbClr val="242424"/>
                </a:solidFill>
                <a:effectLst/>
                <a:latin typeface="Calibri" panose="020F0502020204030204" pitchFamily="34" charset="0"/>
                <a:cs typeface="Calibri" panose="020F0502020204030204" pitchFamily="34" charset="0"/>
              </a:rPr>
              <a:t>load</a:t>
            </a:r>
            <a:r>
              <a:rPr kumimoji="0" lang="en-US" altLang="en-US" sz="1400" b="0" i="0" u="none" strike="noStrike" cap="none" normalizeH="0" baseline="0" dirty="0">
                <a:ln>
                  <a:noFill/>
                </a:ln>
                <a:solidFill>
                  <a:srgbClr val="242424"/>
                </a:solidFill>
                <a:effectLst/>
                <a:latin typeface="Calibri" panose="020F0502020204030204" pitchFamily="34" charset="0"/>
                <a:cs typeface="Calibri" panose="020F0502020204030204" pitchFamily="34" charset="0"/>
              </a:rPr>
              <a:t> S-104 dataset into the ECDIS if the vertical datum doesn’t match the S-102 dataset.  If it cannot be viewed in the ECDIS and is only used for WLA, is there any need for it?  It was asked if S-128 could check when loading and stop the dataset loading.  I checked with Jens and he says it is an attribute of S-128 so the dataset doesn’t need to be unpacked. Would this be possible or is it a step too far?</a:t>
            </a:r>
            <a:endParaRPr kumimoji="0" lang="en-US" altLang="en-US" sz="1400" b="0" i="0" u="none" strike="noStrike" cap="none" normalizeH="0" baseline="0" dirty="0">
              <a:ln>
                <a:noFill/>
              </a:ln>
              <a:solidFill>
                <a:srgbClr val="242424"/>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42424"/>
                </a:solidFill>
                <a:effectLst/>
                <a:latin typeface="Calibri" panose="020F0502020204030204" pitchFamily="34" charset="0"/>
                <a:cs typeface="Calibri" panose="020F0502020204030204" pitchFamily="34" charset="0"/>
              </a:rPr>
              <a:t>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400" b="0" i="0" u="none" strike="noStrike" cap="none" normalizeH="0" baseline="0" dirty="0">
                <a:ln>
                  <a:noFill/>
                </a:ln>
                <a:solidFill>
                  <a:srgbClr val="242424"/>
                </a:solidFill>
                <a:effectLst/>
                <a:latin typeface="Calibri" panose="020F0502020204030204" pitchFamily="34" charset="0"/>
                <a:cs typeface="Calibri" panose="020F0502020204030204" pitchFamily="34" charset="0"/>
              </a:rPr>
              <a:t>Something I noticed on the ECDIS, S-102 pick report was listing Adjusted Depth to 2 decimal places but the ECDIS (Furuno) displayed only one and the Sounding is listed as one.  I don’t know if this is an oversight or intended.  I asked Giuseppe and he doesn’t remember them ever discussing the number of decimal places in S-102 PT.</a:t>
            </a:r>
            <a:endParaRPr kumimoji="0" lang="en-US" altLang="en-US" sz="1400" b="0" i="0" u="none" strike="noStrike" cap="none" normalizeH="0" baseline="0" dirty="0">
              <a:ln>
                <a:noFill/>
              </a:ln>
              <a:solidFill>
                <a:srgbClr val="242424"/>
              </a:solidFill>
              <a:effectLst/>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4102193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63CC1-E61C-88F6-10C9-22058E0084E8}"/>
              </a:ext>
            </a:extLst>
          </p:cNvPr>
          <p:cNvSpPr>
            <a:spLocks noGrp="1"/>
          </p:cNvSpPr>
          <p:nvPr>
            <p:ph type="title"/>
          </p:nvPr>
        </p:nvSpPr>
        <p:spPr>
          <a:xfrm>
            <a:off x="190200" y="192325"/>
            <a:ext cx="10515600" cy="822875"/>
          </a:xfrm>
        </p:spPr>
        <p:txBody>
          <a:bodyPr/>
          <a:lstStyle/>
          <a:p>
            <a:r>
              <a:rPr lang="en-GB" dirty="0"/>
              <a:t>UKHO Paper on S-104 naming conventions</a:t>
            </a:r>
          </a:p>
        </p:txBody>
      </p:sp>
      <p:sp>
        <p:nvSpPr>
          <p:cNvPr id="3" name="Content Placeholder 2">
            <a:extLst>
              <a:ext uri="{FF2B5EF4-FFF2-40B4-BE49-F238E27FC236}">
                <a16:creationId xmlns:a16="http://schemas.microsoft.com/office/drawing/2014/main" id="{5D403907-8C97-9FFA-8CD6-72696D55C9F8}"/>
              </a:ext>
            </a:extLst>
          </p:cNvPr>
          <p:cNvSpPr>
            <a:spLocks noGrp="1"/>
          </p:cNvSpPr>
          <p:nvPr>
            <p:ph idx="1"/>
          </p:nvPr>
        </p:nvSpPr>
        <p:spPr>
          <a:xfrm>
            <a:off x="838200" y="1015200"/>
            <a:ext cx="10515600" cy="5842799"/>
          </a:xfrm>
        </p:spPr>
        <p:txBody>
          <a:bodyPr>
            <a:normAutofit fontScale="92500" lnSpcReduction="20000"/>
          </a:bodyPr>
          <a:lstStyle/>
          <a:p>
            <a:pPr algn="just">
              <a:lnSpc>
                <a:spcPct val="107000"/>
              </a:lnSpc>
              <a:spcAft>
                <a:spcPts val="800"/>
              </a:spcAft>
              <a:buNone/>
            </a:pPr>
            <a:r>
              <a:rPr lang="en-US" sz="1600" b="1" dirty="0">
                <a:effectLst/>
                <a:latin typeface="Aptos Narrow" panose="020B0004020202020204" pitchFamily="34" charset="0"/>
                <a:ea typeface="Calibri" panose="020F0502020204030204" pitchFamily="34" charset="0"/>
                <a:cs typeface="Arial" panose="020B0604020202020204" pitchFamily="34" charset="0"/>
              </a:rPr>
              <a:t>Recommendations</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Aptos Narrow" panose="020B0004020202020204" pitchFamily="34" charset="0"/>
              <a:buChar char="-"/>
            </a:pPr>
            <a:r>
              <a:rPr lang="en-US" sz="1600" dirty="0">
                <a:effectLst/>
                <a:latin typeface="Aptos Narrow" panose="020B0004020202020204" pitchFamily="34" charset="0"/>
                <a:ea typeface="Calibri" panose="020F0502020204030204" pitchFamily="34" charset="0"/>
                <a:cs typeface="Arial" panose="020B0604020202020204" pitchFamily="34" charset="0"/>
              </a:rPr>
              <a:t>We remove date and timestamps from S-104 and S-111 dataset ids so that there is a way to relate a new successor data set to a previously installed data set within the ECDIS. The temporal extends fields in the discovery meta data already provide you date/time information.</a:t>
            </a:r>
            <a:endParaRPr lang="en-GB" sz="16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07000"/>
              </a:lnSpc>
              <a:spcAft>
                <a:spcPts val="800"/>
              </a:spcAft>
              <a:buFont typeface="Aptos Narrow" panose="020B0004020202020204" pitchFamily="34" charset="0"/>
              <a:buChar char="-"/>
            </a:pPr>
            <a:r>
              <a:rPr lang="en-US" sz="1600" dirty="0">
                <a:effectLst/>
                <a:latin typeface="Aptos Narrow" panose="020B0004020202020204" pitchFamily="34" charset="0"/>
                <a:ea typeface="Calibri" panose="020F0502020204030204" pitchFamily="34" charset="0"/>
                <a:cs typeface="Arial" panose="020B0604020202020204" pitchFamily="34" charset="0"/>
              </a:rPr>
              <a:t>New Editions or updates are considered a suitable update mechanism for S-104 and S-111 to remove the burden of constantly having to generate new permit strings for successor data sets.</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buNone/>
            </a:pPr>
            <a:r>
              <a:rPr lang="en-AU" sz="1600" b="1" dirty="0">
                <a:effectLst/>
                <a:latin typeface="Aptos Narrow" panose="020B0004020202020204" pitchFamily="34" charset="0"/>
                <a:ea typeface="Times New Roman" panose="02020603050405020304" pitchFamily="18" charset="0"/>
                <a:cs typeface="Times New Roman" panose="02020603050405020304" pitchFamily="18" charset="0"/>
              </a:rPr>
              <a:t>Action Required of S-98/164 SG</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Aptos Narrow" panose="020B0004020202020204" pitchFamily="34" charset="0"/>
              <a:buChar char="-"/>
            </a:pPr>
            <a:r>
              <a:rPr lang="en-US" sz="1600" dirty="0">
                <a:effectLst/>
                <a:latin typeface="Aptos Narrow" panose="020B0004020202020204" pitchFamily="34" charset="0"/>
                <a:ea typeface="Calibri" panose="020F0502020204030204" pitchFamily="34" charset="0"/>
                <a:cs typeface="Arial" panose="020B0604020202020204" pitchFamily="34" charset="0"/>
              </a:rPr>
              <a:t>Note and discuss the issues raised with the paper.</a:t>
            </a:r>
            <a:endParaRPr lang="en-GB" sz="16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07000"/>
              </a:lnSpc>
              <a:spcAft>
                <a:spcPts val="800"/>
              </a:spcAft>
              <a:buFont typeface="Aptos Narrow" panose="020B0004020202020204" pitchFamily="34" charset="0"/>
              <a:buChar char="-"/>
            </a:pPr>
            <a:r>
              <a:rPr lang="en-US" sz="1600" dirty="0">
                <a:effectLst/>
                <a:latin typeface="Aptos Narrow" panose="020B0004020202020204" pitchFamily="34" charset="0"/>
                <a:ea typeface="Calibri" panose="020F0502020204030204" pitchFamily="34" charset="0"/>
                <a:cs typeface="Arial" panose="020B0604020202020204" pitchFamily="34" charset="0"/>
              </a:rPr>
              <a:t>S-98 should devise a suitable mechanism and provide guidance for data servers to be able to distribute updates to S-104 and S-111 data sets without forcing the mariner to constantly generate new datasets and permits.</a:t>
            </a:r>
            <a:endParaRPr lang="en-GB" sz="1600" dirty="0">
              <a:effectLst/>
              <a:latin typeface="Calibri" panose="020F0502020204030204" pitchFamily="34" charset="0"/>
              <a:ea typeface="Calibri" panose="020F0502020204030204" pitchFamily="34" charset="0"/>
              <a:cs typeface="Arial" panose="020B0604020202020204" pitchFamily="34" charset="0"/>
            </a:endParaRPr>
          </a:p>
          <a:p>
            <a:pPr marL="228600" algn="just">
              <a:lnSpc>
                <a:spcPct val="107000"/>
              </a:lnSpc>
              <a:spcAft>
                <a:spcPts val="800"/>
              </a:spcAft>
              <a:buNone/>
            </a:pPr>
            <a:r>
              <a:rPr lang="en-AU" sz="1600" b="1" dirty="0">
                <a:effectLst/>
                <a:latin typeface="Aptos Narrow" panose="020B0004020202020204" pitchFamily="34" charset="0"/>
                <a:ea typeface="Times New Roman" panose="02020603050405020304" pitchFamily="18" charset="0"/>
                <a:cs typeface="Times New Roman" panose="02020603050405020304" pitchFamily="18" charset="0"/>
              </a:rPr>
              <a:t>Action Required of TWLWG</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Aptos Narrow" panose="020B0004020202020204" pitchFamily="34" charset="0"/>
              <a:buChar char="-"/>
            </a:pPr>
            <a:r>
              <a:rPr lang="en-AU" sz="1600" b="1" dirty="0">
                <a:effectLst/>
                <a:latin typeface="Aptos Narrow" panose="020B0004020202020204" pitchFamily="34" charset="0"/>
                <a:ea typeface="Calibri" panose="020F0502020204030204" pitchFamily="34" charset="0"/>
                <a:cs typeface="Arial" panose="020B0604020202020204" pitchFamily="34" charset="0"/>
              </a:rPr>
              <a:t> </a:t>
            </a:r>
            <a:r>
              <a:rPr lang="en-AU" sz="1600" dirty="0">
                <a:effectLst/>
                <a:latin typeface="Aptos Narrow" panose="020B0004020202020204" pitchFamily="34" charset="0"/>
                <a:ea typeface="Calibri" panose="020F0502020204030204" pitchFamily="34" charset="0"/>
                <a:cs typeface="Arial" panose="020B0604020202020204" pitchFamily="34" charset="0"/>
              </a:rPr>
              <a:t>It is recommended TWLWG amend the maintenance sections of S-104 and S-111 product specifications to allow new editions of these datasets and reference any new guidance provided in S-98.</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buNone/>
            </a:pPr>
            <a:r>
              <a:rPr lang="en-AU" sz="1600" dirty="0">
                <a:effectLst/>
                <a:latin typeface="Aptos Narrow" panose="020B0004020202020204" pitchFamily="34" charset="0"/>
                <a:ea typeface="Times New Roman" panose="02020603050405020304" pitchFamily="18" charset="0"/>
                <a:cs typeface="Times New Roman" panose="02020603050405020304" pitchFamily="18" charset="0"/>
              </a:rPr>
              <a:t>The TWLWG is invited to:</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504190" lvl="0" indent="-342900" algn="just">
              <a:lnSpc>
                <a:spcPct val="107000"/>
              </a:lnSpc>
              <a:spcBef>
                <a:spcPts val="300"/>
              </a:spcBef>
              <a:spcAft>
                <a:spcPts val="300"/>
              </a:spcAft>
              <a:buFont typeface="+mj-lt"/>
              <a:buAutoNum type="alphaLcPeriod"/>
            </a:pPr>
            <a:r>
              <a:rPr lang="en-AU" sz="1600" dirty="0">
                <a:effectLst/>
                <a:latin typeface="Aptos Narrow" panose="020B0004020202020204" pitchFamily="34" charset="0"/>
                <a:ea typeface="Times New Roman" panose="02020603050405020304" pitchFamily="18" charset="0"/>
                <a:cs typeface="Times New Roman" panose="02020603050405020304" pitchFamily="18" charset="0"/>
              </a:rPr>
              <a:t>Discuss the proposal to amend S-104 and S-111 product specifications</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504190" lvl="0" indent="-342900" algn="just">
              <a:lnSpc>
                <a:spcPct val="107000"/>
              </a:lnSpc>
              <a:spcBef>
                <a:spcPts val="300"/>
              </a:spcBef>
              <a:spcAft>
                <a:spcPts val="300"/>
              </a:spcAft>
              <a:buFont typeface="+mj-lt"/>
              <a:buAutoNum type="alphaLcPeriod"/>
            </a:pPr>
            <a:r>
              <a:rPr lang="en-AU" sz="1600" dirty="0">
                <a:effectLst/>
                <a:latin typeface="Aptos Narrow" panose="020B0004020202020204" pitchFamily="34" charset="0"/>
                <a:ea typeface="Times New Roman" panose="02020603050405020304" pitchFamily="18" charset="0"/>
                <a:cs typeface="Times New Roman" panose="02020603050405020304" pitchFamily="18" charset="0"/>
              </a:rPr>
              <a:t>Agree to remove the date time stamp from the cell name </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504190" lvl="0" indent="-342900" algn="just">
              <a:lnSpc>
                <a:spcPct val="107000"/>
              </a:lnSpc>
              <a:spcBef>
                <a:spcPts val="300"/>
              </a:spcBef>
              <a:spcAft>
                <a:spcPts val="300"/>
              </a:spcAft>
              <a:buFont typeface="+mj-lt"/>
              <a:buAutoNum type="alphaLcPeriod"/>
            </a:pPr>
            <a:r>
              <a:rPr lang="en-AU" sz="1600" dirty="0">
                <a:effectLst/>
                <a:latin typeface="Aptos Narrow" panose="020B0004020202020204" pitchFamily="34" charset="0"/>
                <a:ea typeface="Times New Roman" panose="02020603050405020304" pitchFamily="18" charset="0"/>
                <a:cs typeface="Times New Roman" panose="02020603050405020304" pitchFamily="18" charset="0"/>
              </a:rPr>
              <a:t>Agree to use the same update mechanism as S-101 ENC updating </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sz="1600" dirty="0"/>
          </a:p>
        </p:txBody>
      </p:sp>
    </p:spTree>
    <p:extLst>
      <p:ext uri="{BB962C8B-B14F-4D97-AF65-F5344CB8AC3E}">
        <p14:creationId xmlns:p14="http://schemas.microsoft.com/office/powerpoint/2010/main" val="12181466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94AAE-CBA0-B4BD-F1BE-E8E517D3F0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485152-DB38-5F3A-C5F2-AD5F805D2F44}"/>
              </a:ext>
            </a:extLst>
          </p:cNvPr>
          <p:cNvSpPr>
            <a:spLocks noGrp="1"/>
          </p:cNvSpPr>
          <p:nvPr>
            <p:ph type="title"/>
          </p:nvPr>
        </p:nvSpPr>
        <p:spPr>
          <a:xfrm>
            <a:off x="182880" y="346223"/>
            <a:ext cx="10515600" cy="1325563"/>
          </a:xfrm>
        </p:spPr>
        <p:txBody>
          <a:bodyPr/>
          <a:lstStyle/>
          <a:p>
            <a:r>
              <a:rPr lang="en-GB" dirty="0"/>
              <a:t>BS E-Nav inputs</a:t>
            </a:r>
          </a:p>
        </p:txBody>
      </p:sp>
      <p:pic>
        <p:nvPicPr>
          <p:cNvPr id="1026" name="Picture 2">
            <a:extLst>
              <a:ext uri="{FF2B5EF4-FFF2-40B4-BE49-F238E27FC236}">
                <a16:creationId xmlns:a16="http://schemas.microsoft.com/office/drawing/2014/main" id="{A1B77FAB-47F9-0A28-15C3-C6C3B9A070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9880" y="1396634"/>
            <a:ext cx="9342120" cy="54613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86736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59FD2-FFED-FD21-6351-12EBAA3A2825}"/>
              </a:ext>
            </a:extLst>
          </p:cNvPr>
          <p:cNvSpPr>
            <a:spLocks noGrp="1"/>
          </p:cNvSpPr>
          <p:nvPr>
            <p:ph type="title"/>
          </p:nvPr>
        </p:nvSpPr>
        <p:spPr>
          <a:xfrm>
            <a:off x="427736" y="300101"/>
            <a:ext cx="10515600" cy="902843"/>
          </a:xfrm>
        </p:spPr>
        <p:txBody>
          <a:bodyPr/>
          <a:lstStyle/>
          <a:p>
            <a:r>
              <a:rPr lang="en-GB" dirty="0"/>
              <a:t>Next Meeting(s)</a:t>
            </a:r>
          </a:p>
        </p:txBody>
      </p:sp>
      <p:sp>
        <p:nvSpPr>
          <p:cNvPr id="3" name="Content Placeholder 2">
            <a:extLst>
              <a:ext uri="{FF2B5EF4-FFF2-40B4-BE49-F238E27FC236}">
                <a16:creationId xmlns:a16="http://schemas.microsoft.com/office/drawing/2014/main" id="{06B14AC8-A0B5-2069-A02F-6BF877FE4037}"/>
              </a:ext>
            </a:extLst>
          </p:cNvPr>
          <p:cNvSpPr>
            <a:spLocks noGrp="1"/>
          </p:cNvSpPr>
          <p:nvPr>
            <p:ph idx="1"/>
          </p:nvPr>
        </p:nvSpPr>
        <p:spPr>
          <a:xfrm>
            <a:off x="891032" y="1202944"/>
            <a:ext cx="10515600" cy="5185664"/>
          </a:xfrm>
        </p:spPr>
        <p:txBody>
          <a:bodyPr>
            <a:normAutofit/>
          </a:bodyPr>
          <a:lstStyle/>
          <a:p>
            <a:pPr>
              <a:lnSpc>
                <a:spcPct val="110000"/>
              </a:lnSpc>
            </a:pPr>
            <a:r>
              <a:rPr lang="en-US" dirty="0"/>
              <a:t>Dedicated S-164 meeting – December dates? </a:t>
            </a:r>
          </a:p>
          <a:p>
            <a:pPr>
              <a:lnSpc>
                <a:spcPct val="110000"/>
              </a:lnSpc>
            </a:pPr>
            <a:r>
              <a:rPr lang="en-US" dirty="0"/>
              <a:t>Next meeting December 8</a:t>
            </a:r>
            <a:r>
              <a:rPr lang="en-US" baseline="30000" dirty="0"/>
              <a:t>th</a:t>
            </a:r>
            <a:r>
              <a:rPr lang="en-US" dirty="0"/>
              <a:t> </a:t>
            </a:r>
          </a:p>
          <a:p>
            <a:pPr>
              <a:lnSpc>
                <a:spcPct val="110000"/>
              </a:lnSpc>
            </a:pPr>
            <a:r>
              <a:rPr lang="en-US" dirty="0"/>
              <a:t>AOB?</a:t>
            </a:r>
            <a:endParaRPr lang="en-GB" dirty="0"/>
          </a:p>
        </p:txBody>
      </p:sp>
    </p:spTree>
    <p:extLst>
      <p:ext uri="{BB962C8B-B14F-4D97-AF65-F5344CB8AC3E}">
        <p14:creationId xmlns:p14="http://schemas.microsoft.com/office/powerpoint/2010/main" val="29401725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94976-4682-2140-0504-766F92B6B9DD}"/>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68E41850-CFB8-784D-916F-7CB12C26B55B}"/>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25176171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IC_Stuff" id="{7EB4A1A4-DE80-4AED-B90B-0D4C97F0BFAA}" vid="{AB3974AC-2916-4F91-8C8E-185544D72609}"/>
    </a:ext>
  </a:extLst>
</a:theme>
</file>

<file path=docProps/app.xml><?xml version="1.0" encoding="utf-8"?>
<Properties xmlns="http://schemas.openxmlformats.org/officeDocument/2006/extended-properties" xmlns:vt="http://schemas.openxmlformats.org/officeDocument/2006/docPropsVTypes">
  <Template>IIC_Stuff</Template>
  <TotalTime>0</TotalTime>
  <Words>1215</Words>
  <Application>Microsoft Office PowerPoint</Application>
  <PresentationFormat>Widescreen</PresentationFormat>
  <Paragraphs>183</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Aptos Narrow</vt:lpstr>
      <vt:lpstr>Arial</vt:lpstr>
      <vt:lpstr>Calibri</vt:lpstr>
      <vt:lpstr>Calibri Light</vt:lpstr>
      <vt:lpstr>Consolas</vt:lpstr>
      <vt:lpstr>Segoe UI</vt:lpstr>
      <vt:lpstr>Office Theme</vt:lpstr>
      <vt:lpstr>S-98 update VTC</vt:lpstr>
      <vt:lpstr>Agenda</vt:lpstr>
      <vt:lpstr>S-124 Progress</vt:lpstr>
      <vt:lpstr>interoperabilityIdentifier (and common FOIDs)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S-98 Inputs</vt:lpstr>
      <vt:lpstr>Testing multiple product specifications</vt:lpstr>
      <vt:lpstr>Other Inputs</vt:lpstr>
      <vt:lpstr>BS E-Nav inputs</vt:lpstr>
      <vt:lpstr>UKHO Paper on S-104 naming conventions</vt:lpstr>
      <vt:lpstr>BS E-Nav inputs</vt:lpstr>
      <vt:lpstr>Next Meeting(s)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jonathan pritchard</dc:creator>
  <cp:lastModifiedBy>jonathan pritchard</cp:lastModifiedBy>
  <cp:revision>62</cp:revision>
  <dcterms:created xsi:type="dcterms:W3CDTF">2025-03-13T15:34:29Z</dcterms:created>
  <dcterms:modified xsi:type="dcterms:W3CDTF">2025-11-21T14:40:51Z</dcterms:modified>
</cp:coreProperties>
</file>