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25" r:id="rId2"/>
    <p:sldId id="338" r:id="rId3"/>
    <p:sldId id="332" r:id="rId4"/>
    <p:sldId id="335" r:id="rId5"/>
    <p:sldId id="336" r:id="rId6"/>
    <p:sldId id="333" r:id="rId7"/>
    <p:sldId id="315" r:id="rId8"/>
    <p:sldId id="326" r:id="rId9"/>
    <p:sldId id="337" r:id="rId10"/>
    <p:sldId id="329" r:id="rId11"/>
    <p:sldId id="334" r:id="rId12"/>
    <p:sldId id="331" r:id="rId13"/>
    <p:sldId id="330" r:id="rId14"/>
    <p:sldId id="327" r:id="rId15"/>
    <p:sldId id="328" r:id="rId16"/>
    <p:sldId id="316" r:id="rId17"/>
    <p:sldId id="319" r:id="rId18"/>
    <p:sldId id="318" r:id="rId19"/>
    <p:sldId id="323" r:id="rId20"/>
    <p:sldId id="324" r:id="rId21"/>
    <p:sldId id="320" r:id="rId22"/>
    <p:sldId id="32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showGuides="1">
      <p:cViewPr varScale="1">
        <p:scale>
          <a:sx n="174" d="100"/>
          <a:sy n="174" d="100"/>
        </p:scale>
        <p:origin x="101" y="37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4ED3-BC4C-DEEE-F389-B680024ED1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34DE68E-0994-24AD-6E01-0446187B20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FDE71B8-455B-4F3B-3410-2E4F5A490C09}"/>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5" name="Footer Placeholder 4">
            <a:extLst>
              <a:ext uri="{FF2B5EF4-FFF2-40B4-BE49-F238E27FC236}">
                <a16:creationId xmlns:a16="http://schemas.microsoft.com/office/drawing/2014/main" id="{DA2EE18B-EE22-0C09-6EC3-D4DE275047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08092DE-0B52-3F1A-B2BA-60F77397201E}"/>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7955205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61EF9-24BA-39C4-D013-05DFCBF8262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17F02F-CAD1-091F-2900-98F9B7FF8C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21CB30-333C-ADC8-A5BD-194C76D25A04}"/>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5" name="Footer Placeholder 4">
            <a:extLst>
              <a:ext uri="{FF2B5EF4-FFF2-40B4-BE49-F238E27FC236}">
                <a16:creationId xmlns:a16="http://schemas.microsoft.com/office/drawing/2014/main" id="{6B7BC09C-36BA-B6DB-6027-F3DBCD937D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36D8B2-CD1B-F17F-C486-59527787B2E7}"/>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3622158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A17A3-54A8-CDF9-7C27-FEC174E595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5D44A67-234B-BC27-1113-E9C6E82298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D098A8-75D6-0915-261E-04859EF73370}"/>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5" name="Footer Placeholder 4">
            <a:extLst>
              <a:ext uri="{FF2B5EF4-FFF2-40B4-BE49-F238E27FC236}">
                <a16:creationId xmlns:a16="http://schemas.microsoft.com/office/drawing/2014/main" id="{DD99E781-D785-4EC7-4C4D-78EE0287AC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91A152-BD38-BD43-DCF3-C2B672D3D9CD}"/>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1486361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5A17-ECB8-26D1-43DB-F17EF582C5E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F407D76-766F-ED2E-1739-D74112C35E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BC4BD46-7A1D-53F0-48D1-C088339741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1A0454D-B13C-88F4-DDB4-548C23BE1668}"/>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6" name="Footer Placeholder 5">
            <a:extLst>
              <a:ext uri="{FF2B5EF4-FFF2-40B4-BE49-F238E27FC236}">
                <a16:creationId xmlns:a16="http://schemas.microsoft.com/office/drawing/2014/main" id="{7D7C5BCF-CB3D-E11C-EB4D-E660A42452E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2BB3D5-37ED-8B34-0648-07C55FF4A5E6}"/>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800028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7BAE3-141A-4A47-9EFC-6FD76E33EEE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1CB56C6-5A51-3F5F-02E1-FC0F86B3CE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3C2D76-A43B-CDBA-965B-D233E37FB0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AD94C45-5724-8CF4-5B33-2C51315856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DDD70F-A79C-6F22-CDEF-4859697867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B855AF6-21B0-9657-4606-4C4282366E0D}"/>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8" name="Footer Placeholder 7">
            <a:extLst>
              <a:ext uri="{FF2B5EF4-FFF2-40B4-BE49-F238E27FC236}">
                <a16:creationId xmlns:a16="http://schemas.microsoft.com/office/drawing/2014/main" id="{DE27CDBA-8959-04EA-9DE2-980E7620C34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2925378-3A7C-DC81-87C6-962D4B27A903}"/>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1647490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5C4F2-7E23-8ED6-1903-ACF89167C77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6DD8F73-C072-6E62-658C-2F7051942986}"/>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4" name="Footer Placeholder 3">
            <a:extLst>
              <a:ext uri="{FF2B5EF4-FFF2-40B4-BE49-F238E27FC236}">
                <a16:creationId xmlns:a16="http://schemas.microsoft.com/office/drawing/2014/main" id="{7A1E5671-8138-17F9-5F70-38734810D46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36F3C3A-A8FB-F3AD-B12E-0AB3998A0D85}"/>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056470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08ED4D-39A8-D0CE-77A4-BA0A00E82679}"/>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3" name="Footer Placeholder 2">
            <a:extLst>
              <a:ext uri="{FF2B5EF4-FFF2-40B4-BE49-F238E27FC236}">
                <a16:creationId xmlns:a16="http://schemas.microsoft.com/office/drawing/2014/main" id="{C57B2102-9354-19B2-05CB-78F333A24DE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8064A20-E795-5815-9685-703150C688FB}"/>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8851505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AEB8F-465E-CEC4-F2D5-FA3F66F843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58B0699-1C83-DE17-9BF7-4460617B22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AFCA805-BA27-9FE7-FC42-83098F7DCE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8EF0E1-371C-B593-709C-E29E3A5DA07C}"/>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6" name="Footer Placeholder 5">
            <a:extLst>
              <a:ext uri="{FF2B5EF4-FFF2-40B4-BE49-F238E27FC236}">
                <a16:creationId xmlns:a16="http://schemas.microsoft.com/office/drawing/2014/main" id="{FCFBB21E-5E6E-E3DF-2FF5-C6F370AA8C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1BE0EBA-BE85-9059-616E-CE8C49F59E74}"/>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1458338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188A1-B5E6-4D6D-84F2-997793C81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6B767B9-674F-12E7-E1D9-841545E914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AC1C1710-ADCD-9160-A2A5-29EAF1499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1FB06E-332C-02B3-70A5-CBCA221F0833}"/>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6" name="Footer Placeholder 5">
            <a:extLst>
              <a:ext uri="{FF2B5EF4-FFF2-40B4-BE49-F238E27FC236}">
                <a16:creationId xmlns:a16="http://schemas.microsoft.com/office/drawing/2014/main" id="{2188FC76-1046-FAD9-4E94-BFBB99F3878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074D668-11A2-CB78-810D-0875A8A5A0CB}"/>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582502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7E474-8FC8-E1E6-3F83-8ABEEC02DAD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81897A4-BD41-C68F-1577-0864A4BB76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E749C2-451B-706F-F38A-3811453FFD02}"/>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5" name="Footer Placeholder 4">
            <a:extLst>
              <a:ext uri="{FF2B5EF4-FFF2-40B4-BE49-F238E27FC236}">
                <a16:creationId xmlns:a16="http://schemas.microsoft.com/office/drawing/2014/main" id="{064C5FCE-51E7-2C75-7387-551486CA0E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1A4B97-13B4-7571-56E3-A24AF75347B6}"/>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1103202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D11040-A316-A60F-E455-142B0D0E6A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DCE5F9D-CD1B-9012-526F-75B3AE57FD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3201B5-93B5-1929-12DA-084E7EA9AAD1}"/>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5" name="Footer Placeholder 4">
            <a:extLst>
              <a:ext uri="{FF2B5EF4-FFF2-40B4-BE49-F238E27FC236}">
                <a16:creationId xmlns:a16="http://schemas.microsoft.com/office/drawing/2014/main" id="{96A25E57-2087-6CC6-9969-E7BF228E16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CF528D-A3C0-F750-96D2-3F4C519670B6}"/>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453090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BF9F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21DC7A-F643-0BAB-29FB-4B3AB54841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41DF3D1-8AF5-DE09-2BBB-110C762374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58C462A-523B-AD3C-6669-F3F5C13394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BB9E3F-605D-4A01-A272-F9F7C12C03AD}" type="datetimeFigureOut">
              <a:rPr lang="en-GB" smtClean="0"/>
              <a:t>21/11/2025</a:t>
            </a:fld>
            <a:endParaRPr lang="en-GB"/>
          </a:p>
        </p:txBody>
      </p:sp>
      <p:sp>
        <p:nvSpPr>
          <p:cNvPr id="5" name="Footer Placeholder 4">
            <a:extLst>
              <a:ext uri="{FF2B5EF4-FFF2-40B4-BE49-F238E27FC236}">
                <a16:creationId xmlns:a16="http://schemas.microsoft.com/office/drawing/2014/main" id="{5F049C9F-C1A7-5E31-17C0-6E431B334B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BFDA255-9834-3890-56DF-0FCB7DB31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1E93BC-0583-4F13-9EFE-A882EE2EBD69}" type="slidenum">
              <a:rPr lang="en-GB" smtClean="0"/>
              <a:t>‹#›</a:t>
            </a:fld>
            <a:endParaRPr lang="en-GB"/>
          </a:p>
        </p:txBody>
      </p:sp>
      <p:pic>
        <p:nvPicPr>
          <p:cNvPr id="8" name="Picture 7">
            <a:extLst>
              <a:ext uri="{FF2B5EF4-FFF2-40B4-BE49-F238E27FC236}">
                <a16:creationId xmlns:a16="http://schemas.microsoft.com/office/drawing/2014/main" id="{1C57053D-AA88-4C04-5843-76F3F58C1C6C}"/>
              </a:ext>
            </a:extLst>
          </p:cNvPr>
          <p:cNvPicPr>
            <a:picLocks noChangeAspect="1"/>
          </p:cNvPicPr>
          <p:nvPr userDrawn="1"/>
        </p:nvPicPr>
        <p:blipFill>
          <a:blip r:embed="rId13">
            <a:alphaModFix amt="63000"/>
          </a:blip>
          <a:stretch>
            <a:fillRect/>
          </a:stretch>
        </p:blipFill>
        <p:spPr>
          <a:xfrm>
            <a:off x="9908249" y="6243574"/>
            <a:ext cx="2152811" cy="477902"/>
          </a:xfrm>
          <a:prstGeom prst="rect">
            <a:avLst/>
          </a:prstGeom>
        </p:spPr>
      </p:pic>
    </p:spTree>
    <p:extLst>
      <p:ext uri="{BB962C8B-B14F-4D97-AF65-F5344CB8AC3E}">
        <p14:creationId xmlns:p14="http://schemas.microsoft.com/office/powerpoint/2010/main" val="36014295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1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2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2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2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FC5FD2-3FC4-9D31-136A-10F7279245CD}"/>
              </a:ext>
            </a:extLst>
          </p:cNvPr>
          <p:cNvSpPr>
            <a:spLocks noGrp="1"/>
          </p:cNvSpPr>
          <p:nvPr>
            <p:ph type="title"/>
          </p:nvPr>
        </p:nvSpPr>
        <p:spPr>
          <a:xfrm>
            <a:off x="222738" y="167298"/>
            <a:ext cx="10515600" cy="720725"/>
          </a:xfrm>
        </p:spPr>
        <p:txBody>
          <a:bodyPr/>
          <a:lstStyle/>
          <a:p>
            <a:r>
              <a:rPr lang="en-US" dirty="0"/>
              <a:t>Agenda – Let’s try to cover…</a:t>
            </a:r>
            <a:endParaRPr lang="en-GB" dirty="0"/>
          </a:p>
        </p:txBody>
      </p:sp>
      <p:sp>
        <p:nvSpPr>
          <p:cNvPr id="5" name="Content Placeholder 4">
            <a:extLst>
              <a:ext uri="{FF2B5EF4-FFF2-40B4-BE49-F238E27FC236}">
                <a16:creationId xmlns:a16="http://schemas.microsoft.com/office/drawing/2014/main" id="{3004F072-C7DC-4A4B-DDCA-37145AE0F921}"/>
              </a:ext>
            </a:extLst>
          </p:cNvPr>
          <p:cNvSpPr>
            <a:spLocks noGrp="1"/>
          </p:cNvSpPr>
          <p:nvPr>
            <p:ph idx="1"/>
          </p:nvPr>
        </p:nvSpPr>
        <p:spPr>
          <a:xfrm>
            <a:off x="710712" y="1456348"/>
            <a:ext cx="10515600" cy="4351338"/>
          </a:xfrm>
        </p:spPr>
        <p:txBody>
          <a:bodyPr>
            <a:normAutofit fontScale="92500" lnSpcReduction="10000"/>
          </a:bodyPr>
          <a:lstStyle/>
          <a:p>
            <a:r>
              <a:rPr lang="en-US" i="1" dirty="0" err="1"/>
              <a:t>interoperabilityIdentifier</a:t>
            </a:r>
            <a:r>
              <a:rPr lang="en-US" dirty="0"/>
              <a:t> encoding and mechanism</a:t>
            </a:r>
          </a:p>
          <a:p>
            <a:pPr lvl="1"/>
            <a:r>
              <a:rPr lang="en-US" dirty="0"/>
              <a:t>Behaviour of </a:t>
            </a:r>
            <a:r>
              <a:rPr lang="en-US" dirty="0" err="1"/>
              <a:t>interoperabilityIdentifier</a:t>
            </a:r>
            <a:r>
              <a:rPr lang="en-US" dirty="0"/>
              <a:t> on ECDIS, the “Bridge Problem”</a:t>
            </a:r>
          </a:p>
          <a:p>
            <a:pPr lvl="1"/>
            <a:r>
              <a:rPr lang="en-US" dirty="0"/>
              <a:t>Multiplicity of </a:t>
            </a:r>
            <a:r>
              <a:rPr lang="en-US" dirty="0" err="1"/>
              <a:t>interoperabilityIdentifier</a:t>
            </a:r>
            <a:r>
              <a:rPr lang="en-US" dirty="0"/>
              <a:t>, the “Multiplicity Problem”</a:t>
            </a:r>
          </a:p>
          <a:p>
            <a:pPr lvl="1"/>
            <a:r>
              <a:rPr lang="en-US" dirty="0"/>
              <a:t>Likely encoding scenarios based on the product specifications we know about now</a:t>
            </a:r>
          </a:p>
          <a:p>
            <a:endParaRPr lang="en-US" dirty="0"/>
          </a:p>
          <a:p>
            <a:r>
              <a:rPr lang="en-US" dirty="0"/>
              <a:t>MRN Format:</a:t>
            </a:r>
          </a:p>
          <a:p>
            <a:pPr lvl="1"/>
            <a:r>
              <a:rPr lang="en-US" dirty="0"/>
              <a:t>Survey of what has been proposed and what is agreed</a:t>
            </a:r>
          </a:p>
          <a:p>
            <a:pPr lvl="1"/>
            <a:r>
              <a:rPr lang="en-US" dirty="0"/>
              <a:t>Good ways forward?</a:t>
            </a:r>
          </a:p>
          <a:p>
            <a:pPr lvl="1"/>
            <a:endParaRPr lang="en-US" dirty="0"/>
          </a:p>
          <a:p>
            <a:r>
              <a:rPr lang="en-US" dirty="0"/>
              <a:t>What will help most?</a:t>
            </a:r>
          </a:p>
          <a:p>
            <a:pPr lvl="1"/>
            <a:r>
              <a:rPr lang="en-US" dirty="0"/>
              <a:t>More generic benefits for hydrographic offices…</a:t>
            </a:r>
            <a:endParaRPr lang="en-GB" dirty="0"/>
          </a:p>
        </p:txBody>
      </p:sp>
    </p:spTree>
    <p:extLst>
      <p:ext uri="{BB962C8B-B14F-4D97-AF65-F5344CB8AC3E}">
        <p14:creationId xmlns:p14="http://schemas.microsoft.com/office/powerpoint/2010/main" val="2971394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85EB5-3FE6-3CDD-C2ED-6D0EF381830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997DFA4-8BB6-DF84-30C5-FC7F8139170A}"/>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37280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8C13B-DC60-6CAA-EEEB-1E3D8BC6960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71DCD72-545E-107A-90F9-4529F76E8DD4}"/>
              </a:ext>
            </a:extLst>
          </p:cNvPr>
          <p:cNvSpPr/>
          <p:nvPr/>
        </p:nvSpPr>
        <p:spPr>
          <a:xfrm>
            <a:off x="230572"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7F3F3261-E190-F265-5AA0-D4D07205C1D3}"/>
              </a:ext>
            </a:extLst>
          </p:cNvPr>
          <p:cNvSpPr/>
          <p:nvPr/>
        </p:nvSpPr>
        <p:spPr>
          <a:xfrm>
            <a:off x="3668716"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861BAF83-A7BA-8EB8-2311-272D873F329A}"/>
              </a:ext>
            </a:extLst>
          </p:cNvPr>
          <p:cNvSpPr/>
          <p:nvPr/>
        </p:nvSpPr>
        <p:spPr>
          <a:xfrm rot="21193878">
            <a:off x="1648514" y="2866427"/>
            <a:ext cx="4937760" cy="673445"/>
          </a:xfrm>
          <a:prstGeom prst="rect">
            <a:avLst/>
          </a:prstGeom>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Bridge</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1171059B-86AD-0FE2-61B4-89153C422A6C}"/>
              </a:ext>
            </a:extLst>
          </p:cNvPr>
          <p:cNvSpPr/>
          <p:nvPr/>
        </p:nvSpPr>
        <p:spPr>
          <a:xfrm>
            <a:off x="468316" y="2738838"/>
            <a:ext cx="2962656" cy="2029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015E66A-F381-4249-5C5B-F2A8B54504B4}"/>
              </a:ext>
            </a:extLst>
          </p:cNvPr>
          <p:cNvSpPr txBox="1"/>
          <p:nvPr/>
        </p:nvSpPr>
        <p:spPr>
          <a:xfrm>
            <a:off x="431219" y="2700230"/>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EBA09C29-A53D-FA25-4641-9D48FA1D8ADA}"/>
              </a:ext>
            </a:extLst>
          </p:cNvPr>
          <p:cNvCxnSpPr>
            <a:cxnSpLocks/>
          </p:cNvCxnSpPr>
          <p:nvPr/>
        </p:nvCxnSpPr>
        <p:spPr>
          <a:xfrm>
            <a:off x="3668716" y="2915622"/>
            <a:ext cx="0" cy="662432"/>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D45D6EC-5F17-926C-33D0-55EA1B2A2134}"/>
              </a:ext>
            </a:extLst>
          </p:cNvPr>
          <p:cNvSpPr txBox="1"/>
          <p:nvPr/>
        </p:nvSpPr>
        <p:spPr>
          <a:xfrm>
            <a:off x="3107005" y="1487603"/>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D40006B2-C45F-2C32-AB42-81338898691D}"/>
              </a:ext>
            </a:extLst>
          </p:cNvPr>
          <p:cNvSpPr txBox="1"/>
          <p:nvPr/>
        </p:nvSpPr>
        <p:spPr>
          <a:xfrm>
            <a:off x="6545149" y="1452827"/>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90FCB501-C99A-5821-5703-45B5DD1ACAFB}"/>
              </a:ext>
            </a:extLst>
          </p:cNvPr>
          <p:cNvSpPr/>
          <p:nvPr/>
        </p:nvSpPr>
        <p:spPr>
          <a:xfrm>
            <a:off x="4912190" y="2590850"/>
            <a:ext cx="89408" cy="8534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ECE7B046-C23C-10D1-7C70-E3BB3B5E368E}"/>
              </a:ext>
            </a:extLst>
          </p:cNvPr>
          <p:cNvSpPr/>
          <p:nvPr/>
        </p:nvSpPr>
        <p:spPr>
          <a:xfrm>
            <a:off x="4889775" y="3509447"/>
            <a:ext cx="89408" cy="8534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041872E0-F863-E2A0-1158-FD26D427C4A4}"/>
              </a:ext>
            </a:extLst>
          </p:cNvPr>
          <p:cNvCxnSpPr/>
          <p:nvPr/>
        </p:nvCxnSpPr>
        <p:spPr>
          <a:xfrm>
            <a:off x="1480352" y="3341005"/>
            <a:ext cx="268705" cy="168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B7121D8-A136-26BB-C5F8-55842663AC99}"/>
              </a:ext>
            </a:extLst>
          </p:cNvPr>
          <p:cNvSpPr txBox="1"/>
          <p:nvPr/>
        </p:nvSpPr>
        <p:spPr>
          <a:xfrm>
            <a:off x="1005408" y="3140115"/>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823399EB-F265-BBC6-6A25-2CCB916AC1F0}"/>
              </a:ext>
            </a:extLst>
          </p:cNvPr>
          <p:cNvSpPr txBox="1"/>
          <p:nvPr/>
        </p:nvSpPr>
        <p:spPr>
          <a:xfrm>
            <a:off x="2039367" y="3264430"/>
            <a:ext cx="25199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a</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59D36467-33B9-DD36-9E33-581A2E13C2F5}"/>
              </a:ext>
            </a:extLst>
          </p:cNvPr>
          <p:cNvSpPr txBox="1"/>
          <p:nvPr/>
        </p:nvSpPr>
        <p:spPr>
          <a:xfrm>
            <a:off x="6091517" y="2856121"/>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b</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E25558D4-95CF-D410-9307-3F672E5D3C41}"/>
              </a:ext>
            </a:extLst>
          </p:cNvPr>
          <p:cNvSpPr txBox="1"/>
          <p:nvPr/>
        </p:nvSpPr>
        <p:spPr>
          <a:xfrm>
            <a:off x="4931583" y="2551270"/>
            <a:ext cx="24397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c</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067D206D-70DA-6776-96E4-0E26C8CEFF3A}"/>
              </a:ext>
            </a:extLst>
          </p:cNvPr>
          <p:cNvSpPr txBox="1"/>
          <p:nvPr/>
        </p:nvSpPr>
        <p:spPr>
          <a:xfrm>
            <a:off x="4917157" y="3554148"/>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d</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ED74DDBF-B079-7AF8-FEDC-6F220E10DFEA}"/>
              </a:ext>
            </a:extLst>
          </p:cNvPr>
          <p:cNvSpPr txBox="1"/>
          <p:nvPr/>
        </p:nvSpPr>
        <p:spPr>
          <a:xfrm>
            <a:off x="199429" y="1487603"/>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74AAA8C0-8E0D-DC2C-0628-8685872C7FC3}"/>
              </a:ext>
            </a:extLst>
          </p:cNvPr>
          <p:cNvSpPr txBox="1"/>
          <p:nvPr/>
        </p:nvSpPr>
        <p:spPr>
          <a:xfrm>
            <a:off x="3611895" y="1487602"/>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2" name="Freeform: Shape 1">
            <a:extLst>
              <a:ext uri="{FF2B5EF4-FFF2-40B4-BE49-F238E27FC236}">
                <a16:creationId xmlns:a16="http://schemas.microsoft.com/office/drawing/2014/main" id="{1EE38AD8-E01A-B95C-E40E-23E9CD956A3A}"/>
              </a:ext>
            </a:extLst>
          </p:cNvPr>
          <p:cNvSpPr/>
          <p:nvPr/>
        </p:nvSpPr>
        <p:spPr>
          <a:xfrm>
            <a:off x="5025192" y="2566703"/>
            <a:ext cx="349144" cy="348919"/>
          </a:xfrm>
          <a:custGeom>
            <a:avLst/>
            <a:gdLst>
              <a:gd name="connsiteX0" fmla="*/ 0 w 349144"/>
              <a:gd name="connsiteY0" fmla="*/ 57566 h 348919"/>
              <a:gd name="connsiteX1" fmla="*/ 300317 w 349144"/>
              <a:gd name="connsiteY1" fmla="*/ 21707 h 348919"/>
              <a:gd name="connsiteX2" fmla="*/ 345141 w 349144"/>
              <a:gd name="connsiteY2" fmla="*/ 348919 h 348919"/>
            </a:gdLst>
            <a:ahLst/>
            <a:cxnLst>
              <a:cxn ang="0">
                <a:pos x="connsiteX0" y="connsiteY0"/>
              </a:cxn>
              <a:cxn ang="0">
                <a:pos x="connsiteX1" y="connsiteY1"/>
              </a:cxn>
              <a:cxn ang="0">
                <a:pos x="connsiteX2" y="connsiteY2"/>
              </a:cxn>
            </a:cxnLst>
            <a:rect l="l" t="t" r="r" b="b"/>
            <a:pathLst>
              <a:path w="349144" h="348919">
                <a:moveTo>
                  <a:pt x="0" y="57566"/>
                </a:moveTo>
                <a:cubicBezTo>
                  <a:pt x="121397" y="15357"/>
                  <a:pt x="242794" y="-26852"/>
                  <a:pt x="300317" y="21707"/>
                </a:cubicBezTo>
                <a:cubicBezTo>
                  <a:pt x="357840" y="70266"/>
                  <a:pt x="351490" y="209592"/>
                  <a:pt x="345141" y="348919"/>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23B6F084-7DE4-BB53-8CCB-1D4F487F70BF}"/>
              </a:ext>
            </a:extLst>
          </p:cNvPr>
          <p:cNvSpPr txBox="1"/>
          <p:nvPr/>
        </p:nvSpPr>
        <p:spPr>
          <a:xfrm>
            <a:off x="5147281" y="2390663"/>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4936263A-795C-D503-E607-05B3F1AE0F9D}"/>
              </a:ext>
            </a:extLst>
          </p:cNvPr>
          <p:cNvSpPr/>
          <p:nvPr/>
        </p:nvSpPr>
        <p:spPr>
          <a:xfrm>
            <a:off x="4705585" y="3334871"/>
            <a:ext cx="354991" cy="227783"/>
          </a:xfrm>
          <a:custGeom>
            <a:avLst/>
            <a:gdLst>
              <a:gd name="connsiteX0" fmla="*/ 354991 w 354991"/>
              <a:gd name="connsiteY0" fmla="*/ 0 h 227783"/>
              <a:gd name="connsiteX1" fmla="*/ 5368 w 354991"/>
              <a:gd name="connsiteY1" fmla="*/ 197224 h 227783"/>
              <a:gd name="connsiteX2" fmla="*/ 175697 w 354991"/>
              <a:gd name="connsiteY2" fmla="*/ 224118 h 227783"/>
            </a:gdLst>
            <a:ahLst/>
            <a:cxnLst>
              <a:cxn ang="0">
                <a:pos x="connsiteX0" y="connsiteY0"/>
              </a:cxn>
              <a:cxn ang="0">
                <a:pos x="connsiteX1" y="connsiteY1"/>
              </a:cxn>
              <a:cxn ang="0">
                <a:pos x="connsiteX2" y="connsiteY2"/>
              </a:cxn>
            </a:cxnLst>
            <a:rect l="l" t="t" r="r" b="b"/>
            <a:pathLst>
              <a:path w="354991" h="227783">
                <a:moveTo>
                  <a:pt x="354991" y="0"/>
                </a:moveTo>
                <a:cubicBezTo>
                  <a:pt x="195120" y="79935"/>
                  <a:pt x="35250" y="159871"/>
                  <a:pt x="5368" y="197224"/>
                </a:cubicBezTo>
                <a:cubicBezTo>
                  <a:pt x="-24514" y="234577"/>
                  <a:pt x="75591" y="229347"/>
                  <a:pt x="175697" y="224118"/>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C5BCC9E7-F9C8-6750-DC47-820B3D83BF94}"/>
              </a:ext>
            </a:extLst>
          </p:cNvPr>
          <p:cNvSpPr txBox="1"/>
          <p:nvPr/>
        </p:nvSpPr>
        <p:spPr>
          <a:xfrm>
            <a:off x="4407833" y="3570577"/>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7314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98E7A-4BB3-4899-D108-2FD918232EA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8951B56-5A26-478A-BD3E-4DC8534E0A6C}"/>
              </a:ext>
            </a:extLst>
          </p:cNvPr>
          <p:cNvSpPr/>
          <p:nvPr/>
        </p:nvSpPr>
        <p:spPr>
          <a:xfrm>
            <a:off x="230572"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805C17C8-C90D-FD68-6183-C136FF13A5D0}"/>
              </a:ext>
            </a:extLst>
          </p:cNvPr>
          <p:cNvSpPr/>
          <p:nvPr/>
        </p:nvSpPr>
        <p:spPr>
          <a:xfrm>
            <a:off x="3668716"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7BFCA4C4-B9A7-802F-F856-6D0CD93CF559}"/>
              </a:ext>
            </a:extLst>
          </p:cNvPr>
          <p:cNvSpPr/>
          <p:nvPr/>
        </p:nvSpPr>
        <p:spPr>
          <a:xfrm rot="21193878">
            <a:off x="1648514" y="2866427"/>
            <a:ext cx="4937760" cy="673445"/>
          </a:xfrm>
          <a:prstGeom prst="rect">
            <a:avLst/>
          </a:prstGeom>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Bridge</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ABD6B650-158A-A6C9-D5C5-C7D3D660AE02}"/>
              </a:ext>
            </a:extLst>
          </p:cNvPr>
          <p:cNvSpPr/>
          <p:nvPr/>
        </p:nvSpPr>
        <p:spPr>
          <a:xfrm>
            <a:off x="468316" y="2738838"/>
            <a:ext cx="2962656" cy="2029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85B1F050-2F9C-737D-80DD-DCE0CB129C13}"/>
              </a:ext>
            </a:extLst>
          </p:cNvPr>
          <p:cNvSpPr txBox="1"/>
          <p:nvPr/>
        </p:nvSpPr>
        <p:spPr>
          <a:xfrm>
            <a:off x="431219" y="2700230"/>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FB5D85EA-6B5A-C5BE-3A70-20B12DC18324}"/>
              </a:ext>
            </a:extLst>
          </p:cNvPr>
          <p:cNvCxnSpPr>
            <a:cxnSpLocks/>
          </p:cNvCxnSpPr>
          <p:nvPr/>
        </p:nvCxnSpPr>
        <p:spPr>
          <a:xfrm>
            <a:off x="3668716" y="2915622"/>
            <a:ext cx="0" cy="662432"/>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9560C74-F26A-9113-B300-F86A83092B9C}"/>
              </a:ext>
            </a:extLst>
          </p:cNvPr>
          <p:cNvSpPr txBox="1"/>
          <p:nvPr/>
        </p:nvSpPr>
        <p:spPr>
          <a:xfrm>
            <a:off x="3107005" y="1487603"/>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D6BFBBA0-15F6-8FA3-82BB-B82F302CF168}"/>
              </a:ext>
            </a:extLst>
          </p:cNvPr>
          <p:cNvSpPr txBox="1"/>
          <p:nvPr/>
        </p:nvSpPr>
        <p:spPr>
          <a:xfrm>
            <a:off x="6545149" y="1452827"/>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637E202A-3FAF-8592-9B4D-4448D1802321}"/>
              </a:ext>
            </a:extLst>
          </p:cNvPr>
          <p:cNvSpPr/>
          <p:nvPr/>
        </p:nvSpPr>
        <p:spPr>
          <a:xfrm>
            <a:off x="4912190" y="2590850"/>
            <a:ext cx="89408" cy="8534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7FF56587-9F60-211C-A67D-7AA98758F76D}"/>
              </a:ext>
            </a:extLst>
          </p:cNvPr>
          <p:cNvSpPr/>
          <p:nvPr/>
        </p:nvSpPr>
        <p:spPr>
          <a:xfrm>
            <a:off x="4889775" y="3509447"/>
            <a:ext cx="89408" cy="8534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42B6BFB9-F338-8D1F-8CA7-93F6FF32A1D4}"/>
              </a:ext>
            </a:extLst>
          </p:cNvPr>
          <p:cNvCxnSpPr/>
          <p:nvPr/>
        </p:nvCxnSpPr>
        <p:spPr>
          <a:xfrm>
            <a:off x="1480352" y="3341005"/>
            <a:ext cx="268705" cy="168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FA2A8E27-1CB8-DDD5-BDE7-37072666A57A}"/>
              </a:ext>
            </a:extLst>
          </p:cNvPr>
          <p:cNvSpPr/>
          <p:nvPr/>
        </p:nvSpPr>
        <p:spPr>
          <a:xfrm>
            <a:off x="5025192" y="2566703"/>
            <a:ext cx="349144" cy="348919"/>
          </a:xfrm>
          <a:custGeom>
            <a:avLst/>
            <a:gdLst>
              <a:gd name="connsiteX0" fmla="*/ 0 w 349144"/>
              <a:gd name="connsiteY0" fmla="*/ 57566 h 348919"/>
              <a:gd name="connsiteX1" fmla="*/ 300317 w 349144"/>
              <a:gd name="connsiteY1" fmla="*/ 21707 h 348919"/>
              <a:gd name="connsiteX2" fmla="*/ 345141 w 349144"/>
              <a:gd name="connsiteY2" fmla="*/ 348919 h 348919"/>
            </a:gdLst>
            <a:ahLst/>
            <a:cxnLst>
              <a:cxn ang="0">
                <a:pos x="connsiteX0" y="connsiteY0"/>
              </a:cxn>
              <a:cxn ang="0">
                <a:pos x="connsiteX1" y="connsiteY1"/>
              </a:cxn>
              <a:cxn ang="0">
                <a:pos x="connsiteX2" y="connsiteY2"/>
              </a:cxn>
            </a:cxnLst>
            <a:rect l="l" t="t" r="r" b="b"/>
            <a:pathLst>
              <a:path w="349144" h="348919">
                <a:moveTo>
                  <a:pt x="0" y="57566"/>
                </a:moveTo>
                <a:cubicBezTo>
                  <a:pt x="121397" y="15357"/>
                  <a:pt x="242794" y="-26852"/>
                  <a:pt x="300317" y="21707"/>
                </a:cubicBezTo>
                <a:cubicBezTo>
                  <a:pt x="357840" y="70266"/>
                  <a:pt x="351490" y="209592"/>
                  <a:pt x="345141" y="348919"/>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35EF2426-93A6-B43B-3424-F334538EADC4}"/>
              </a:ext>
            </a:extLst>
          </p:cNvPr>
          <p:cNvSpPr txBox="1"/>
          <p:nvPr/>
        </p:nvSpPr>
        <p:spPr>
          <a:xfrm>
            <a:off x="5147281" y="2390663"/>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CD4EE136-B1DF-0B18-60B7-CFD5910AAF4C}"/>
              </a:ext>
            </a:extLst>
          </p:cNvPr>
          <p:cNvSpPr/>
          <p:nvPr/>
        </p:nvSpPr>
        <p:spPr>
          <a:xfrm>
            <a:off x="4705585" y="3334871"/>
            <a:ext cx="354991" cy="227783"/>
          </a:xfrm>
          <a:custGeom>
            <a:avLst/>
            <a:gdLst>
              <a:gd name="connsiteX0" fmla="*/ 354991 w 354991"/>
              <a:gd name="connsiteY0" fmla="*/ 0 h 227783"/>
              <a:gd name="connsiteX1" fmla="*/ 5368 w 354991"/>
              <a:gd name="connsiteY1" fmla="*/ 197224 h 227783"/>
              <a:gd name="connsiteX2" fmla="*/ 175697 w 354991"/>
              <a:gd name="connsiteY2" fmla="*/ 224118 h 227783"/>
            </a:gdLst>
            <a:ahLst/>
            <a:cxnLst>
              <a:cxn ang="0">
                <a:pos x="connsiteX0" y="connsiteY0"/>
              </a:cxn>
              <a:cxn ang="0">
                <a:pos x="connsiteX1" y="connsiteY1"/>
              </a:cxn>
              <a:cxn ang="0">
                <a:pos x="connsiteX2" y="connsiteY2"/>
              </a:cxn>
            </a:cxnLst>
            <a:rect l="l" t="t" r="r" b="b"/>
            <a:pathLst>
              <a:path w="354991" h="227783">
                <a:moveTo>
                  <a:pt x="354991" y="0"/>
                </a:moveTo>
                <a:cubicBezTo>
                  <a:pt x="195120" y="79935"/>
                  <a:pt x="35250" y="159871"/>
                  <a:pt x="5368" y="197224"/>
                </a:cubicBezTo>
                <a:cubicBezTo>
                  <a:pt x="-24514" y="234577"/>
                  <a:pt x="75591" y="229347"/>
                  <a:pt x="175697" y="224118"/>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8D0F5A37-2E0C-C12D-0A57-3E6A6D1E7482}"/>
              </a:ext>
            </a:extLst>
          </p:cNvPr>
          <p:cNvSpPr txBox="1"/>
          <p:nvPr/>
        </p:nvSpPr>
        <p:spPr>
          <a:xfrm>
            <a:off x="4407833" y="3570577"/>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2F9B9FAE-85AD-F045-491B-CCF6F0D60956}"/>
              </a:ext>
            </a:extLst>
          </p:cNvPr>
          <p:cNvSpPr/>
          <p:nvPr/>
        </p:nvSpPr>
        <p:spPr>
          <a:xfrm>
            <a:off x="4775228" y="2473604"/>
            <a:ext cx="354246" cy="369332"/>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BD9B9A42-5DB9-5894-67C8-566DE1BB01B0}"/>
              </a:ext>
            </a:extLst>
          </p:cNvPr>
          <p:cNvSpPr txBox="1"/>
          <p:nvPr/>
        </p:nvSpPr>
        <p:spPr>
          <a:xfrm>
            <a:off x="4694361" y="2275970"/>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S-124</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25" name="TextBox 24">
            <a:extLst>
              <a:ext uri="{FF2B5EF4-FFF2-40B4-BE49-F238E27FC236}">
                <a16:creationId xmlns:a16="http://schemas.microsoft.com/office/drawing/2014/main" id="{D687E604-983F-857C-7CF4-AEDA7BD195D0}"/>
              </a:ext>
            </a:extLst>
          </p:cNvPr>
          <p:cNvSpPr txBox="1"/>
          <p:nvPr/>
        </p:nvSpPr>
        <p:spPr>
          <a:xfrm>
            <a:off x="1005408" y="3140115"/>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A232C4CB-A70F-89C7-BC2D-A86BAD343597}"/>
              </a:ext>
            </a:extLst>
          </p:cNvPr>
          <p:cNvSpPr txBox="1"/>
          <p:nvPr/>
        </p:nvSpPr>
        <p:spPr>
          <a:xfrm>
            <a:off x="2039367" y="3264430"/>
            <a:ext cx="25199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a</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68DA7D72-BDF7-00E0-E1A5-DD1C41BBE4B8}"/>
              </a:ext>
            </a:extLst>
          </p:cNvPr>
          <p:cNvSpPr txBox="1"/>
          <p:nvPr/>
        </p:nvSpPr>
        <p:spPr>
          <a:xfrm>
            <a:off x="6091517" y="2856121"/>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b</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40C9834F-EA2C-4949-0DFE-2BF21ABDE8BD}"/>
              </a:ext>
            </a:extLst>
          </p:cNvPr>
          <p:cNvSpPr txBox="1"/>
          <p:nvPr/>
        </p:nvSpPr>
        <p:spPr>
          <a:xfrm>
            <a:off x="4931583" y="2551270"/>
            <a:ext cx="24397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c</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2C458519-CD6B-8499-4A49-DF7D55F9DA22}"/>
              </a:ext>
            </a:extLst>
          </p:cNvPr>
          <p:cNvSpPr txBox="1"/>
          <p:nvPr/>
        </p:nvSpPr>
        <p:spPr>
          <a:xfrm>
            <a:off x="4917157" y="3554148"/>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d</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B76D2190-05E1-B62E-0A17-7C6568AB8B1A}"/>
              </a:ext>
            </a:extLst>
          </p:cNvPr>
          <p:cNvSpPr txBox="1"/>
          <p:nvPr/>
        </p:nvSpPr>
        <p:spPr>
          <a:xfrm>
            <a:off x="4599504" y="2307273"/>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e</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04A609F5-00ED-2654-4E24-D75FF234E723}"/>
              </a:ext>
            </a:extLst>
          </p:cNvPr>
          <p:cNvSpPr txBox="1"/>
          <p:nvPr/>
        </p:nvSpPr>
        <p:spPr>
          <a:xfrm>
            <a:off x="199429" y="1487603"/>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26352F4C-D614-632D-77E7-1E015A4978C5}"/>
              </a:ext>
            </a:extLst>
          </p:cNvPr>
          <p:cNvSpPr txBox="1"/>
          <p:nvPr/>
        </p:nvSpPr>
        <p:spPr>
          <a:xfrm>
            <a:off x="3611895" y="1487602"/>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9" name="TextBox 38">
            <a:extLst>
              <a:ext uri="{FF2B5EF4-FFF2-40B4-BE49-F238E27FC236}">
                <a16:creationId xmlns:a16="http://schemas.microsoft.com/office/drawing/2014/main" id="{8A4E9779-CFD2-C2B7-C73F-7EF4258E5F3F}"/>
              </a:ext>
            </a:extLst>
          </p:cNvPr>
          <p:cNvSpPr txBox="1"/>
          <p:nvPr/>
        </p:nvSpPr>
        <p:spPr>
          <a:xfrm>
            <a:off x="1147012" y="5408210"/>
            <a:ext cx="4731295" cy="923330"/>
          </a:xfrm>
          <a:prstGeom prst="rect">
            <a:avLst/>
          </a:prstGeom>
          <a:noFill/>
        </p:spPr>
        <p:txBody>
          <a:bodyPr wrap="none" rtlCol="0">
            <a:spAutoFit/>
          </a:bodyPr>
          <a:lstStyle/>
          <a:p>
            <a:r>
              <a:rPr lang="en-US" dirty="0"/>
              <a:t>What happens when you do a pick report?</a:t>
            </a:r>
          </a:p>
          <a:p>
            <a:endParaRPr lang="en-US" dirty="0"/>
          </a:p>
          <a:p>
            <a:r>
              <a:rPr lang="en-US" dirty="0"/>
              <a:t>Which features do you get information for [a-e]?</a:t>
            </a:r>
            <a:endParaRPr lang="en-GB" dirty="0"/>
          </a:p>
        </p:txBody>
      </p:sp>
      <p:sp>
        <p:nvSpPr>
          <p:cNvPr id="40" name="TextBox 39">
            <a:extLst>
              <a:ext uri="{FF2B5EF4-FFF2-40B4-BE49-F238E27FC236}">
                <a16:creationId xmlns:a16="http://schemas.microsoft.com/office/drawing/2014/main" id="{AF71247E-3258-F45A-DDDA-A44CF445862E}"/>
              </a:ext>
            </a:extLst>
          </p:cNvPr>
          <p:cNvSpPr txBox="1"/>
          <p:nvPr/>
        </p:nvSpPr>
        <p:spPr>
          <a:xfrm>
            <a:off x="253202" y="67437"/>
            <a:ext cx="10413359" cy="1067343"/>
          </a:xfrm>
          <a:prstGeom prst="rect">
            <a:avLst/>
          </a:prstGeom>
          <a:noFill/>
        </p:spPr>
        <p:txBody>
          <a:bodyPr wrap="square">
            <a:spAutoFit/>
          </a:bodyPr>
          <a:lstStyle/>
          <a:p>
            <a:pPr>
              <a:lnSpc>
                <a:spcPct val="120000"/>
              </a:lnSpc>
            </a:pPr>
            <a:r>
              <a:rPr lang="en-US" dirty="0"/>
              <a:t>Interoperability Identifier is ECDIS functionality. It is a “join field” – it says which features you want to be grouped together when one of them is picked by the pick report. How does it work when you want the NW information to be returned when the user picks a component of the bridge?</a:t>
            </a:r>
          </a:p>
        </p:txBody>
      </p:sp>
    </p:spTree>
    <p:extLst>
      <p:ext uri="{BB962C8B-B14F-4D97-AF65-F5344CB8AC3E}">
        <p14:creationId xmlns:p14="http://schemas.microsoft.com/office/powerpoint/2010/main" val="3721317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40244-18F6-3920-56DB-288FABFBC8D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B37204B-0E94-4C15-6910-5F8811E13773}"/>
              </a:ext>
            </a:extLst>
          </p:cNvPr>
          <p:cNvSpPr/>
          <p:nvPr/>
        </p:nvSpPr>
        <p:spPr>
          <a:xfrm>
            <a:off x="230572"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30034E8E-E7A7-3E7C-28B1-1B27ACA67D45}"/>
              </a:ext>
            </a:extLst>
          </p:cNvPr>
          <p:cNvSpPr/>
          <p:nvPr/>
        </p:nvSpPr>
        <p:spPr>
          <a:xfrm>
            <a:off x="3668716"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DF31B898-1B07-8783-4FA6-1EC66401B824}"/>
              </a:ext>
            </a:extLst>
          </p:cNvPr>
          <p:cNvSpPr/>
          <p:nvPr/>
        </p:nvSpPr>
        <p:spPr>
          <a:xfrm>
            <a:off x="1817504" y="2877120"/>
            <a:ext cx="2962656" cy="2029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11FC75F9-46CE-3480-42D3-563EF2D7F474}"/>
              </a:ext>
            </a:extLst>
          </p:cNvPr>
          <p:cNvSpPr txBox="1"/>
          <p:nvPr/>
        </p:nvSpPr>
        <p:spPr>
          <a:xfrm>
            <a:off x="3107005" y="1487603"/>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13D47504-EDC1-E97C-B718-F0AE47F414A7}"/>
              </a:ext>
            </a:extLst>
          </p:cNvPr>
          <p:cNvSpPr txBox="1"/>
          <p:nvPr/>
        </p:nvSpPr>
        <p:spPr>
          <a:xfrm>
            <a:off x="6545149" y="1452827"/>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DDE19897-7E51-1929-8CED-226F56E364F4}"/>
              </a:ext>
            </a:extLst>
          </p:cNvPr>
          <p:cNvSpPr txBox="1"/>
          <p:nvPr/>
        </p:nvSpPr>
        <p:spPr>
          <a:xfrm>
            <a:off x="199429" y="1487603"/>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8E1DA65A-4E31-F4ED-79B0-710ABB917E76}"/>
              </a:ext>
            </a:extLst>
          </p:cNvPr>
          <p:cNvSpPr txBox="1"/>
          <p:nvPr/>
        </p:nvSpPr>
        <p:spPr>
          <a:xfrm>
            <a:off x="3611895" y="1487602"/>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9" name="Freeform: Shape 38">
            <a:extLst>
              <a:ext uri="{FF2B5EF4-FFF2-40B4-BE49-F238E27FC236}">
                <a16:creationId xmlns:a16="http://schemas.microsoft.com/office/drawing/2014/main" id="{9E816672-C3B2-BA0B-415B-0BD46A7A1A4C}"/>
              </a:ext>
            </a:extLst>
          </p:cNvPr>
          <p:cNvSpPr/>
          <p:nvPr/>
        </p:nvSpPr>
        <p:spPr>
          <a:xfrm rot="16200000">
            <a:off x="3369255" y="3721432"/>
            <a:ext cx="685149" cy="1191416"/>
          </a:xfrm>
          <a:custGeom>
            <a:avLst/>
            <a:gdLst>
              <a:gd name="connsiteX0" fmla="*/ 226406 w 685149"/>
              <a:gd name="connsiteY0" fmla="*/ 0 h 1191416"/>
              <a:gd name="connsiteX1" fmla="*/ 2288 w 685149"/>
              <a:gd name="connsiteY1" fmla="*/ 663388 h 1191416"/>
              <a:gd name="connsiteX2" fmla="*/ 136759 w 685149"/>
              <a:gd name="connsiteY2" fmla="*/ 1071282 h 1191416"/>
              <a:gd name="connsiteX3" fmla="*/ 540171 w 685149"/>
              <a:gd name="connsiteY3" fmla="*/ 1174376 h 1191416"/>
              <a:gd name="connsiteX4" fmla="*/ 674641 w 685149"/>
              <a:gd name="connsiteY4" fmla="*/ 770964 h 1191416"/>
              <a:gd name="connsiteX5" fmla="*/ 665677 w 685149"/>
              <a:gd name="connsiteY5" fmla="*/ 591670 h 1191416"/>
              <a:gd name="connsiteX6" fmla="*/ 580512 w 685149"/>
              <a:gd name="connsiteY6" fmla="*/ 219635 h 1191416"/>
              <a:gd name="connsiteX7" fmla="*/ 450524 w 685149"/>
              <a:gd name="connsiteY7" fmla="*/ 4482 h 119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149" h="1191416">
                <a:moveTo>
                  <a:pt x="226406" y="0"/>
                </a:moveTo>
                <a:cubicBezTo>
                  <a:pt x="121817" y="242420"/>
                  <a:pt x="17229" y="484841"/>
                  <a:pt x="2288" y="663388"/>
                </a:cubicBezTo>
                <a:cubicBezTo>
                  <a:pt x="-12653" y="841935"/>
                  <a:pt x="47112" y="986117"/>
                  <a:pt x="136759" y="1071282"/>
                </a:cubicBezTo>
                <a:cubicBezTo>
                  <a:pt x="226406" y="1156447"/>
                  <a:pt x="450524" y="1224429"/>
                  <a:pt x="540171" y="1174376"/>
                </a:cubicBezTo>
                <a:cubicBezTo>
                  <a:pt x="629818" y="1124323"/>
                  <a:pt x="653723" y="868082"/>
                  <a:pt x="674641" y="770964"/>
                </a:cubicBezTo>
                <a:cubicBezTo>
                  <a:pt x="695559" y="673846"/>
                  <a:pt x="681365" y="683558"/>
                  <a:pt x="665677" y="591670"/>
                </a:cubicBezTo>
                <a:cubicBezTo>
                  <a:pt x="649989" y="499782"/>
                  <a:pt x="616371" y="317500"/>
                  <a:pt x="580512" y="219635"/>
                </a:cubicBezTo>
                <a:cubicBezTo>
                  <a:pt x="544653" y="121770"/>
                  <a:pt x="497588" y="63126"/>
                  <a:pt x="450524" y="4482"/>
                </a:cubicBezTo>
              </a:path>
            </a:pathLst>
          </a:custGeom>
          <a:noFill/>
          <a:ln w="28575">
            <a:solidFill>
              <a:srgbClr val="C925BD"/>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5C37B6AC-DB01-6E91-A373-21E79BA93466}"/>
              </a:ext>
            </a:extLst>
          </p:cNvPr>
          <p:cNvSpPr txBox="1"/>
          <p:nvPr/>
        </p:nvSpPr>
        <p:spPr>
          <a:xfrm rot="20414996">
            <a:off x="3056051" y="3865474"/>
            <a:ext cx="59182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Spatial</a:t>
            </a:r>
            <a:r>
              <a:rPr kumimoji="0" lang="en-US" sz="1000" b="1" i="0" u="none" strike="noStrike" kern="1200" cap="none" spc="0" normalizeH="0" baseline="-25000" noProof="0" dirty="0">
                <a:ln>
                  <a:noFill/>
                </a:ln>
                <a:solidFill>
                  <a:prstClr val="black"/>
                </a:solidFill>
                <a:effectLst/>
                <a:uLnTx/>
                <a:uFillTx/>
                <a:latin typeface="Calibri" panose="020F0502020204030204"/>
                <a:ea typeface="+mn-ea"/>
                <a:cs typeface="+mn-cs"/>
              </a:rPr>
              <a:t>1</a:t>
            </a:r>
            <a:endParaRPr kumimoji="0" lang="en-GB"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10368217-EA8F-8C80-68D7-7E2258198DD0}"/>
              </a:ext>
            </a:extLst>
          </p:cNvPr>
          <p:cNvSpPr txBox="1"/>
          <p:nvPr/>
        </p:nvSpPr>
        <p:spPr>
          <a:xfrm rot="1382470">
            <a:off x="3048476" y="4515153"/>
            <a:ext cx="59182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Spatial</a:t>
            </a:r>
            <a:r>
              <a:rPr kumimoji="0" lang="en-US" sz="1000" b="1" i="0" u="none" strike="noStrike" kern="1200" cap="none" spc="0" normalizeH="0" baseline="-25000" noProof="0" dirty="0">
                <a:ln>
                  <a:noFill/>
                </a:ln>
                <a:solidFill>
                  <a:prstClr val="black"/>
                </a:solidFill>
                <a:effectLst/>
                <a:uLnTx/>
                <a:uFillTx/>
                <a:latin typeface="Calibri" panose="020F0502020204030204"/>
                <a:ea typeface="+mn-ea"/>
                <a:cs typeface="+mn-cs"/>
              </a:rPr>
              <a:t>2</a:t>
            </a:r>
            <a:endParaRPr kumimoji="0" lang="en-GB"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Box 40">
            <a:extLst>
              <a:ext uri="{FF2B5EF4-FFF2-40B4-BE49-F238E27FC236}">
                <a16:creationId xmlns:a16="http://schemas.microsoft.com/office/drawing/2014/main" id="{9A032D78-C4BA-7BA1-D86D-E79587E4F1BE}"/>
              </a:ext>
            </a:extLst>
          </p:cNvPr>
          <p:cNvSpPr txBox="1"/>
          <p:nvPr/>
        </p:nvSpPr>
        <p:spPr>
          <a:xfrm>
            <a:off x="3869865" y="5193649"/>
            <a:ext cx="10759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=1810:238975:35</a:t>
            </a:r>
            <a:endParaRPr kumimoji="0" lang="en-GB" sz="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F89DF5A9-B0C6-81BD-25D6-77531BEBBCDD}"/>
              </a:ext>
            </a:extLst>
          </p:cNvPr>
          <p:cNvSpPr txBox="1"/>
          <p:nvPr/>
        </p:nvSpPr>
        <p:spPr>
          <a:xfrm>
            <a:off x="2268454" y="5180514"/>
            <a:ext cx="10759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=1810:238975:35</a:t>
            </a:r>
            <a:endParaRPr kumimoji="0" lang="en-GB" sz="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B83A61B6-5CEF-CDB3-1684-3B7575F481F4}"/>
              </a:ext>
            </a:extLst>
          </p:cNvPr>
          <p:cNvSpPr/>
          <p:nvPr/>
        </p:nvSpPr>
        <p:spPr>
          <a:xfrm>
            <a:off x="2865412" y="4508073"/>
            <a:ext cx="358624" cy="721658"/>
          </a:xfrm>
          <a:custGeom>
            <a:avLst/>
            <a:gdLst>
              <a:gd name="connsiteX0" fmla="*/ 9000 w 358624"/>
              <a:gd name="connsiteY0" fmla="*/ 721658 h 721658"/>
              <a:gd name="connsiteX1" fmla="*/ 44859 w 358624"/>
              <a:gd name="connsiteY1" fmla="*/ 138953 h 721658"/>
              <a:gd name="connsiteX2" fmla="*/ 358624 w 358624"/>
              <a:gd name="connsiteY2" fmla="*/ 0 h 721658"/>
            </a:gdLst>
            <a:ahLst/>
            <a:cxnLst>
              <a:cxn ang="0">
                <a:pos x="connsiteX0" y="connsiteY0"/>
              </a:cxn>
              <a:cxn ang="0">
                <a:pos x="connsiteX1" y="connsiteY1"/>
              </a:cxn>
              <a:cxn ang="0">
                <a:pos x="connsiteX2" y="connsiteY2"/>
              </a:cxn>
            </a:cxnLst>
            <a:rect l="l" t="t" r="r" b="b"/>
            <a:pathLst>
              <a:path w="358624" h="721658">
                <a:moveTo>
                  <a:pt x="9000" y="721658"/>
                </a:moveTo>
                <a:cubicBezTo>
                  <a:pt x="-2206" y="490443"/>
                  <a:pt x="-13412" y="259229"/>
                  <a:pt x="44859" y="138953"/>
                </a:cubicBezTo>
                <a:cubicBezTo>
                  <a:pt x="103130" y="18677"/>
                  <a:pt x="230877" y="9338"/>
                  <a:pt x="358624" y="0"/>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77EF0AF1-70A9-9A69-5A75-690424FC5BF8}"/>
              </a:ext>
            </a:extLst>
          </p:cNvPr>
          <p:cNvSpPr/>
          <p:nvPr/>
        </p:nvSpPr>
        <p:spPr>
          <a:xfrm>
            <a:off x="2639457" y="4082234"/>
            <a:ext cx="533919" cy="1154962"/>
          </a:xfrm>
          <a:custGeom>
            <a:avLst/>
            <a:gdLst>
              <a:gd name="connsiteX0" fmla="*/ 247049 w 533919"/>
              <a:gd name="connsiteY0" fmla="*/ 1154962 h 1154962"/>
              <a:gd name="connsiteX1" fmla="*/ 519 w 533919"/>
              <a:gd name="connsiteY1" fmla="*/ 285386 h 1154962"/>
              <a:gd name="connsiteX2" fmla="*/ 305319 w 533919"/>
              <a:gd name="connsiteY2" fmla="*/ 16445 h 1154962"/>
              <a:gd name="connsiteX3" fmla="*/ 533919 w 533919"/>
              <a:gd name="connsiteY3" fmla="*/ 52303 h 1154962"/>
            </a:gdLst>
            <a:ahLst/>
            <a:cxnLst>
              <a:cxn ang="0">
                <a:pos x="connsiteX0" y="connsiteY0"/>
              </a:cxn>
              <a:cxn ang="0">
                <a:pos x="connsiteX1" y="connsiteY1"/>
              </a:cxn>
              <a:cxn ang="0">
                <a:pos x="connsiteX2" y="connsiteY2"/>
              </a:cxn>
              <a:cxn ang="0">
                <a:pos x="connsiteX3" y="connsiteY3"/>
              </a:cxn>
            </a:cxnLst>
            <a:rect l="l" t="t" r="r" b="b"/>
            <a:pathLst>
              <a:path w="533919" h="1154962">
                <a:moveTo>
                  <a:pt x="247049" y="1154962"/>
                </a:moveTo>
                <a:cubicBezTo>
                  <a:pt x="118928" y="815050"/>
                  <a:pt x="-9193" y="475139"/>
                  <a:pt x="519" y="285386"/>
                </a:cubicBezTo>
                <a:cubicBezTo>
                  <a:pt x="10231" y="95633"/>
                  <a:pt x="216419" y="55292"/>
                  <a:pt x="305319" y="16445"/>
                </a:cubicBezTo>
                <a:cubicBezTo>
                  <a:pt x="394219" y="-22402"/>
                  <a:pt x="464069" y="14950"/>
                  <a:pt x="533919" y="52303"/>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CFF85DA0-DF9B-C5EF-E2BC-3F35C26960D5}"/>
              </a:ext>
            </a:extLst>
          </p:cNvPr>
          <p:cNvSpPr/>
          <p:nvPr/>
        </p:nvSpPr>
        <p:spPr>
          <a:xfrm>
            <a:off x="4231341" y="4347882"/>
            <a:ext cx="167100" cy="900953"/>
          </a:xfrm>
          <a:custGeom>
            <a:avLst/>
            <a:gdLst>
              <a:gd name="connsiteX0" fmla="*/ 0 w 167100"/>
              <a:gd name="connsiteY0" fmla="*/ 900953 h 900953"/>
              <a:gd name="connsiteX1" fmla="*/ 165847 w 167100"/>
              <a:gd name="connsiteY1" fmla="*/ 170330 h 900953"/>
              <a:gd name="connsiteX2" fmla="*/ 62753 w 167100"/>
              <a:gd name="connsiteY2" fmla="*/ 0 h 900953"/>
            </a:gdLst>
            <a:ahLst/>
            <a:cxnLst>
              <a:cxn ang="0">
                <a:pos x="connsiteX0" y="connsiteY0"/>
              </a:cxn>
              <a:cxn ang="0">
                <a:pos x="connsiteX1" y="connsiteY1"/>
              </a:cxn>
              <a:cxn ang="0">
                <a:pos x="connsiteX2" y="connsiteY2"/>
              </a:cxn>
            </a:cxnLst>
            <a:rect l="l" t="t" r="r" b="b"/>
            <a:pathLst>
              <a:path w="167100" h="900953">
                <a:moveTo>
                  <a:pt x="0" y="900953"/>
                </a:moveTo>
                <a:cubicBezTo>
                  <a:pt x="77694" y="610721"/>
                  <a:pt x="155388" y="320489"/>
                  <a:pt x="165847" y="170330"/>
                </a:cubicBezTo>
                <a:cubicBezTo>
                  <a:pt x="176306" y="20171"/>
                  <a:pt x="119529" y="10085"/>
                  <a:pt x="62753" y="0"/>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TextBox 45">
            <a:extLst>
              <a:ext uri="{FF2B5EF4-FFF2-40B4-BE49-F238E27FC236}">
                <a16:creationId xmlns:a16="http://schemas.microsoft.com/office/drawing/2014/main" id="{464A6E19-7BE0-9D35-B525-6EBE29C5EA5E}"/>
              </a:ext>
            </a:extLst>
          </p:cNvPr>
          <p:cNvSpPr txBox="1"/>
          <p:nvPr/>
        </p:nvSpPr>
        <p:spPr>
          <a:xfrm>
            <a:off x="1996885" y="4362617"/>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cxnSp>
        <p:nvCxnSpPr>
          <p:cNvPr id="47" name="Straight Arrow Connector 46">
            <a:extLst>
              <a:ext uri="{FF2B5EF4-FFF2-40B4-BE49-F238E27FC236}">
                <a16:creationId xmlns:a16="http://schemas.microsoft.com/office/drawing/2014/main" id="{CBB8C004-95F3-D3C3-56C2-341448E08C37}"/>
              </a:ext>
            </a:extLst>
          </p:cNvPr>
          <p:cNvCxnSpPr>
            <a:cxnSpLocks/>
          </p:cNvCxnSpPr>
          <p:nvPr/>
        </p:nvCxnSpPr>
        <p:spPr>
          <a:xfrm flipV="1">
            <a:off x="2490002" y="4455459"/>
            <a:ext cx="599109" cy="1052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42E6D35-AB1B-5A28-A693-1B282E2E05CF}"/>
              </a:ext>
            </a:extLst>
          </p:cNvPr>
          <p:cNvSpPr txBox="1"/>
          <p:nvPr/>
        </p:nvSpPr>
        <p:spPr>
          <a:xfrm>
            <a:off x="1814161" y="2842383"/>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BEC0B0B-66E6-CF4C-B801-AD7107D110AA}"/>
              </a:ext>
            </a:extLst>
          </p:cNvPr>
          <p:cNvSpPr txBox="1"/>
          <p:nvPr/>
        </p:nvSpPr>
        <p:spPr>
          <a:xfrm>
            <a:off x="349478" y="5454520"/>
            <a:ext cx="9192645" cy="923330"/>
          </a:xfrm>
          <a:prstGeom prst="rect">
            <a:avLst/>
          </a:prstGeom>
          <a:noFill/>
        </p:spPr>
        <p:txBody>
          <a:bodyPr wrap="none" rtlCol="0">
            <a:spAutoFit/>
          </a:bodyPr>
          <a:lstStyle/>
          <a:p>
            <a:r>
              <a:rPr lang="en-US" dirty="0"/>
              <a:t>What happens when you do a pick report?</a:t>
            </a:r>
          </a:p>
          <a:p>
            <a:endParaRPr lang="en-US" dirty="0"/>
          </a:p>
          <a:p>
            <a:r>
              <a:rPr lang="en-US" dirty="0"/>
              <a:t>Is the whole feature highlighted? Are the attributes merged (although they should be the same?)</a:t>
            </a:r>
            <a:endParaRPr lang="en-GB" dirty="0"/>
          </a:p>
        </p:txBody>
      </p:sp>
    </p:spTree>
    <p:extLst>
      <p:ext uri="{BB962C8B-B14F-4D97-AF65-F5344CB8AC3E}">
        <p14:creationId xmlns:p14="http://schemas.microsoft.com/office/powerpoint/2010/main" val="2237259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0B89-96FE-78C6-17E8-6EA31608AD5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093399-CF04-CB78-FE82-889F632EBB3B}"/>
              </a:ext>
            </a:extLst>
          </p:cNvPr>
          <p:cNvSpPr>
            <a:spLocks noGrp="1"/>
          </p:cNvSpPr>
          <p:nvPr>
            <p:ph idx="1"/>
          </p:nvPr>
        </p:nvSpPr>
        <p:spPr>
          <a:xfrm>
            <a:off x="268857" y="672943"/>
            <a:ext cx="8958670" cy="5387197"/>
          </a:xfrm>
        </p:spPr>
        <p:txBody>
          <a:bodyPr>
            <a:normAutofit fontScale="70000" lnSpcReduction="20000"/>
          </a:bodyPr>
          <a:lstStyle/>
          <a:p>
            <a:pPr>
              <a:lnSpc>
                <a:spcPct val="110000"/>
              </a:lnSpc>
            </a:pPr>
            <a:r>
              <a:rPr lang="en-US" dirty="0"/>
              <a:t>We are trying to do 2 different things:</a:t>
            </a:r>
          </a:p>
          <a:p>
            <a:pPr lvl="1">
              <a:lnSpc>
                <a:spcPct val="110000"/>
              </a:lnSpc>
            </a:pPr>
            <a:r>
              <a:rPr lang="en-US" dirty="0"/>
              <a:t>Identify features (</a:t>
            </a:r>
            <a:r>
              <a:rPr lang="en-US" dirty="0" err="1"/>
              <a:t>interoperabilityIdentifer</a:t>
            </a:r>
            <a:r>
              <a:rPr lang="en-US" dirty="0"/>
              <a:t> does this)</a:t>
            </a:r>
          </a:p>
          <a:p>
            <a:pPr lvl="1">
              <a:lnSpc>
                <a:spcPct val="110000"/>
              </a:lnSpc>
            </a:pPr>
            <a:r>
              <a:rPr lang="en-US" dirty="0"/>
              <a:t>Associate between features in different PS, as well as in different datasets (the same PS)</a:t>
            </a:r>
          </a:p>
          <a:p>
            <a:pPr lvl="1">
              <a:lnSpc>
                <a:spcPct val="110000"/>
              </a:lnSpc>
            </a:pPr>
            <a:endParaRPr lang="en-US" dirty="0"/>
          </a:p>
          <a:p>
            <a:pPr>
              <a:lnSpc>
                <a:spcPct val="110000"/>
              </a:lnSpc>
            </a:pPr>
            <a:r>
              <a:rPr lang="en-US" dirty="0"/>
              <a:t>So, </a:t>
            </a:r>
            <a:r>
              <a:rPr lang="en-US" b="1" i="1" dirty="0" err="1"/>
              <a:t>interoperablityIdentifier</a:t>
            </a:r>
            <a:r>
              <a:rPr lang="en-US" dirty="0"/>
              <a:t> identifies “features”</a:t>
            </a:r>
          </a:p>
          <a:p>
            <a:pPr>
              <a:lnSpc>
                <a:spcPct val="110000"/>
              </a:lnSpc>
            </a:pPr>
            <a:r>
              <a:rPr lang="en-US" b="1" i="1" dirty="0" err="1"/>
              <a:t>featureReference.interoperabilityIdentifier</a:t>
            </a:r>
            <a:r>
              <a:rPr lang="en-US" b="1" i="1" dirty="0"/>
              <a:t> </a:t>
            </a:r>
            <a:r>
              <a:rPr lang="en-US" dirty="0"/>
              <a:t>contains a reference to “other” identifiers in some product specifications (not all)</a:t>
            </a:r>
          </a:p>
          <a:p>
            <a:pPr>
              <a:lnSpc>
                <a:spcPct val="110000"/>
              </a:lnSpc>
            </a:pPr>
            <a:endParaRPr lang="en-US" dirty="0"/>
          </a:p>
          <a:p>
            <a:pPr>
              <a:lnSpc>
                <a:spcPct val="110000"/>
              </a:lnSpc>
            </a:pPr>
            <a:r>
              <a:rPr lang="en-US" dirty="0"/>
              <a:t>The ECDIS must return (in the pick report)</a:t>
            </a:r>
          </a:p>
          <a:p>
            <a:pPr lvl="1">
              <a:lnSpc>
                <a:spcPct val="110000"/>
              </a:lnSpc>
            </a:pPr>
            <a:r>
              <a:rPr lang="en-US" b="1" dirty="0">
                <a:solidFill>
                  <a:srgbClr val="C00000"/>
                </a:solidFill>
              </a:rPr>
              <a:t>All features with identical </a:t>
            </a:r>
            <a:r>
              <a:rPr lang="en-US" b="1" dirty="0" err="1">
                <a:solidFill>
                  <a:srgbClr val="C00000"/>
                </a:solidFill>
              </a:rPr>
              <a:t>interoperabilityIdentifiers</a:t>
            </a:r>
            <a:endParaRPr lang="en-US" b="1" dirty="0">
              <a:solidFill>
                <a:srgbClr val="C00000"/>
              </a:solidFill>
            </a:endParaRPr>
          </a:p>
          <a:p>
            <a:pPr lvl="1">
              <a:lnSpc>
                <a:spcPct val="110000"/>
              </a:lnSpc>
            </a:pPr>
            <a:r>
              <a:rPr lang="en-US" b="1" dirty="0">
                <a:solidFill>
                  <a:srgbClr val="C00000"/>
                </a:solidFill>
              </a:rPr>
              <a:t>Any feature which has a feature reference containing the </a:t>
            </a:r>
            <a:r>
              <a:rPr lang="en-US" b="1" dirty="0" err="1">
                <a:solidFill>
                  <a:srgbClr val="C00000"/>
                </a:solidFill>
              </a:rPr>
              <a:t>interoperabilityIdentifier</a:t>
            </a:r>
            <a:r>
              <a:rPr lang="en-US" b="1" dirty="0">
                <a:solidFill>
                  <a:srgbClr val="C00000"/>
                </a:solidFill>
              </a:rPr>
              <a:t> of the picked feature.</a:t>
            </a:r>
          </a:p>
          <a:p>
            <a:pPr lvl="1">
              <a:lnSpc>
                <a:spcPct val="110000"/>
              </a:lnSpc>
            </a:pPr>
            <a:endParaRPr lang="en-US" dirty="0"/>
          </a:p>
          <a:p>
            <a:pPr>
              <a:lnSpc>
                <a:spcPct val="110000"/>
              </a:lnSpc>
            </a:pPr>
            <a:r>
              <a:rPr lang="en-US" dirty="0"/>
              <a:t>There can be multiple feature references in S-124</a:t>
            </a:r>
          </a:p>
          <a:p>
            <a:pPr>
              <a:lnSpc>
                <a:spcPct val="110000"/>
              </a:lnSpc>
            </a:pPr>
            <a:r>
              <a:rPr lang="en-US" dirty="0"/>
              <a:t>How can you associate between different datasets (same PS) Using common </a:t>
            </a:r>
            <a:r>
              <a:rPr lang="en-US" dirty="0" err="1"/>
              <a:t>foid</a:t>
            </a:r>
            <a:r>
              <a:rPr lang="en-US" dirty="0"/>
              <a:t>?</a:t>
            </a:r>
          </a:p>
          <a:p>
            <a:pPr>
              <a:lnSpc>
                <a:spcPct val="110000"/>
              </a:lnSpc>
            </a:pPr>
            <a:endParaRPr lang="en-GB" dirty="0"/>
          </a:p>
        </p:txBody>
      </p:sp>
      <p:pic>
        <p:nvPicPr>
          <p:cNvPr id="4" name="Picture 3">
            <a:extLst>
              <a:ext uri="{FF2B5EF4-FFF2-40B4-BE49-F238E27FC236}">
                <a16:creationId xmlns:a16="http://schemas.microsoft.com/office/drawing/2014/main" id="{B3107FBF-E529-1A89-9B9A-FC64687B3CF3}"/>
              </a:ext>
            </a:extLst>
          </p:cNvPr>
          <p:cNvPicPr>
            <a:picLocks noChangeAspect="1"/>
          </p:cNvPicPr>
          <p:nvPr/>
        </p:nvPicPr>
        <p:blipFill>
          <a:blip r:embed="rId2"/>
          <a:stretch>
            <a:fillRect/>
          </a:stretch>
        </p:blipFill>
        <p:spPr>
          <a:xfrm>
            <a:off x="8692564" y="2025618"/>
            <a:ext cx="2863129" cy="1513867"/>
          </a:xfrm>
          <a:prstGeom prst="rect">
            <a:avLst/>
          </a:prstGeom>
        </p:spPr>
      </p:pic>
    </p:spTree>
    <p:extLst>
      <p:ext uri="{BB962C8B-B14F-4D97-AF65-F5344CB8AC3E}">
        <p14:creationId xmlns:p14="http://schemas.microsoft.com/office/powerpoint/2010/main" val="1281628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1083A-06E6-8148-D37E-75C6090C39E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0329CD9-400A-F30A-F929-013152D3245D}"/>
              </a:ext>
            </a:extLst>
          </p:cNvPr>
          <p:cNvSpPr/>
          <p:nvPr/>
        </p:nvSpPr>
        <p:spPr>
          <a:xfrm>
            <a:off x="573472" y="1125739"/>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B23C6100-5181-6E3E-A0A8-5CB8D680612E}"/>
              </a:ext>
            </a:extLst>
          </p:cNvPr>
          <p:cNvSpPr/>
          <p:nvPr/>
        </p:nvSpPr>
        <p:spPr>
          <a:xfrm>
            <a:off x="4011616" y="1125739"/>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79568CC3-FBA2-78D5-F9EF-52EA4FF7A076}"/>
              </a:ext>
            </a:extLst>
          </p:cNvPr>
          <p:cNvSpPr/>
          <p:nvPr/>
        </p:nvSpPr>
        <p:spPr>
          <a:xfrm rot="21193878">
            <a:off x="1991414" y="2486752"/>
            <a:ext cx="4937760" cy="673445"/>
          </a:xfrm>
          <a:prstGeom prst="rect">
            <a:avLst/>
          </a:prstGeom>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Bridge</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56B4F7CD-59B3-E0D6-EE0C-617F0532E93E}"/>
              </a:ext>
            </a:extLst>
          </p:cNvPr>
          <p:cNvSpPr/>
          <p:nvPr/>
        </p:nvSpPr>
        <p:spPr>
          <a:xfrm>
            <a:off x="811216" y="2010988"/>
            <a:ext cx="3939516" cy="23781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902D3ED-7A01-3F0E-5528-0D258FDC9F01}"/>
              </a:ext>
            </a:extLst>
          </p:cNvPr>
          <p:cNvSpPr txBox="1"/>
          <p:nvPr/>
        </p:nvSpPr>
        <p:spPr>
          <a:xfrm>
            <a:off x="774119" y="2320555"/>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63FBFA4F-17FE-DFBA-CAD8-9DA9D8CB163A}"/>
              </a:ext>
            </a:extLst>
          </p:cNvPr>
          <p:cNvCxnSpPr>
            <a:cxnSpLocks/>
          </p:cNvCxnSpPr>
          <p:nvPr/>
        </p:nvCxnSpPr>
        <p:spPr>
          <a:xfrm>
            <a:off x="4011616" y="2535947"/>
            <a:ext cx="0" cy="662432"/>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5C767BC-008D-9ABF-DAAA-6EE75787245A}"/>
              </a:ext>
            </a:extLst>
          </p:cNvPr>
          <p:cNvSpPr txBox="1"/>
          <p:nvPr/>
        </p:nvSpPr>
        <p:spPr>
          <a:xfrm>
            <a:off x="3449905" y="1107928"/>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B260C8AF-F442-9FB6-1A6D-055E884B275A}"/>
              </a:ext>
            </a:extLst>
          </p:cNvPr>
          <p:cNvSpPr txBox="1"/>
          <p:nvPr/>
        </p:nvSpPr>
        <p:spPr>
          <a:xfrm>
            <a:off x="6888049" y="1073152"/>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8A65CFE6-7B4E-5800-7BA4-05B10889452A}"/>
              </a:ext>
            </a:extLst>
          </p:cNvPr>
          <p:cNvSpPr/>
          <p:nvPr/>
        </p:nvSpPr>
        <p:spPr>
          <a:xfrm>
            <a:off x="5255090" y="2211175"/>
            <a:ext cx="89408" cy="8534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5BAEA201-FAB1-5FE1-19BF-15BCAA266962}"/>
              </a:ext>
            </a:extLst>
          </p:cNvPr>
          <p:cNvSpPr/>
          <p:nvPr/>
        </p:nvSpPr>
        <p:spPr>
          <a:xfrm>
            <a:off x="5232675" y="3129772"/>
            <a:ext cx="89408" cy="8534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ED2D1FD2-2F10-3483-BE71-8C4CC14B0AE1}"/>
              </a:ext>
            </a:extLst>
          </p:cNvPr>
          <p:cNvCxnSpPr/>
          <p:nvPr/>
        </p:nvCxnSpPr>
        <p:spPr>
          <a:xfrm>
            <a:off x="1823252" y="2961330"/>
            <a:ext cx="268705" cy="168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DF4CA20-7286-EA4C-ED07-80D0829594FE}"/>
              </a:ext>
            </a:extLst>
          </p:cNvPr>
          <p:cNvSpPr txBox="1"/>
          <p:nvPr/>
        </p:nvSpPr>
        <p:spPr>
          <a:xfrm>
            <a:off x="1348308" y="2760440"/>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20D8D174-B2BC-289A-47B4-BB329550C24B}"/>
              </a:ext>
            </a:extLst>
          </p:cNvPr>
          <p:cNvSpPr txBox="1"/>
          <p:nvPr/>
        </p:nvSpPr>
        <p:spPr>
          <a:xfrm>
            <a:off x="2382267" y="2884755"/>
            <a:ext cx="25199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a</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C63AE18D-B29F-C092-5882-060EE908B1AF}"/>
              </a:ext>
            </a:extLst>
          </p:cNvPr>
          <p:cNvSpPr txBox="1"/>
          <p:nvPr/>
        </p:nvSpPr>
        <p:spPr>
          <a:xfrm>
            <a:off x="6434417" y="2476446"/>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b</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30DBC9BE-FF17-F0E0-650B-375BF303F4F3}"/>
              </a:ext>
            </a:extLst>
          </p:cNvPr>
          <p:cNvSpPr txBox="1"/>
          <p:nvPr/>
        </p:nvSpPr>
        <p:spPr>
          <a:xfrm>
            <a:off x="5274483" y="2171595"/>
            <a:ext cx="24397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c</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89185FB4-CD63-F444-4009-E4C52F90A41A}"/>
              </a:ext>
            </a:extLst>
          </p:cNvPr>
          <p:cNvSpPr txBox="1"/>
          <p:nvPr/>
        </p:nvSpPr>
        <p:spPr>
          <a:xfrm>
            <a:off x="5260057" y="3174473"/>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d</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A3AEBCEA-8BF4-EFC5-CC42-584B7DDF1FE3}"/>
              </a:ext>
            </a:extLst>
          </p:cNvPr>
          <p:cNvSpPr txBox="1"/>
          <p:nvPr/>
        </p:nvSpPr>
        <p:spPr>
          <a:xfrm>
            <a:off x="542329" y="1107928"/>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C388E41E-F4F7-FC4E-1A86-BB201A6148A3}"/>
              </a:ext>
            </a:extLst>
          </p:cNvPr>
          <p:cNvSpPr txBox="1"/>
          <p:nvPr/>
        </p:nvSpPr>
        <p:spPr>
          <a:xfrm>
            <a:off x="3954795" y="1107927"/>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9" name="TextBox 8">
            <a:extLst>
              <a:ext uri="{FF2B5EF4-FFF2-40B4-BE49-F238E27FC236}">
                <a16:creationId xmlns:a16="http://schemas.microsoft.com/office/drawing/2014/main" id="{72580E56-1095-1F1F-8FC3-2ECE2A1284DD}"/>
              </a:ext>
            </a:extLst>
          </p:cNvPr>
          <p:cNvSpPr txBox="1"/>
          <p:nvPr/>
        </p:nvSpPr>
        <p:spPr>
          <a:xfrm>
            <a:off x="1111972" y="5027657"/>
            <a:ext cx="4528997" cy="1477328"/>
          </a:xfrm>
          <a:prstGeom prst="rect">
            <a:avLst/>
          </a:prstGeom>
          <a:noFill/>
        </p:spPr>
        <p:txBody>
          <a:bodyPr wrap="none" rtlCol="0">
            <a:spAutoFit/>
          </a:bodyPr>
          <a:lstStyle/>
          <a:p>
            <a:r>
              <a:rPr lang="en-US" dirty="0"/>
              <a:t>What happens when you do a pick report (a)? </a:t>
            </a:r>
          </a:p>
          <a:p>
            <a:pPr marL="342900" indent="-342900">
              <a:buAutoNum type="alphaLcParenBoth"/>
            </a:pPr>
            <a:r>
              <a:rPr lang="en-US" dirty="0"/>
              <a:t>Feature picked</a:t>
            </a:r>
          </a:p>
          <a:p>
            <a:pPr marL="342900" indent="-342900">
              <a:buAutoNum type="alphaLcParenBoth"/>
            </a:pPr>
            <a:r>
              <a:rPr lang="en-US" dirty="0"/>
              <a:t>Common </a:t>
            </a:r>
            <a:r>
              <a:rPr lang="en-US" dirty="0" err="1"/>
              <a:t>foid</a:t>
            </a:r>
            <a:endParaRPr lang="en-US" dirty="0"/>
          </a:p>
          <a:p>
            <a:pPr marL="342900" indent="-342900">
              <a:buAutoNum type="alphaLcParenBoth"/>
            </a:pPr>
            <a:r>
              <a:rPr lang="en-US" dirty="0"/>
              <a:t>Associated with (b)</a:t>
            </a:r>
          </a:p>
          <a:p>
            <a:pPr marL="342900" indent="-342900">
              <a:buAutoNum type="alphaLcParenBoth"/>
            </a:pPr>
            <a:r>
              <a:rPr lang="en-US" dirty="0"/>
              <a:t>Associated with (b)</a:t>
            </a:r>
          </a:p>
        </p:txBody>
      </p:sp>
      <p:sp>
        <p:nvSpPr>
          <p:cNvPr id="39" name="TextBox 38">
            <a:extLst>
              <a:ext uri="{FF2B5EF4-FFF2-40B4-BE49-F238E27FC236}">
                <a16:creationId xmlns:a16="http://schemas.microsoft.com/office/drawing/2014/main" id="{93700FB7-8217-E87D-3EAD-16FE2E94EE41}"/>
              </a:ext>
            </a:extLst>
          </p:cNvPr>
          <p:cNvSpPr txBox="1"/>
          <p:nvPr/>
        </p:nvSpPr>
        <p:spPr>
          <a:xfrm>
            <a:off x="161412" y="303944"/>
            <a:ext cx="10413359" cy="402546"/>
          </a:xfrm>
          <a:prstGeom prst="rect">
            <a:avLst/>
          </a:prstGeom>
          <a:noFill/>
        </p:spPr>
        <p:txBody>
          <a:bodyPr wrap="square">
            <a:spAutoFit/>
          </a:bodyPr>
          <a:lstStyle/>
          <a:p>
            <a:pPr>
              <a:lnSpc>
                <a:spcPct val="120000"/>
              </a:lnSpc>
            </a:pPr>
            <a:r>
              <a:rPr lang="en-US" dirty="0"/>
              <a:t>So: </a:t>
            </a:r>
            <a:r>
              <a:rPr lang="en-US" b="1" dirty="0">
                <a:solidFill>
                  <a:srgbClr val="C00000"/>
                </a:solidFill>
              </a:rPr>
              <a:t>Features with common </a:t>
            </a:r>
            <a:r>
              <a:rPr lang="en-US" b="1" dirty="0" err="1">
                <a:solidFill>
                  <a:srgbClr val="C00000"/>
                </a:solidFill>
              </a:rPr>
              <a:t>foids</a:t>
            </a:r>
            <a:r>
              <a:rPr lang="en-US" b="1" dirty="0">
                <a:solidFill>
                  <a:srgbClr val="C00000"/>
                </a:solidFill>
              </a:rPr>
              <a:t> in the viewport should be merged together for the pick report</a:t>
            </a:r>
            <a:r>
              <a:rPr lang="en-US" dirty="0"/>
              <a:t>?</a:t>
            </a:r>
          </a:p>
        </p:txBody>
      </p:sp>
      <p:sp>
        <p:nvSpPr>
          <p:cNvPr id="2" name="TextBox 1">
            <a:extLst>
              <a:ext uri="{FF2B5EF4-FFF2-40B4-BE49-F238E27FC236}">
                <a16:creationId xmlns:a16="http://schemas.microsoft.com/office/drawing/2014/main" id="{C43B634A-9ADF-03FC-773C-273A1ABB531F}"/>
              </a:ext>
            </a:extLst>
          </p:cNvPr>
          <p:cNvSpPr txBox="1"/>
          <p:nvPr/>
        </p:nvSpPr>
        <p:spPr>
          <a:xfrm rot="21175780">
            <a:off x="1982882" y="3187077"/>
            <a:ext cx="1180131"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=1810:238972:42</a:t>
            </a:r>
            <a:endParaRPr kumimoji="0" lang="en-GB"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7B70A66-3A89-5BA2-EE8F-D9B5D5ED3AB7}"/>
              </a:ext>
            </a:extLst>
          </p:cNvPr>
          <p:cNvSpPr txBox="1"/>
          <p:nvPr/>
        </p:nvSpPr>
        <p:spPr>
          <a:xfrm rot="21175780">
            <a:off x="3941845" y="2956508"/>
            <a:ext cx="1180131"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=1810:238972:42</a:t>
            </a:r>
            <a:endParaRPr kumimoji="0" lang="en-GB"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A72C5E6C-DD3E-6CF3-B2CD-DF353FD8DF07}"/>
              </a:ext>
            </a:extLst>
          </p:cNvPr>
          <p:cNvSpPr/>
          <p:nvPr/>
        </p:nvSpPr>
        <p:spPr>
          <a:xfrm>
            <a:off x="5368092" y="2187028"/>
            <a:ext cx="349144" cy="348919"/>
          </a:xfrm>
          <a:custGeom>
            <a:avLst/>
            <a:gdLst>
              <a:gd name="connsiteX0" fmla="*/ 0 w 349144"/>
              <a:gd name="connsiteY0" fmla="*/ 57566 h 348919"/>
              <a:gd name="connsiteX1" fmla="*/ 300317 w 349144"/>
              <a:gd name="connsiteY1" fmla="*/ 21707 h 348919"/>
              <a:gd name="connsiteX2" fmla="*/ 345141 w 349144"/>
              <a:gd name="connsiteY2" fmla="*/ 348919 h 348919"/>
            </a:gdLst>
            <a:ahLst/>
            <a:cxnLst>
              <a:cxn ang="0">
                <a:pos x="connsiteX0" y="connsiteY0"/>
              </a:cxn>
              <a:cxn ang="0">
                <a:pos x="connsiteX1" y="connsiteY1"/>
              </a:cxn>
              <a:cxn ang="0">
                <a:pos x="connsiteX2" y="connsiteY2"/>
              </a:cxn>
            </a:cxnLst>
            <a:rect l="l" t="t" r="r" b="b"/>
            <a:pathLst>
              <a:path w="349144" h="348919">
                <a:moveTo>
                  <a:pt x="0" y="57566"/>
                </a:moveTo>
                <a:cubicBezTo>
                  <a:pt x="121397" y="15357"/>
                  <a:pt x="242794" y="-26852"/>
                  <a:pt x="300317" y="21707"/>
                </a:cubicBezTo>
                <a:cubicBezTo>
                  <a:pt x="357840" y="70266"/>
                  <a:pt x="351490" y="209592"/>
                  <a:pt x="345141" y="348919"/>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C513D881-0220-76B0-816B-8195BE703C0D}"/>
              </a:ext>
            </a:extLst>
          </p:cNvPr>
          <p:cNvSpPr txBox="1"/>
          <p:nvPr/>
        </p:nvSpPr>
        <p:spPr>
          <a:xfrm>
            <a:off x="5490181" y="2010988"/>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904DF43-5EC4-5228-7163-692F60FEDAB0}"/>
              </a:ext>
            </a:extLst>
          </p:cNvPr>
          <p:cNvSpPr/>
          <p:nvPr/>
        </p:nvSpPr>
        <p:spPr>
          <a:xfrm>
            <a:off x="5048485" y="2955196"/>
            <a:ext cx="354991" cy="227783"/>
          </a:xfrm>
          <a:custGeom>
            <a:avLst/>
            <a:gdLst>
              <a:gd name="connsiteX0" fmla="*/ 354991 w 354991"/>
              <a:gd name="connsiteY0" fmla="*/ 0 h 227783"/>
              <a:gd name="connsiteX1" fmla="*/ 5368 w 354991"/>
              <a:gd name="connsiteY1" fmla="*/ 197224 h 227783"/>
              <a:gd name="connsiteX2" fmla="*/ 175697 w 354991"/>
              <a:gd name="connsiteY2" fmla="*/ 224118 h 227783"/>
            </a:gdLst>
            <a:ahLst/>
            <a:cxnLst>
              <a:cxn ang="0">
                <a:pos x="connsiteX0" y="connsiteY0"/>
              </a:cxn>
              <a:cxn ang="0">
                <a:pos x="connsiteX1" y="connsiteY1"/>
              </a:cxn>
              <a:cxn ang="0">
                <a:pos x="connsiteX2" y="connsiteY2"/>
              </a:cxn>
            </a:cxnLst>
            <a:rect l="l" t="t" r="r" b="b"/>
            <a:pathLst>
              <a:path w="354991" h="227783">
                <a:moveTo>
                  <a:pt x="354991" y="0"/>
                </a:moveTo>
                <a:cubicBezTo>
                  <a:pt x="195120" y="79935"/>
                  <a:pt x="35250" y="159871"/>
                  <a:pt x="5368" y="197224"/>
                </a:cubicBezTo>
                <a:cubicBezTo>
                  <a:pt x="-24514" y="234577"/>
                  <a:pt x="75591" y="229347"/>
                  <a:pt x="175697" y="224118"/>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32E89090-35C2-D0F6-4EE6-494B6BA40F07}"/>
              </a:ext>
            </a:extLst>
          </p:cNvPr>
          <p:cNvSpPr txBox="1"/>
          <p:nvPr/>
        </p:nvSpPr>
        <p:spPr>
          <a:xfrm>
            <a:off x="4750733" y="3190902"/>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9679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276A7-1574-DDA2-C537-2C17642052B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0367840-A7E9-939B-ABEC-6B0D4F9B398B}"/>
              </a:ext>
            </a:extLst>
          </p:cNvPr>
          <p:cNvSpPr/>
          <p:nvPr/>
        </p:nvSpPr>
        <p:spPr>
          <a:xfrm>
            <a:off x="230572"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20693A36-C65C-CCA8-16C0-91CC50ED5405}"/>
              </a:ext>
            </a:extLst>
          </p:cNvPr>
          <p:cNvSpPr/>
          <p:nvPr/>
        </p:nvSpPr>
        <p:spPr>
          <a:xfrm>
            <a:off x="3668716"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2E7CF74D-004E-1424-C69F-E98705752EEE}"/>
              </a:ext>
            </a:extLst>
          </p:cNvPr>
          <p:cNvSpPr/>
          <p:nvPr/>
        </p:nvSpPr>
        <p:spPr>
          <a:xfrm rot="21193878">
            <a:off x="1648514" y="2866427"/>
            <a:ext cx="4937760" cy="673445"/>
          </a:xfrm>
          <a:prstGeom prst="rect">
            <a:avLst/>
          </a:prstGeom>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Bridge</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E9C57A8D-6B0D-420A-5AF6-E87E66A0CCEA}"/>
              </a:ext>
            </a:extLst>
          </p:cNvPr>
          <p:cNvSpPr/>
          <p:nvPr/>
        </p:nvSpPr>
        <p:spPr>
          <a:xfrm>
            <a:off x="468316" y="2738838"/>
            <a:ext cx="2962656" cy="2029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7D9F3BDF-83A2-3C20-0883-8418C465DF12}"/>
              </a:ext>
            </a:extLst>
          </p:cNvPr>
          <p:cNvSpPr txBox="1"/>
          <p:nvPr/>
        </p:nvSpPr>
        <p:spPr>
          <a:xfrm>
            <a:off x="431219" y="2700230"/>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9C8E3E2B-CCBE-7BC6-D36F-8B1C8E912E39}"/>
              </a:ext>
            </a:extLst>
          </p:cNvPr>
          <p:cNvCxnSpPr>
            <a:cxnSpLocks/>
          </p:cNvCxnSpPr>
          <p:nvPr/>
        </p:nvCxnSpPr>
        <p:spPr>
          <a:xfrm>
            <a:off x="3668716" y="2915622"/>
            <a:ext cx="0" cy="662432"/>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5BD16CB-9F4C-AC9C-5CFE-62A61745C89A}"/>
              </a:ext>
            </a:extLst>
          </p:cNvPr>
          <p:cNvSpPr txBox="1"/>
          <p:nvPr/>
        </p:nvSpPr>
        <p:spPr>
          <a:xfrm>
            <a:off x="3107005" y="1487603"/>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62AF44F1-E25C-4810-D323-996CA8B9CE51}"/>
              </a:ext>
            </a:extLst>
          </p:cNvPr>
          <p:cNvSpPr txBox="1"/>
          <p:nvPr/>
        </p:nvSpPr>
        <p:spPr>
          <a:xfrm>
            <a:off x="6545149" y="1452827"/>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D9150EF9-BF1B-F10D-C495-848D6944B1BE}"/>
              </a:ext>
            </a:extLst>
          </p:cNvPr>
          <p:cNvSpPr/>
          <p:nvPr/>
        </p:nvSpPr>
        <p:spPr>
          <a:xfrm>
            <a:off x="4912190" y="2590850"/>
            <a:ext cx="89408" cy="8534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6177CC9C-06D9-C651-3E85-75ECCCDEFFD7}"/>
              </a:ext>
            </a:extLst>
          </p:cNvPr>
          <p:cNvSpPr/>
          <p:nvPr/>
        </p:nvSpPr>
        <p:spPr>
          <a:xfrm>
            <a:off x="4889775" y="3509447"/>
            <a:ext cx="89408" cy="8534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470E6B8A-7851-DF0D-F66E-868C8EDF9E03}"/>
              </a:ext>
            </a:extLst>
          </p:cNvPr>
          <p:cNvCxnSpPr/>
          <p:nvPr/>
        </p:nvCxnSpPr>
        <p:spPr>
          <a:xfrm>
            <a:off x="1480352" y="3341005"/>
            <a:ext cx="268705" cy="168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81C5A88-4EE6-81D0-D159-B897AA304869}"/>
              </a:ext>
            </a:extLst>
          </p:cNvPr>
          <p:cNvSpPr txBox="1"/>
          <p:nvPr/>
        </p:nvSpPr>
        <p:spPr>
          <a:xfrm rot="21175780">
            <a:off x="1639982" y="3566752"/>
            <a:ext cx="1180131"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=1810:238972:42</a:t>
            </a:r>
            <a:endParaRPr kumimoji="0" lang="en-GB"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83DAB12-1B65-0E16-E5FB-08F7E5FCCA64}"/>
              </a:ext>
            </a:extLst>
          </p:cNvPr>
          <p:cNvSpPr txBox="1"/>
          <p:nvPr/>
        </p:nvSpPr>
        <p:spPr>
          <a:xfrm rot="21175780">
            <a:off x="3598945" y="3336183"/>
            <a:ext cx="1180131"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=1810:238972:42</a:t>
            </a:r>
            <a:endParaRPr kumimoji="0" lang="en-GB"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1FCD36D5-78F1-E512-871E-D324D5BD47AF}"/>
              </a:ext>
            </a:extLst>
          </p:cNvPr>
          <p:cNvSpPr/>
          <p:nvPr/>
        </p:nvSpPr>
        <p:spPr>
          <a:xfrm>
            <a:off x="5025192" y="2566703"/>
            <a:ext cx="349144" cy="348919"/>
          </a:xfrm>
          <a:custGeom>
            <a:avLst/>
            <a:gdLst>
              <a:gd name="connsiteX0" fmla="*/ 0 w 349144"/>
              <a:gd name="connsiteY0" fmla="*/ 57566 h 348919"/>
              <a:gd name="connsiteX1" fmla="*/ 300317 w 349144"/>
              <a:gd name="connsiteY1" fmla="*/ 21707 h 348919"/>
              <a:gd name="connsiteX2" fmla="*/ 345141 w 349144"/>
              <a:gd name="connsiteY2" fmla="*/ 348919 h 348919"/>
            </a:gdLst>
            <a:ahLst/>
            <a:cxnLst>
              <a:cxn ang="0">
                <a:pos x="connsiteX0" y="connsiteY0"/>
              </a:cxn>
              <a:cxn ang="0">
                <a:pos x="connsiteX1" y="connsiteY1"/>
              </a:cxn>
              <a:cxn ang="0">
                <a:pos x="connsiteX2" y="connsiteY2"/>
              </a:cxn>
            </a:cxnLst>
            <a:rect l="l" t="t" r="r" b="b"/>
            <a:pathLst>
              <a:path w="349144" h="348919">
                <a:moveTo>
                  <a:pt x="0" y="57566"/>
                </a:moveTo>
                <a:cubicBezTo>
                  <a:pt x="121397" y="15357"/>
                  <a:pt x="242794" y="-26852"/>
                  <a:pt x="300317" y="21707"/>
                </a:cubicBezTo>
                <a:cubicBezTo>
                  <a:pt x="357840" y="70266"/>
                  <a:pt x="351490" y="209592"/>
                  <a:pt x="345141" y="348919"/>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50A960D8-2617-5C4E-8F69-D73A3F7003EC}"/>
              </a:ext>
            </a:extLst>
          </p:cNvPr>
          <p:cNvSpPr txBox="1"/>
          <p:nvPr/>
        </p:nvSpPr>
        <p:spPr>
          <a:xfrm>
            <a:off x="5147281" y="2390663"/>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80EDA634-2DAB-AC62-6181-2D1B039F7899}"/>
              </a:ext>
            </a:extLst>
          </p:cNvPr>
          <p:cNvSpPr txBox="1"/>
          <p:nvPr/>
        </p:nvSpPr>
        <p:spPr>
          <a:xfrm>
            <a:off x="3927148" y="2592632"/>
            <a:ext cx="1071127"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schemeClr val="bg1">
                    <a:lumMod val="50000"/>
                  </a:schemeClr>
                </a:solidFill>
                <a:effectLst/>
                <a:uLnTx/>
                <a:uFillTx/>
                <a:latin typeface="Calibri" panose="020F0502020204030204"/>
                <a:ea typeface="+mn-ea"/>
                <a:cs typeface="+mn-cs"/>
              </a:rPr>
              <a:t>foid</a:t>
            </a:r>
            <a:r>
              <a:rPr kumimoji="0" lang="en-US" sz="800" b="1" i="0" u="none" strike="noStrike" kern="1200" cap="none" spc="0" normalizeH="0" baseline="0" noProof="0" dirty="0">
                <a:ln>
                  <a:noFill/>
                </a:ln>
                <a:solidFill>
                  <a:schemeClr val="bg1">
                    <a:lumMod val="50000"/>
                  </a:schemeClr>
                </a:solidFill>
                <a:effectLst/>
                <a:uLnTx/>
                <a:uFillTx/>
                <a:latin typeface="Calibri" panose="020F0502020204030204"/>
                <a:ea typeface="+mn-ea"/>
                <a:cs typeface="+mn-cs"/>
              </a:rPr>
              <a:t>=1810:856723:11</a:t>
            </a:r>
            <a:endParaRPr kumimoji="0" lang="en-GB" sz="800" b="1" i="0" u="none" strike="noStrike" kern="1200" cap="none" spc="0" normalizeH="0" baseline="0" noProof="0" dirty="0">
              <a:ln>
                <a:noFill/>
              </a:ln>
              <a:solidFill>
                <a:schemeClr val="bg1">
                  <a:lumMod val="50000"/>
                </a:schemeClr>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1783524A-E357-A607-D07F-2FBEF89179A3}"/>
              </a:ext>
            </a:extLst>
          </p:cNvPr>
          <p:cNvSpPr txBox="1"/>
          <p:nvPr/>
        </p:nvSpPr>
        <p:spPr>
          <a:xfrm>
            <a:off x="4912190" y="3449096"/>
            <a:ext cx="10759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=1810:856723:12</a:t>
            </a:r>
            <a:endParaRPr kumimoji="0" lang="en-GB" sz="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D27B8AA3-CEB0-3B43-B203-70E7C07B23C2}"/>
              </a:ext>
            </a:extLst>
          </p:cNvPr>
          <p:cNvSpPr/>
          <p:nvPr/>
        </p:nvSpPr>
        <p:spPr>
          <a:xfrm>
            <a:off x="4705585" y="3334871"/>
            <a:ext cx="354991" cy="227783"/>
          </a:xfrm>
          <a:custGeom>
            <a:avLst/>
            <a:gdLst>
              <a:gd name="connsiteX0" fmla="*/ 354991 w 354991"/>
              <a:gd name="connsiteY0" fmla="*/ 0 h 227783"/>
              <a:gd name="connsiteX1" fmla="*/ 5368 w 354991"/>
              <a:gd name="connsiteY1" fmla="*/ 197224 h 227783"/>
              <a:gd name="connsiteX2" fmla="*/ 175697 w 354991"/>
              <a:gd name="connsiteY2" fmla="*/ 224118 h 227783"/>
            </a:gdLst>
            <a:ahLst/>
            <a:cxnLst>
              <a:cxn ang="0">
                <a:pos x="connsiteX0" y="connsiteY0"/>
              </a:cxn>
              <a:cxn ang="0">
                <a:pos x="connsiteX1" y="connsiteY1"/>
              </a:cxn>
              <a:cxn ang="0">
                <a:pos x="connsiteX2" y="connsiteY2"/>
              </a:cxn>
            </a:cxnLst>
            <a:rect l="l" t="t" r="r" b="b"/>
            <a:pathLst>
              <a:path w="354991" h="227783">
                <a:moveTo>
                  <a:pt x="354991" y="0"/>
                </a:moveTo>
                <a:cubicBezTo>
                  <a:pt x="195120" y="79935"/>
                  <a:pt x="35250" y="159871"/>
                  <a:pt x="5368" y="197224"/>
                </a:cubicBezTo>
                <a:cubicBezTo>
                  <a:pt x="-24514" y="234577"/>
                  <a:pt x="75591" y="229347"/>
                  <a:pt x="175697" y="224118"/>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17AB3123-3C9D-CC6E-0CA2-6AFADDDAB825}"/>
              </a:ext>
            </a:extLst>
          </p:cNvPr>
          <p:cNvSpPr txBox="1"/>
          <p:nvPr/>
        </p:nvSpPr>
        <p:spPr>
          <a:xfrm>
            <a:off x="4407833" y="3570577"/>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70E2F02-7BAD-F336-AD34-06335F451B28}"/>
              </a:ext>
            </a:extLst>
          </p:cNvPr>
          <p:cNvSpPr/>
          <p:nvPr/>
        </p:nvSpPr>
        <p:spPr>
          <a:xfrm>
            <a:off x="4775228" y="2473604"/>
            <a:ext cx="354246" cy="369332"/>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32DAAC75-7CB6-70FB-53EF-8056E52B17EC}"/>
              </a:ext>
            </a:extLst>
          </p:cNvPr>
          <p:cNvSpPr txBox="1"/>
          <p:nvPr/>
        </p:nvSpPr>
        <p:spPr>
          <a:xfrm>
            <a:off x="4694361" y="2275970"/>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S-124</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25" name="TextBox 24">
            <a:extLst>
              <a:ext uri="{FF2B5EF4-FFF2-40B4-BE49-F238E27FC236}">
                <a16:creationId xmlns:a16="http://schemas.microsoft.com/office/drawing/2014/main" id="{C91DCF22-5ADD-CD55-9011-90811BAF0368}"/>
              </a:ext>
            </a:extLst>
          </p:cNvPr>
          <p:cNvSpPr txBox="1"/>
          <p:nvPr/>
        </p:nvSpPr>
        <p:spPr>
          <a:xfrm>
            <a:off x="1005408" y="3140115"/>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93F2D207-C0D6-D6D0-405F-37B8117AB72F}"/>
              </a:ext>
            </a:extLst>
          </p:cNvPr>
          <p:cNvSpPr txBox="1"/>
          <p:nvPr/>
        </p:nvSpPr>
        <p:spPr>
          <a:xfrm>
            <a:off x="2039367" y="3264430"/>
            <a:ext cx="25199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a</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5FE8461E-1079-A498-3C66-CF62811D2E67}"/>
              </a:ext>
            </a:extLst>
          </p:cNvPr>
          <p:cNvSpPr txBox="1"/>
          <p:nvPr/>
        </p:nvSpPr>
        <p:spPr>
          <a:xfrm>
            <a:off x="6091517" y="2856121"/>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b</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876C3874-6759-5449-1ECC-93AD36ADD25E}"/>
              </a:ext>
            </a:extLst>
          </p:cNvPr>
          <p:cNvSpPr txBox="1"/>
          <p:nvPr/>
        </p:nvSpPr>
        <p:spPr>
          <a:xfrm>
            <a:off x="4931583" y="2551270"/>
            <a:ext cx="24397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c</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31DCE353-B380-FA24-B518-1E40970A6D91}"/>
              </a:ext>
            </a:extLst>
          </p:cNvPr>
          <p:cNvSpPr txBox="1"/>
          <p:nvPr/>
        </p:nvSpPr>
        <p:spPr>
          <a:xfrm>
            <a:off x="4917157" y="3554148"/>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d</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D50E6707-C502-2965-1413-B188CD6720EC}"/>
              </a:ext>
            </a:extLst>
          </p:cNvPr>
          <p:cNvSpPr txBox="1"/>
          <p:nvPr/>
        </p:nvSpPr>
        <p:spPr>
          <a:xfrm>
            <a:off x="4599504" y="2307273"/>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e</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F5E25DE2-E16A-EA2F-C2FD-FCBE3FFA7FF4}"/>
              </a:ext>
            </a:extLst>
          </p:cNvPr>
          <p:cNvSpPr txBox="1"/>
          <p:nvPr/>
        </p:nvSpPr>
        <p:spPr>
          <a:xfrm>
            <a:off x="199429" y="1487603"/>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91087BEE-3AF8-1973-3668-F42BC71C7FA6}"/>
              </a:ext>
            </a:extLst>
          </p:cNvPr>
          <p:cNvSpPr txBox="1"/>
          <p:nvPr/>
        </p:nvSpPr>
        <p:spPr>
          <a:xfrm>
            <a:off x="3611895" y="1487602"/>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4" name="TextBox 33">
            <a:extLst>
              <a:ext uri="{FF2B5EF4-FFF2-40B4-BE49-F238E27FC236}">
                <a16:creationId xmlns:a16="http://schemas.microsoft.com/office/drawing/2014/main" id="{4AE4532D-2488-A961-4033-AF4AB2403A7C}"/>
              </a:ext>
            </a:extLst>
          </p:cNvPr>
          <p:cNvSpPr txBox="1"/>
          <p:nvPr/>
        </p:nvSpPr>
        <p:spPr>
          <a:xfrm>
            <a:off x="7387039" y="1590444"/>
            <a:ext cx="4909416"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Pick Report must return attributes from:</a:t>
            </a: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Bridge at picked position</a:t>
            </a: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Because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1800" b="0" i="0" u="none" strike="noStrike" kern="1200" cap="none" spc="0" normalizeH="0" baseline="-25000" noProof="0" dirty="0" err="1">
                <a:ln>
                  <a:noFill/>
                </a:ln>
                <a:solidFill>
                  <a:prstClr val="black"/>
                </a:solidFill>
                <a:effectLst/>
                <a:uLnTx/>
                <a:uFillTx/>
                <a:latin typeface="Calibri" panose="020F0502020204030204"/>
                <a:ea typeface="+mn-ea"/>
                <a:cs typeface="+mn-cs"/>
              </a:rPr>
              <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1800" b="0" i="0" u="none" strike="noStrike" kern="1200" cap="none" spc="0" normalizeH="0" baseline="-25000" noProof="0" dirty="0" err="1">
                <a:ln>
                  <a:noFill/>
                </a:ln>
                <a:solidFill>
                  <a:prstClr val="black"/>
                </a:solidFill>
                <a:effectLst/>
                <a:uLnTx/>
                <a:uFillTx/>
                <a:latin typeface="Calibri" panose="020F0502020204030204"/>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Because (b) is associated with (c) </a:t>
            </a: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Because (b) is associated with (d)</a:t>
            </a: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Because </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II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(Bridge) = referenced </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II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(S-124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Navwarn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Part)</a:t>
            </a:r>
          </a:p>
        </p:txBody>
      </p:sp>
      <p:sp>
        <p:nvSpPr>
          <p:cNvPr id="35" name="TextBox 34">
            <a:extLst>
              <a:ext uri="{FF2B5EF4-FFF2-40B4-BE49-F238E27FC236}">
                <a16:creationId xmlns:a16="http://schemas.microsoft.com/office/drawing/2014/main" id="{233800C7-81CF-CA19-292D-2903ED0EB6FA}"/>
              </a:ext>
            </a:extLst>
          </p:cNvPr>
          <p:cNvSpPr txBox="1"/>
          <p:nvPr/>
        </p:nvSpPr>
        <p:spPr>
          <a:xfrm>
            <a:off x="2735828" y="0"/>
            <a:ext cx="6629152" cy="9387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S-124 </a:t>
            </a:r>
            <a:r>
              <a:rPr kumimoji="0" lang="en-US" sz="1100" b="0"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NavwarnPart</a:t>
            </a: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p>
          <a:p>
            <a:pPr lvl="0">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r>
              <a:rPr lang="en-US" sz="1100" dirty="0" err="1"/>
              <a:t>featureReference.interoperabilityIdentifier</a:t>
            </a:r>
            <a:r>
              <a:rPr lang="en-US" sz="1100" i="1" dirty="0"/>
              <a:t> </a:t>
            </a: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=urn:mrn:iho:DK00:00365:856723:11</a:t>
            </a:r>
          </a:p>
          <a:p>
            <a:pPr lvl="0">
              <a:defRPr/>
            </a:pPr>
            <a:r>
              <a:rPr lang="en-US" sz="1100" dirty="0">
                <a:solidFill>
                  <a:prstClr val="black"/>
                </a:solidFill>
                <a:latin typeface="Consolas" panose="020B0609020204030204" pitchFamily="49" charset="0"/>
              </a:rPr>
              <a:t>   </a:t>
            </a:r>
            <a:r>
              <a:rPr lang="en-US" sz="1100" dirty="0" err="1"/>
              <a:t>featureReference.interoperabilityIdentifier</a:t>
            </a:r>
            <a:r>
              <a:rPr lang="en-US" sz="1100" i="1" dirty="0"/>
              <a:t> </a:t>
            </a:r>
            <a:r>
              <a:rPr lang="en-US" sz="1100" dirty="0">
                <a:solidFill>
                  <a:prstClr val="black"/>
                </a:solidFill>
                <a:latin typeface="Consolas" panose="020B0609020204030204" pitchFamily="49" charset="0"/>
              </a:rPr>
              <a:t>=urn:mrn:iho:DK00:00365:238973:42</a:t>
            </a:r>
          </a:p>
          <a:p>
            <a:pPr lvl="0">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endParaRPr kumimoji="0" lang="en-GB"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6" name="Freeform: Shape 35">
            <a:extLst>
              <a:ext uri="{FF2B5EF4-FFF2-40B4-BE49-F238E27FC236}">
                <a16:creationId xmlns:a16="http://schemas.microsoft.com/office/drawing/2014/main" id="{60FCDE25-AAD5-3EC2-C8D1-E6A214CE2540}"/>
              </a:ext>
            </a:extLst>
          </p:cNvPr>
          <p:cNvSpPr/>
          <p:nvPr/>
        </p:nvSpPr>
        <p:spPr>
          <a:xfrm>
            <a:off x="4979894" y="820271"/>
            <a:ext cx="767814" cy="1662953"/>
          </a:xfrm>
          <a:custGeom>
            <a:avLst/>
            <a:gdLst>
              <a:gd name="connsiteX0" fmla="*/ 147918 w 767814"/>
              <a:gd name="connsiteY0" fmla="*/ 1662953 h 1662953"/>
              <a:gd name="connsiteX1" fmla="*/ 766482 w 767814"/>
              <a:gd name="connsiteY1" fmla="*/ 1048871 h 1662953"/>
              <a:gd name="connsiteX2" fmla="*/ 0 w 767814"/>
              <a:gd name="connsiteY2" fmla="*/ 0 h 1662953"/>
            </a:gdLst>
            <a:ahLst/>
            <a:cxnLst>
              <a:cxn ang="0">
                <a:pos x="connsiteX0" y="connsiteY0"/>
              </a:cxn>
              <a:cxn ang="0">
                <a:pos x="connsiteX1" y="connsiteY1"/>
              </a:cxn>
              <a:cxn ang="0">
                <a:pos x="connsiteX2" y="connsiteY2"/>
              </a:cxn>
            </a:cxnLst>
            <a:rect l="l" t="t" r="r" b="b"/>
            <a:pathLst>
              <a:path w="767814" h="1662953">
                <a:moveTo>
                  <a:pt x="147918" y="1662953"/>
                </a:moveTo>
                <a:cubicBezTo>
                  <a:pt x="469526" y="1494491"/>
                  <a:pt x="791135" y="1326030"/>
                  <a:pt x="766482" y="1048871"/>
                </a:cubicBezTo>
                <a:cubicBezTo>
                  <a:pt x="741829" y="771712"/>
                  <a:pt x="370914" y="385856"/>
                  <a:pt x="0" y="0"/>
                </a:cubicBezTo>
              </a:path>
            </a:pathLst>
          </a:custGeom>
          <a:noFill/>
          <a:ln>
            <a:solidFill>
              <a:schemeClr val="accent6">
                <a:lumMod val="5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TextBox 36">
            <a:extLst>
              <a:ext uri="{FF2B5EF4-FFF2-40B4-BE49-F238E27FC236}">
                <a16:creationId xmlns:a16="http://schemas.microsoft.com/office/drawing/2014/main" id="{0E92EF7B-7EB2-B97C-48CC-58DA319D9195}"/>
              </a:ext>
            </a:extLst>
          </p:cNvPr>
          <p:cNvSpPr txBox="1"/>
          <p:nvPr/>
        </p:nvSpPr>
        <p:spPr>
          <a:xfrm>
            <a:off x="2451198" y="5344815"/>
            <a:ext cx="3245874"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 Bridge (a) and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II=urn:mrn:iho:DK00:00365:856723:11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endParaRPr kumimoji="0" lang="en-GB"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8" name="Freeform: Shape 37">
            <a:extLst>
              <a:ext uri="{FF2B5EF4-FFF2-40B4-BE49-F238E27FC236}">
                <a16:creationId xmlns:a16="http://schemas.microsoft.com/office/drawing/2014/main" id="{89E262F8-98BC-639F-E111-D5E2825A2242}"/>
              </a:ext>
            </a:extLst>
          </p:cNvPr>
          <p:cNvSpPr/>
          <p:nvPr/>
        </p:nvSpPr>
        <p:spPr>
          <a:xfrm>
            <a:off x="5567082" y="3222813"/>
            <a:ext cx="770220" cy="2675301"/>
          </a:xfrm>
          <a:custGeom>
            <a:avLst/>
            <a:gdLst>
              <a:gd name="connsiteX0" fmla="*/ 735106 w 770220"/>
              <a:gd name="connsiteY0" fmla="*/ 0 h 2675301"/>
              <a:gd name="connsiteX1" fmla="*/ 685800 w 770220"/>
              <a:gd name="connsiteY1" fmla="*/ 2294964 h 2675301"/>
              <a:gd name="connsiteX2" fmla="*/ 0 w 770220"/>
              <a:gd name="connsiteY2" fmla="*/ 2649070 h 2675301"/>
            </a:gdLst>
            <a:ahLst/>
            <a:cxnLst>
              <a:cxn ang="0">
                <a:pos x="connsiteX0" y="connsiteY0"/>
              </a:cxn>
              <a:cxn ang="0">
                <a:pos x="connsiteX1" y="connsiteY1"/>
              </a:cxn>
              <a:cxn ang="0">
                <a:pos x="connsiteX2" y="connsiteY2"/>
              </a:cxn>
            </a:cxnLst>
            <a:rect l="l" t="t" r="r" b="b"/>
            <a:pathLst>
              <a:path w="770220" h="2675301">
                <a:moveTo>
                  <a:pt x="735106" y="0"/>
                </a:moveTo>
                <a:cubicBezTo>
                  <a:pt x="771712" y="926726"/>
                  <a:pt x="808318" y="1853452"/>
                  <a:pt x="685800" y="2294964"/>
                </a:cubicBezTo>
                <a:cubicBezTo>
                  <a:pt x="563282" y="2736476"/>
                  <a:pt x="281641" y="2692773"/>
                  <a:pt x="0" y="2649070"/>
                </a:cubicBezTo>
              </a:path>
            </a:pathLst>
          </a:custGeom>
          <a:noFill/>
          <a:ln>
            <a:solidFill>
              <a:schemeClr val="accent6">
                <a:lumMod val="5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80493F00-12E7-1C9A-0A51-CE56ECED23A0}"/>
              </a:ext>
            </a:extLst>
          </p:cNvPr>
          <p:cNvSpPr txBox="1"/>
          <p:nvPr/>
        </p:nvSpPr>
        <p:spPr>
          <a:xfrm>
            <a:off x="240215" y="681151"/>
            <a:ext cx="3245874"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 </a:t>
            </a:r>
            <a:r>
              <a:rPr kumimoji="0" lang="en-US" sz="1100" b="0"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AllRoundLight</a:t>
            </a: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II=urn:mrn:iho:DK00:00365:238973:42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endParaRPr kumimoji="0" lang="en-GB"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11" name="Freeform: Shape 10">
            <a:extLst>
              <a:ext uri="{FF2B5EF4-FFF2-40B4-BE49-F238E27FC236}">
                <a16:creationId xmlns:a16="http://schemas.microsoft.com/office/drawing/2014/main" id="{259C8A08-3E8A-8847-232F-C25D0B2F9B0E}"/>
              </a:ext>
            </a:extLst>
          </p:cNvPr>
          <p:cNvSpPr/>
          <p:nvPr/>
        </p:nvSpPr>
        <p:spPr>
          <a:xfrm>
            <a:off x="1324155" y="1268083"/>
            <a:ext cx="3597215" cy="1345721"/>
          </a:xfrm>
          <a:custGeom>
            <a:avLst/>
            <a:gdLst>
              <a:gd name="csX0" fmla="*/ 3597215 w 3597215"/>
              <a:gd name="csY0" fmla="*/ 1345721 h 1345721"/>
              <a:gd name="csX1" fmla="*/ 711679 w 3597215"/>
              <a:gd name="csY1" fmla="*/ 944592 h 1345721"/>
              <a:gd name="csX2" fmla="*/ 0 w 3597215"/>
              <a:gd name="csY2" fmla="*/ 0 h 1345721"/>
            </a:gdLst>
            <a:ahLst/>
            <a:cxnLst>
              <a:cxn ang="0">
                <a:pos x="csX0" y="csY0"/>
              </a:cxn>
              <a:cxn ang="0">
                <a:pos x="csX1" y="csY1"/>
              </a:cxn>
              <a:cxn ang="0">
                <a:pos x="csX2" y="csY2"/>
              </a:cxn>
            </a:cxnLst>
            <a:rect l="l" t="t" r="r" b="b"/>
            <a:pathLst>
              <a:path w="3597215" h="1345721">
                <a:moveTo>
                  <a:pt x="3597215" y="1345721"/>
                </a:moveTo>
                <a:cubicBezTo>
                  <a:pt x="2454215" y="1257300"/>
                  <a:pt x="1311215" y="1168879"/>
                  <a:pt x="711679" y="944592"/>
                </a:cubicBezTo>
                <a:cubicBezTo>
                  <a:pt x="112143" y="720305"/>
                  <a:pt x="56071" y="360152"/>
                  <a:pt x="0" y="0"/>
                </a:cubicBezTo>
              </a:path>
            </a:pathLst>
          </a:custGeom>
          <a:noFill/>
          <a:ln>
            <a:solidFill>
              <a:schemeClr val="accent6">
                <a:lumMod val="5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reeform: Shape 31">
            <a:extLst>
              <a:ext uri="{FF2B5EF4-FFF2-40B4-BE49-F238E27FC236}">
                <a16:creationId xmlns:a16="http://schemas.microsoft.com/office/drawing/2014/main" id="{8D32B15A-1A3B-83B7-5BCD-9AAEEC16EA2A}"/>
              </a:ext>
            </a:extLst>
          </p:cNvPr>
          <p:cNvSpPr/>
          <p:nvPr/>
        </p:nvSpPr>
        <p:spPr>
          <a:xfrm>
            <a:off x="1339313" y="3793881"/>
            <a:ext cx="1201664" cy="2026627"/>
          </a:xfrm>
          <a:custGeom>
            <a:avLst/>
            <a:gdLst>
              <a:gd name="csX0" fmla="*/ 405960 w 1201664"/>
              <a:gd name="csY0" fmla="*/ 0 h 2026627"/>
              <a:gd name="csX1" fmla="*/ 36683 w 1201664"/>
              <a:gd name="csY1" fmla="*/ 1490296 h 2026627"/>
              <a:gd name="csX2" fmla="*/ 1201664 w 1201664"/>
              <a:gd name="csY2" fmla="*/ 2026627 h 2026627"/>
            </a:gdLst>
            <a:ahLst/>
            <a:cxnLst>
              <a:cxn ang="0">
                <a:pos x="csX0" y="csY0"/>
              </a:cxn>
              <a:cxn ang="0">
                <a:pos x="csX1" y="csY1"/>
              </a:cxn>
              <a:cxn ang="0">
                <a:pos x="csX2" y="csY2"/>
              </a:cxn>
            </a:cxnLst>
            <a:rect l="l" t="t" r="r" b="b"/>
            <a:pathLst>
              <a:path w="1201664" h="2026627">
                <a:moveTo>
                  <a:pt x="405960" y="0"/>
                </a:moveTo>
                <a:cubicBezTo>
                  <a:pt x="155013" y="576262"/>
                  <a:pt x="-95934" y="1152525"/>
                  <a:pt x="36683" y="1490296"/>
                </a:cubicBezTo>
                <a:cubicBezTo>
                  <a:pt x="169300" y="1828067"/>
                  <a:pt x="685482" y="1927347"/>
                  <a:pt x="1201664" y="2026627"/>
                </a:cubicBezTo>
              </a:path>
            </a:pathLst>
          </a:custGeom>
          <a:noFill/>
          <a:ln>
            <a:solidFill>
              <a:schemeClr val="accent6">
                <a:lumMod val="5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57328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32E5D-33A8-70CA-4EF3-7AD71206114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CD5DA10-5A65-B185-972D-BA656DD2C23C}"/>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685727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095388-DF22-9031-3619-73AD841B9E0C}"/>
              </a:ext>
            </a:extLst>
          </p:cNvPr>
          <p:cNvSpPr>
            <a:spLocks noGrp="1"/>
          </p:cNvSpPr>
          <p:nvPr>
            <p:ph idx="1"/>
          </p:nvPr>
        </p:nvSpPr>
        <p:spPr>
          <a:xfrm>
            <a:off x="268857" y="1125746"/>
            <a:ext cx="8219535" cy="5387197"/>
          </a:xfrm>
        </p:spPr>
        <p:txBody>
          <a:bodyPr>
            <a:normAutofit fontScale="70000" lnSpcReduction="20000"/>
          </a:bodyPr>
          <a:lstStyle/>
          <a:p>
            <a:pPr>
              <a:lnSpc>
                <a:spcPct val="110000"/>
              </a:lnSpc>
            </a:pPr>
            <a:r>
              <a:rPr lang="en-US" dirty="0"/>
              <a:t>We are trying to do 2 different things:</a:t>
            </a:r>
          </a:p>
          <a:p>
            <a:pPr lvl="1">
              <a:lnSpc>
                <a:spcPct val="110000"/>
              </a:lnSpc>
            </a:pPr>
            <a:r>
              <a:rPr lang="en-US" dirty="0"/>
              <a:t>Identify features (II does this)</a:t>
            </a:r>
          </a:p>
          <a:p>
            <a:pPr lvl="1">
              <a:lnSpc>
                <a:spcPct val="110000"/>
              </a:lnSpc>
            </a:pPr>
            <a:r>
              <a:rPr lang="en-US" dirty="0"/>
              <a:t>Associate between features in different PS, and in different datasets (the same PS)</a:t>
            </a:r>
          </a:p>
          <a:p>
            <a:pPr lvl="1">
              <a:lnSpc>
                <a:spcPct val="110000"/>
              </a:lnSpc>
            </a:pPr>
            <a:endParaRPr lang="en-US" dirty="0"/>
          </a:p>
          <a:p>
            <a:pPr>
              <a:lnSpc>
                <a:spcPct val="110000"/>
              </a:lnSpc>
            </a:pPr>
            <a:r>
              <a:rPr lang="en-US" dirty="0"/>
              <a:t>So, </a:t>
            </a:r>
            <a:r>
              <a:rPr lang="en-US" i="1" dirty="0" err="1"/>
              <a:t>interoperablityIdentifier</a:t>
            </a:r>
            <a:r>
              <a:rPr lang="en-US" dirty="0"/>
              <a:t> identifies “features”</a:t>
            </a:r>
          </a:p>
          <a:p>
            <a:pPr>
              <a:lnSpc>
                <a:spcPct val="110000"/>
              </a:lnSpc>
            </a:pPr>
            <a:r>
              <a:rPr lang="en-US" i="1" dirty="0" err="1"/>
              <a:t>featureReference.interoperabilityIdentifier</a:t>
            </a:r>
            <a:r>
              <a:rPr lang="en-US" i="1" dirty="0"/>
              <a:t> </a:t>
            </a:r>
            <a:r>
              <a:rPr lang="en-US" dirty="0"/>
              <a:t>contains a reference to “other” identifiers</a:t>
            </a:r>
          </a:p>
          <a:p>
            <a:pPr>
              <a:lnSpc>
                <a:spcPct val="110000"/>
              </a:lnSpc>
            </a:pPr>
            <a:endParaRPr lang="en-US" dirty="0"/>
          </a:p>
          <a:p>
            <a:pPr>
              <a:lnSpc>
                <a:spcPct val="110000"/>
              </a:lnSpc>
            </a:pPr>
            <a:r>
              <a:rPr lang="en-US" dirty="0"/>
              <a:t>The ECDIS returns (in the pick report)</a:t>
            </a:r>
          </a:p>
          <a:p>
            <a:pPr lvl="1">
              <a:lnSpc>
                <a:spcPct val="110000"/>
              </a:lnSpc>
            </a:pPr>
            <a:r>
              <a:rPr lang="en-US" dirty="0"/>
              <a:t>All features with identical </a:t>
            </a:r>
            <a:r>
              <a:rPr lang="en-US" dirty="0" err="1"/>
              <a:t>interoperabilityIdentifiers</a:t>
            </a:r>
            <a:endParaRPr lang="en-US" dirty="0"/>
          </a:p>
          <a:p>
            <a:pPr lvl="1">
              <a:lnSpc>
                <a:spcPct val="110000"/>
              </a:lnSpc>
            </a:pPr>
            <a:r>
              <a:rPr lang="en-US" dirty="0"/>
              <a:t>Any feature which has a feature reference containing the </a:t>
            </a:r>
            <a:r>
              <a:rPr lang="en-US" dirty="0" err="1"/>
              <a:t>interoperabilityIdentifier</a:t>
            </a:r>
            <a:r>
              <a:rPr lang="en-US" dirty="0"/>
              <a:t> of the picked feature.</a:t>
            </a:r>
          </a:p>
          <a:p>
            <a:pPr lvl="1">
              <a:lnSpc>
                <a:spcPct val="110000"/>
              </a:lnSpc>
            </a:pPr>
            <a:endParaRPr lang="en-US" dirty="0"/>
          </a:p>
          <a:p>
            <a:pPr>
              <a:lnSpc>
                <a:spcPct val="110000"/>
              </a:lnSpc>
            </a:pPr>
            <a:r>
              <a:rPr lang="en-US" dirty="0"/>
              <a:t>Can you have multiple II?</a:t>
            </a:r>
          </a:p>
          <a:p>
            <a:pPr>
              <a:lnSpc>
                <a:spcPct val="110000"/>
              </a:lnSpc>
            </a:pPr>
            <a:r>
              <a:rPr lang="en-US" dirty="0"/>
              <a:t>How can you associate between different datasets (same PS)?</a:t>
            </a:r>
          </a:p>
          <a:p>
            <a:pPr>
              <a:lnSpc>
                <a:spcPct val="110000"/>
              </a:lnSpc>
            </a:pPr>
            <a:endParaRPr lang="en-GB" dirty="0"/>
          </a:p>
        </p:txBody>
      </p:sp>
      <p:pic>
        <p:nvPicPr>
          <p:cNvPr id="4" name="Picture 3">
            <a:extLst>
              <a:ext uri="{FF2B5EF4-FFF2-40B4-BE49-F238E27FC236}">
                <a16:creationId xmlns:a16="http://schemas.microsoft.com/office/drawing/2014/main" id="{4592D963-5E8B-F948-8C5D-9C58CDD0E56C}"/>
              </a:ext>
            </a:extLst>
          </p:cNvPr>
          <p:cNvPicPr>
            <a:picLocks noChangeAspect="1"/>
          </p:cNvPicPr>
          <p:nvPr/>
        </p:nvPicPr>
        <p:blipFill>
          <a:blip r:embed="rId2"/>
          <a:stretch>
            <a:fillRect/>
          </a:stretch>
        </p:blipFill>
        <p:spPr>
          <a:xfrm>
            <a:off x="8846430" y="1427741"/>
            <a:ext cx="2863129" cy="1513867"/>
          </a:xfrm>
          <a:prstGeom prst="rect">
            <a:avLst/>
          </a:prstGeom>
        </p:spPr>
      </p:pic>
      <p:sp>
        <p:nvSpPr>
          <p:cNvPr id="6" name="TextBox 5">
            <a:extLst>
              <a:ext uri="{FF2B5EF4-FFF2-40B4-BE49-F238E27FC236}">
                <a16:creationId xmlns:a16="http://schemas.microsoft.com/office/drawing/2014/main" id="{EA230D40-7741-BF8D-4E01-355F3E60F53E}"/>
              </a:ext>
            </a:extLst>
          </p:cNvPr>
          <p:cNvSpPr txBox="1"/>
          <p:nvPr/>
        </p:nvSpPr>
        <p:spPr>
          <a:xfrm>
            <a:off x="231835" y="160391"/>
            <a:ext cx="11883965" cy="338554"/>
          </a:xfrm>
          <a:prstGeom prst="rect">
            <a:avLst/>
          </a:prstGeom>
          <a:noFill/>
        </p:spPr>
        <p:txBody>
          <a:bodyPr wrap="square">
            <a:spAutoFit/>
          </a:bodyPr>
          <a:lstStyle/>
          <a:p>
            <a:r>
              <a:rPr lang="en-US" sz="1600" dirty="0">
                <a:latin typeface="Consolas" panose="020B0609020204030204" pitchFamily="49" charset="0"/>
              </a:rPr>
              <a:t>Ex : </a:t>
            </a:r>
            <a:r>
              <a:rPr lang="en-US" sz="1600" dirty="0">
                <a:solidFill>
                  <a:srgbClr val="C00000"/>
                </a:solidFill>
                <a:latin typeface="Consolas" panose="020B0609020204030204" pitchFamily="49" charset="0"/>
              </a:rPr>
              <a:t>Light=II1, bridge=II2, </a:t>
            </a:r>
            <a:r>
              <a:rPr lang="en-US" sz="1600" dirty="0" err="1">
                <a:solidFill>
                  <a:srgbClr val="C00000"/>
                </a:solidFill>
                <a:latin typeface="Consolas" panose="020B0609020204030204" pitchFamily="49" charset="0"/>
              </a:rPr>
              <a:t>bridge.featureReference.intId</a:t>
            </a:r>
            <a:r>
              <a:rPr lang="en-US" sz="1600" dirty="0">
                <a:solidFill>
                  <a:srgbClr val="C00000"/>
                </a:solidFill>
                <a:latin typeface="Consolas" panose="020B0609020204030204" pitchFamily="49" charset="0"/>
              </a:rPr>
              <a:t>=II1 and bridge(ENC1) = II2 = bridge(ENC2) </a:t>
            </a:r>
            <a:endParaRPr lang="en-GB" sz="16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3973382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7EED8-565A-F2D4-4989-4D05BDE082F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AE00AA5-C066-2362-16CE-95DC56A7D042}"/>
              </a:ext>
            </a:extLst>
          </p:cNvPr>
          <p:cNvSpPr/>
          <p:nvPr/>
        </p:nvSpPr>
        <p:spPr>
          <a:xfrm>
            <a:off x="230572"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D0FCA589-9ADB-6CBA-4DD3-ED600FD8DD92}"/>
              </a:ext>
            </a:extLst>
          </p:cNvPr>
          <p:cNvSpPr/>
          <p:nvPr/>
        </p:nvSpPr>
        <p:spPr>
          <a:xfrm>
            <a:off x="3668716"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4CE89AA8-A529-EE7F-C6D5-C5FD7C561CF0}"/>
              </a:ext>
            </a:extLst>
          </p:cNvPr>
          <p:cNvSpPr/>
          <p:nvPr/>
        </p:nvSpPr>
        <p:spPr>
          <a:xfrm>
            <a:off x="1817504" y="2877120"/>
            <a:ext cx="2962656" cy="2029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AD7086ED-941F-43B7-6F4B-D4A78A87EBE6}"/>
              </a:ext>
            </a:extLst>
          </p:cNvPr>
          <p:cNvSpPr txBox="1"/>
          <p:nvPr/>
        </p:nvSpPr>
        <p:spPr>
          <a:xfrm>
            <a:off x="3107005" y="1487603"/>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3F268402-8392-2861-A7D7-C810EF306CB9}"/>
              </a:ext>
            </a:extLst>
          </p:cNvPr>
          <p:cNvSpPr txBox="1"/>
          <p:nvPr/>
        </p:nvSpPr>
        <p:spPr>
          <a:xfrm>
            <a:off x="6545149" y="1452827"/>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654D8603-D743-0F6E-0FCF-78AD173318D0}"/>
              </a:ext>
            </a:extLst>
          </p:cNvPr>
          <p:cNvSpPr txBox="1"/>
          <p:nvPr/>
        </p:nvSpPr>
        <p:spPr>
          <a:xfrm>
            <a:off x="199429" y="1487603"/>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2C2318B4-C26B-0B1D-232F-CE17CBF29DA0}"/>
              </a:ext>
            </a:extLst>
          </p:cNvPr>
          <p:cNvSpPr txBox="1"/>
          <p:nvPr/>
        </p:nvSpPr>
        <p:spPr>
          <a:xfrm>
            <a:off x="3611895" y="1487602"/>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9" name="Freeform: Shape 38">
            <a:extLst>
              <a:ext uri="{FF2B5EF4-FFF2-40B4-BE49-F238E27FC236}">
                <a16:creationId xmlns:a16="http://schemas.microsoft.com/office/drawing/2014/main" id="{2BE721FB-05C5-BF5E-1021-9928C3BB3F21}"/>
              </a:ext>
            </a:extLst>
          </p:cNvPr>
          <p:cNvSpPr/>
          <p:nvPr/>
        </p:nvSpPr>
        <p:spPr>
          <a:xfrm rot="16200000">
            <a:off x="3369255" y="3721432"/>
            <a:ext cx="685149" cy="1191416"/>
          </a:xfrm>
          <a:custGeom>
            <a:avLst/>
            <a:gdLst>
              <a:gd name="connsiteX0" fmla="*/ 226406 w 685149"/>
              <a:gd name="connsiteY0" fmla="*/ 0 h 1191416"/>
              <a:gd name="connsiteX1" fmla="*/ 2288 w 685149"/>
              <a:gd name="connsiteY1" fmla="*/ 663388 h 1191416"/>
              <a:gd name="connsiteX2" fmla="*/ 136759 w 685149"/>
              <a:gd name="connsiteY2" fmla="*/ 1071282 h 1191416"/>
              <a:gd name="connsiteX3" fmla="*/ 540171 w 685149"/>
              <a:gd name="connsiteY3" fmla="*/ 1174376 h 1191416"/>
              <a:gd name="connsiteX4" fmla="*/ 674641 w 685149"/>
              <a:gd name="connsiteY4" fmla="*/ 770964 h 1191416"/>
              <a:gd name="connsiteX5" fmla="*/ 665677 w 685149"/>
              <a:gd name="connsiteY5" fmla="*/ 591670 h 1191416"/>
              <a:gd name="connsiteX6" fmla="*/ 580512 w 685149"/>
              <a:gd name="connsiteY6" fmla="*/ 219635 h 1191416"/>
              <a:gd name="connsiteX7" fmla="*/ 450524 w 685149"/>
              <a:gd name="connsiteY7" fmla="*/ 4482 h 119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149" h="1191416">
                <a:moveTo>
                  <a:pt x="226406" y="0"/>
                </a:moveTo>
                <a:cubicBezTo>
                  <a:pt x="121817" y="242420"/>
                  <a:pt x="17229" y="484841"/>
                  <a:pt x="2288" y="663388"/>
                </a:cubicBezTo>
                <a:cubicBezTo>
                  <a:pt x="-12653" y="841935"/>
                  <a:pt x="47112" y="986117"/>
                  <a:pt x="136759" y="1071282"/>
                </a:cubicBezTo>
                <a:cubicBezTo>
                  <a:pt x="226406" y="1156447"/>
                  <a:pt x="450524" y="1224429"/>
                  <a:pt x="540171" y="1174376"/>
                </a:cubicBezTo>
                <a:cubicBezTo>
                  <a:pt x="629818" y="1124323"/>
                  <a:pt x="653723" y="868082"/>
                  <a:pt x="674641" y="770964"/>
                </a:cubicBezTo>
                <a:cubicBezTo>
                  <a:pt x="695559" y="673846"/>
                  <a:pt x="681365" y="683558"/>
                  <a:pt x="665677" y="591670"/>
                </a:cubicBezTo>
                <a:cubicBezTo>
                  <a:pt x="649989" y="499782"/>
                  <a:pt x="616371" y="317500"/>
                  <a:pt x="580512" y="219635"/>
                </a:cubicBezTo>
                <a:cubicBezTo>
                  <a:pt x="544653" y="121770"/>
                  <a:pt x="497588" y="63126"/>
                  <a:pt x="450524" y="4482"/>
                </a:cubicBezTo>
              </a:path>
            </a:pathLst>
          </a:custGeom>
          <a:noFill/>
          <a:ln w="28575">
            <a:solidFill>
              <a:srgbClr val="C925BD"/>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B50B1F15-082C-32C3-7484-2D625CF168B6}"/>
              </a:ext>
            </a:extLst>
          </p:cNvPr>
          <p:cNvSpPr txBox="1"/>
          <p:nvPr/>
        </p:nvSpPr>
        <p:spPr>
          <a:xfrm rot="20414996">
            <a:off x="3056051" y="3865474"/>
            <a:ext cx="59182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Spatial</a:t>
            </a:r>
            <a:r>
              <a:rPr kumimoji="0" lang="en-US" sz="1000" b="1" i="0" u="none" strike="noStrike" kern="1200" cap="none" spc="0" normalizeH="0" baseline="-25000" noProof="0" dirty="0">
                <a:ln>
                  <a:noFill/>
                </a:ln>
                <a:solidFill>
                  <a:prstClr val="black"/>
                </a:solidFill>
                <a:effectLst/>
                <a:uLnTx/>
                <a:uFillTx/>
                <a:latin typeface="Calibri" panose="020F0502020204030204"/>
                <a:ea typeface="+mn-ea"/>
                <a:cs typeface="+mn-cs"/>
              </a:rPr>
              <a:t>1</a:t>
            </a:r>
            <a:endParaRPr kumimoji="0" lang="en-GB"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A8264199-AEA3-EB5E-EE26-A4C53BE880E1}"/>
              </a:ext>
            </a:extLst>
          </p:cNvPr>
          <p:cNvSpPr txBox="1"/>
          <p:nvPr/>
        </p:nvSpPr>
        <p:spPr>
          <a:xfrm rot="1382470">
            <a:off x="3048476" y="4515153"/>
            <a:ext cx="59182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Spatial</a:t>
            </a:r>
            <a:r>
              <a:rPr kumimoji="0" lang="en-US" sz="1000" b="1" i="0" u="none" strike="noStrike" kern="1200" cap="none" spc="0" normalizeH="0" baseline="-25000" noProof="0" dirty="0">
                <a:ln>
                  <a:noFill/>
                </a:ln>
                <a:solidFill>
                  <a:prstClr val="black"/>
                </a:solidFill>
                <a:effectLst/>
                <a:uLnTx/>
                <a:uFillTx/>
                <a:latin typeface="Calibri" panose="020F0502020204030204"/>
                <a:ea typeface="+mn-ea"/>
                <a:cs typeface="+mn-cs"/>
              </a:rPr>
              <a:t>2</a:t>
            </a:r>
            <a:endParaRPr kumimoji="0" lang="en-GB"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Box 40">
            <a:extLst>
              <a:ext uri="{FF2B5EF4-FFF2-40B4-BE49-F238E27FC236}">
                <a16:creationId xmlns:a16="http://schemas.microsoft.com/office/drawing/2014/main" id="{63CF069F-7CE4-99A9-31EC-9CA6EAF26715}"/>
              </a:ext>
            </a:extLst>
          </p:cNvPr>
          <p:cNvSpPr txBox="1"/>
          <p:nvPr/>
        </p:nvSpPr>
        <p:spPr>
          <a:xfrm>
            <a:off x="3869865" y="5193649"/>
            <a:ext cx="10759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=1810:238975:35</a:t>
            </a:r>
            <a:endParaRPr kumimoji="0" lang="en-GB" sz="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7E7600F2-AAD5-B46F-8E14-ED008F2D187F}"/>
              </a:ext>
            </a:extLst>
          </p:cNvPr>
          <p:cNvSpPr txBox="1"/>
          <p:nvPr/>
        </p:nvSpPr>
        <p:spPr>
          <a:xfrm>
            <a:off x="2268454" y="5180514"/>
            <a:ext cx="10759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=1810:238975:35</a:t>
            </a:r>
            <a:endParaRPr kumimoji="0" lang="en-GB" sz="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002E3025-3412-15A1-7BF2-2F34D7273F63}"/>
              </a:ext>
            </a:extLst>
          </p:cNvPr>
          <p:cNvSpPr/>
          <p:nvPr/>
        </p:nvSpPr>
        <p:spPr>
          <a:xfrm>
            <a:off x="2865412" y="4508073"/>
            <a:ext cx="358624" cy="721658"/>
          </a:xfrm>
          <a:custGeom>
            <a:avLst/>
            <a:gdLst>
              <a:gd name="connsiteX0" fmla="*/ 9000 w 358624"/>
              <a:gd name="connsiteY0" fmla="*/ 721658 h 721658"/>
              <a:gd name="connsiteX1" fmla="*/ 44859 w 358624"/>
              <a:gd name="connsiteY1" fmla="*/ 138953 h 721658"/>
              <a:gd name="connsiteX2" fmla="*/ 358624 w 358624"/>
              <a:gd name="connsiteY2" fmla="*/ 0 h 721658"/>
            </a:gdLst>
            <a:ahLst/>
            <a:cxnLst>
              <a:cxn ang="0">
                <a:pos x="connsiteX0" y="connsiteY0"/>
              </a:cxn>
              <a:cxn ang="0">
                <a:pos x="connsiteX1" y="connsiteY1"/>
              </a:cxn>
              <a:cxn ang="0">
                <a:pos x="connsiteX2" y="connsiteY2"/>
              </a:cxn>
            </a:cxnLst>
            <a:rect l="l" t="t" r="r" b="b"/>
            <a:pathLst>
              <a:path w="358624" h="721658">
                <a:moveTo>
                  <a:pt x="9000" y="721658"/>
                </a:moveTo>
                <a:cubicBezTo>
                  <a:pt x="-2206" y="490443"/>
                  <a:pt x="-13412" y="259229"/>
                  <a:pt x="44859" y="138953"/>
                </a:cubicBezTo>
                <a:cubicBezTo>
                  <a:pt x="103130" y="18677"/>
                  <a:pt x="230877" y="9338"/>
                  <a:pt x="358624" y="0"/>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1D1A5878-4727-64A6-54CC-76C326FB0625}"/>
              </a:ext>
            </a:extLst>
          </p:cNvPr>
          <p:cNvSpPr/>
          <p:nvPr/>
        </p:nvSpPr>
        <p:spPr>
          <a:xfrm>
            <a:off x="2639457" y="4082234"/>
            <a:ext cx="533919" cy="1154962"/>
          </a:xfrm>
          <a:custGeom>
            <a:avLst/>
            <a:gdLst>
              <a:gd name="connsiteX0" fmla="*/ 247049 w 533919"/>
              <a:gd name="connsiteY0" fmla="*/ 1154962 h 1154962"/>
              <a:gd name="connsiteX1" fmla="*/ 519 w 533919"/>
              <a:gd name="connsiteY1" fmla="*/ 285386 h 1154962"/>
              <a:gd name="connsiteX2" fmla="*/ 305319 w 533919"/>
              <a:gd name="connsiteY2" fmla="*/ 16445 h 1154962"/>
              <a:gd name="connsiteX3" fmla="*/ 533919 w 533919"/>
              <a:gd name="connsiteY3" fmla="*/ 52303 h 1154962"/>
            </a:gdLst>
            <a:ahLst/>
            <a:cxnLst>
              <a:cxn ang="0">
                <a:pos x="connsiteX0" y="connsiteY0"/>
              </a:cxn>
              <a:cxn ang="0">
                <a:pos x="connsiteX1" y="connsiteY1"/>
              </a:cxn>
              <a:cxn ang="0">
                <a:pos x="connsiteX2" y="connsiteY2"/>
              </a:cxn>
              <a:cxn ang="0">
                <a:pos x="connsiteX3" y="connsiteY3"/>
              </a:cxn>
            </a:cxnLst>
            <a:rect l="l" t="t" r="r" b="b"/>
            <a:pathLst>
              <a:path w="533919" h="1154962">
                <a:moveTo>
                  <a:pt x="247049" y="1154962"/>
                </a:moveTo>
                <a:cubicBezTo>
                  <a:pt x="118928" y="815050"/>
                  <a:pt x="-9193" y="475139"/>
                  <a:pt x="519" y="285386"/>
                </a:cubicBezTo>
                <a:cubicBezTo>
                  <a:pt x="10231" y="95633"/>
                  <a:pt x="216419" y="55292"/>
                  <a:pt x="305319" y="16445"/>
                </a:cubicBezTo>
                <a:cubicBezTo>
                  <a:pt x="394219" y="-22402"/>
                  <a:pt x="464069" y="14950"/>
                  <a:pt x="533919" y="52303"/>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C0224D3A-5BA7-8BF5-4B73-54598EBD4F23}"/>
              </a:ext>
            </a:extLst>
          </p:cNvPr>
          <p:cNvSpPr/>
          <p:nvPr/>
        </p:nvSpPr>
        <p:spPr>
          <a:xfrm>
            <a:off x="4231341" y="4347882"/>
            <a:ext cx="167100" cy="900953"/>
          </a:xfrm>
          <a:custGeom>
            <a:avLst/>
            <a:gdLst>
              <a:gd name="connsiteX0" fmla="*/ 0 w 167100"/>
              <a:gd name="connsiteY0" fmla="*/ 900953 h 900953"/>
              <a:gd name="connsiteX1" fmla="*/ 165847 w 167100"/>
              <a:gd name="connsiteY1" fmla="*/ 170330 h 900953"/>
              <a:gd name="connsiteX2" fmla="*/ 62753 w 167100"/>
              <a:gd name="connsiteY2" fmla="*/ 0 h 900953"/>
            </a:gdLst>
            <a:ahLst/>
            <a:cxnLst>
              <a:cxn ang="0">
                <a:pos x="connsiteX0" y="connsiteY0"/>
              </a:cxn>
              <a:cxn ang="0">
                <a:pos x="connsiteX1" y="connsiteY1"/>
              </a:cxn>
              <a:cxn ang="0">
                <a:pos x="connsiteX2" y="connsiteY2"/>
              </a:cxn>
            </a:cxnLst>
            <a:rect l="l" t="t" r="r" b="b"/>
            <a:pathLst>
              <a:path w="167100" h="900953">
                <a:moveTo>
                  <a:pt x="0" y="900953"/>
                </a:moveTo>
                <a:cubicBezTo>
                  <a:pt x="77694" y="610721"/>
                  <a:pt x="155388" y="320489"/>
                  <a:pt x="165847" y="170330"/>
                </a:cubicBezTo>
                <a:cubicBezTo>
                  <a:pt x="176306" y="20171"/>
                  <a:pt x="119529" y="10085"/>
                  <a:pt x="62753" y="0"/>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TextBox 45">
            <a:extLst>
              <a:ext uri="{FF2B5EF4-FFF2-40B4-BE49-F238E27FC236}">
                <a16:creationId xmlns:a16="http://schemas.microsoft.com/office/drawing/2014/main" id="{66B65465-554A-A9C7-B016-144DFFB1858B}"/>
              </a:ext>
            </a:extLst>
          </p:cNvPr>
          <p:cNvSpPr txBox="1"/>
          <p:nvPr/>
        </p:nvSpPr>
        <p:spPr>
          <a:xfrm>
            <a:off x="1996885" y="4362617"/>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cxnSp>
        <p:nvCxnSpPr>
          <p:cNvPr id="47" name="Straight Arrow Connector 46">
            <a:extLst>
              <a:ext uri="{FF2B5EF4-FFF2-40B4-BE49-F238E27FC236}">
                <a16:creationId xmlns:a16="http://schemas.microsoft.com/office/drawing/2014/main" id="{F59C39DF-9310-096D-71DE-18A2BAAF2C38}"/>
              </a:ext>
            </a:extLst>
          </p:cNvPr>
          <p:cNvCxnSpPr>
            <a:cxnSpLocks/>
          </p:cNvCxnSpPr>
          <p:nvPr/>
        </p:nvCxnSpPr>
        <p:spPr>
          <a:xfrm flipV="1">
            <a:off x="2490002" y="4455459"/>
            <a:ext cx="599109" cy="1052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507BA05-0E72-4884-4476-E82CD0E6925A}"/>
              </a:ext>
            </a:extLst>
          </p:cNvPr>
          <p:cNvSpPr txBox="1"/>
          <p:nvPr/>
        </p:nvSpPr>
        <p:spPr>
          <a:xfrm>
            <a:off x="1814161" y="2842383"/>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8C3D4385-4E27-43B3-4A77-978DE1511855}"/>
              </a:ext>
            </a:extLst>
          </p:cNvPr>
          <p:cNvPicPr>
            <a:picLocks noChangeAspect="1"/>
          </p:cNvPicPr>
          <p:nvPr/>
        </p:nvPicPr>
        <p:blipFill>
          <a:blip r:embed="rId2"/>
          <a:stretch>
            <a:fillRect/>
          </a:stretch>
        </p:blipFill>
        <p:spPr>
          <a:xfrm>
            <a:off x="5528156" y="136205"/>
            <a:ext cx="6369745" cy="1237219"/>
          </a:xfrm>
          <a:prstGeom prst="rect">
            <a:avLst/>
          </a:prstGeom>
        </p:spPr>
      </p:pic>
      <p:pic>
        <p:nvPicPr>
          <p:cNvPr id="3" name="Picture 2">
            <a:extLst>
              <a:ext uri="{FF2B5EF4-FFF2-40B4-BE49-F238E27FC236}">
                <a16:creationId xmlns:a16="http://schemas.microsoft.com/office/drawing/2014/main" id="{F88D3A8D-B588-49AE-D9F0-91BF17B0AFE0}"/>
              </a:ext>
            </a:extLst>
          </p:cNvPr>
          <p:cNvPicPr>
            <a:picLocks noChangeAspect="1"/>
          </p:cNvPicPr>
          <p:nvPr/>
        </p:nvPicPr>
        <p:blipFill>
          <a:blip r:embed="rId3"/>
          <a:stretch>
            <a:fillRect/>
          </a:stretch>
        </p:blipFill>
        <p:spPr>
          <a:xfrm>
            <a:off x="4158184" y="5927274"/>
            <a:ext cx="7921043" cy="822806"/>
          </a:xfrm>
          <a:prstGeom prst="rect">
            <a:avLst/>
          </a:prstGeom>
        </p:spPr>
      </p:pic>
    </p:spTree>
    <p:extLst>
      <p:ext uri="{BB962C8B-B14F-4D97-AF65-F5344CB8AC3E}">
        <p14:creationId xmlns:p14="http://schemas.microsoft.com/office/powerpoint/2010/main" val="3853371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C4D9B-1C15-CDE5-0A1C-1C556445A5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BEDF4F-EE24-E60E-5B30-1D934732E9F5}"/>
              </a:ext>
            </a:extLst>
          </p:cNvPr>
          <p:cNvSpPr>
            <a:spLocks noGrp="1"/>
          </p:cNvSpPr>
          <p:nvPr>
            <p:ph idx="1"/>
          </p:nvPr>
        </p:nvSpPr>
        <p:spPr>
          <a:xfrm>
            <a:off x="350808" y="629727"/>
            <a:ext cx="8219535" cy="5387197"/>
          </a:xfrm>
        </p:spPr>
        <p:txBody>
          <a:bodyPr>
            <a:normAutofit fontScale="70000" lnSpcReduction="20000"/>
          </a:bodyPr>
          <a:lstStyle/>
          <a:p>
            <a:pPr>
              <a:lnSpc>
                <a:spcPct val="110000"/>
              </a:lnSpc>
            </a:pPr>
            <a:r>
              <a:rPr lang="en-US" dirty="0"/>
              <a:t>We are trying to do 2 different things:</a:t>
            </a:r>
          </a:p>
          <a:p>
            <a:pPr lvl="1">
              <a:lnSpc>
                <a:spcPct val="110000"/>
              </a:lnSpc>
            </a:pPr>
            <a:r>
              <a:rPr lang="en-US" dirty="0"/>
              <a:t>Identify features (II does this)</a:t>
            </a:r>
          </a:p>
          <a:p>
            <a:pPr lvl="1">
              <a:lnSpc>
                <a:spcPct val="110000"/>
              </a:lnSpc>
            </a:pPr>
            <a:r>
              <a:rPr lang="en-US" dirty="0"/>
              <a:t>Associate between features in different PS, and in different datasets (the same PS)</a:t>
            </a:r>
          </a:p>
          <a:p>
            <a:pPr lvl="1">
              <a:lnSpc>
                <a:spcPct val="110000"/>
              </a:lnSpc>
            </a:pPr>
            <a:endParaRPr lang="en-US" dirty="0"/>
          </a:p>
          <a:p>
            <a:pPr>
              <a:lnSpc>
                <a:spcPct val="110000"/>
              </a:lnSpc>
            </a:pPr>
            <a:r>
              <a:rPr lang="en-US" dirty="0"/>
              <a:t>So, </a:t>
            </a:r>
            <a:r>
              <a:rPr lang="en-US" i="1" dirty="0" err="1"/>
              <a:t>interoperablityIdentifier</a:t>
            </a:r>
            <a:r>
              <a:rPr lang="en-US" dirty="0"/>
              <a:t> identifies “features”</a:t>
            </a:r>
          </a:p>
          <a:p>
            <a:pPr>
              <a:lnSpc>
                <a:spcPct val="110000"/>
              </a:lnSpc>
            </a:pPr>
            <a:r>
              <a:rPr lang="en-US" i="1" dirty="0" err="1"/>
              <a:t>featureReference.interoperabilityIdentifier</a:t>
            </a:r>
            <a:r>
              <a:rPr lang="en-US" i="1" dirty="0"/>
              <a:t> </a:t>
            </a:r>
            <a:r>
              <a:rPr lang="en-US" dirty="0"/>
              <a:t>contains a reference to “other” identifiers</a:t>
            </a:r>
          </a:p>
          <a:p>
            <a:pPr>
              <a:lnSpc>
                <a:spcPct val="110000"/>
              </a:lnSpc>
            </a:pPr>
            <a:endParaRPr lang="en-US" dirty="0"/>
          </a:p>
          <a:p>
            <a:pPr>
              <a:lnSpc>
                <a:spcPct val="110000"/>
              </a:lnSpc>
            </a:pPr>
            <a:r>
              <a:rPr lang="en-US" dirty="0"/>
              <a:t>ECDIS functionality: For all features picked, also return:</a:t>
            </a:r>
          </a:p>
          <a:p>
            <a:pPr lvl="1">
              <a:lnSpc>
                <a:spcPct val="110000"/>
              </a:lnSpc>
            </a:pPr>
            <a:r>
              <a:rPr lang="en-US" b="1" dirty="0"/>
              <a:t>All features with identical </a:t>
            </a:r>
            <a:r>
              <a:rPr lang="en-US" b="1" i="1" dirty="0" err="1"/>
              <a:t>interoperabilityIdentifier</a:t>
            </a:r>
            <a:r>
              <a:rPr lang="en-US" b="1" dirty="0"/>
              <a:t> values</a:t>
            </a:r>
          </a:p>
          <a:p>
            <a:pPr lvl="1">
              <a:lnSpc>
                <a:spcPct val="110000"/>
              </a:lnSpc>
            </a:pPr>
            <a:r>
              <a:rPr lang="en-US" b="1" dirty="0"/>
              <a:t>Any feature, in any dataset, which has a </a:t>
            </a:r>
            <a:r>
              <a:rPr lang="en-US" b="1" i="1" dirty="0" err="1"/>
              <a:t>featureReference</a:t>
            </a:r>
            <a:r>
              <a:rPr lang="en-US" b="1" dirty="0"/>
              <a:t> complex attribute with a sub-attribute </a:t>
            </a:r>
            <a:r>
              <a:rPr lang="en-US" b="1" i="1" dirty="0" err="1"/>
              <a:t>interoperabilityIdentifier</a:t>
            </a:r>
            <a:r>
              <a:rPr lang="en-US" b="1" dirty="0"/>
              <a:t> value equal to the </a:t>
            </a:r>
            <a:r>
              <a:rPr lang="en-US" b="1" i="1" dirty="0" err="1"/>
              <a:t>interoperabilityIdentifier</a:t>
            </a:r>
            <a:r>
              <a:rPr lang="en-US" b="1" dirty="0"/>
              <a:t> value of the picked feature.</a:t>
            </a:r>
          </a:p>
          <a:p>
            <a:pPr lvl="1">
              <a:lnSpc>
                <a:spcPct val="110000"/>
              </a:lnSpc>
            </a:pPr>
            <a:endParaRPr lang="en-US" dirty="0"/>
          </a:p>
          <a:p>
            <a:pPr>
              <a:lnSpc>
                <a:spcPct val="110000"/>
              </a:lnSpc>
            </a:pPr>
            <a:r>
              <a:rPr lang="en-US" dirty="0"/>
              <a:t>Can you have multiple II?</a:t>
            </a:r>
          </a:p>
          <a:p>
            <a:pPr>
              <a:lnSpc>
                <a:spcPct val="110000"/>
              </a:lnSpc>
            </a:pPr>
            <a:r>
              <a:rPr lang="en-US" dirty="0"/>
              <a:t>How can you associate between different datasets (same PS)?</a:t>
            </a:r>
          </a:p>
          <a:p>
            <a:pPr>
              <a:lnSpc>
                <a:spcPct val="110000"/>
              </a:lnSpc>
            </a:pPr>
            <a:endParaRPr lang="en-GB" dirty="0"/>
          </a:p>
        </p:txBody>
      </p:sp>
      <p:pic>
        <p:nvPicPr>
          <p:cNvPr id="4" name="Picture 3">
            <a:extLst>
              <a:ext uri="{FF2B5EF4-FFF2-40B4-BE49-F238E27FC236}">
                <a16:creationId xmlns:a16="http://schemas.microsoft.com/office/drawing/2014/main" id="{FC0783F5-5641-4EA5-C83D-A18C8E5F817A}"/>
              </a:ext>
            </a:extLst>
          </p:cNvPr>
          <p:cNvPicPr>
            <a:picLocks noChangeAspect="1"/>
          </p:cNvPicPr>
          <p:nvPr/>
        </p:nvPicPr>
        <p:blipFill>
          <a:blip r:embed="rId2"/>
          <a:stretch>
            <a:fillRect/>
          </a:stretch>
        </p:blipFill>
        <p:spPr>
          <a:xfrm>
            <a:off x="8846430" y="1427741"/>
            <a:ext cx="2863129" cy="1513867"/>
          </a:xfrm>
          <a:prstGeom prst="rect">
            <a:avLst/>
          </a:prstGeom>
        </p:spPr>
      </p:pic>
      <p:sp>
        <p:nvSpPr>
          <p:cNvPr id="6" name="TextBox 5">
            <a:extLst>
              <a:ext uri="{FF2B5EF4-FFF2-40B4-BE49-F238E27FC236}">
                <a16:creationId xmlns:a16="http://schemas.microsoft.com/office/drawing/2014/main" id="{57344D42-C724-848A-CD02-1137792C44CD}"/>
              </a:ext>
            </a:extLst>
          </p:cNvPr>
          <p:cNvSpPr txBox="1"/>
          <p:nvPr/>
        </p:nvSpPr>
        <p:spPr>
          <a:xfrm>
            <a:off x="231835" y="160391"/>
            <a:ext cx="11883965" cy="338554"/>
          </a:xfrm>
          <a:prstGeom prst="rect">
            <a:avLst/>
          </a:prstGeom>
          <a:noFill/>
        </p:spPr>
        <p:txBody>
          <a:bodyPr wrap="square">
            <a:spAutoFit/>
          </a:bodyPr>
          <a:lstStyle/>
          <a:p>
            <a:r>
              <a:rPr lang="en-US" sz="1600" dirty="0">
                <a:latin typeface="Consolas" panose="020B0609020204030204" pitchFamily="49" charset="0"/>
              </a:rPr>
              <a:t>Ex : </a:t>
            </a:r>
            <a:r>
              <a:rPr lang="en-US" sz="1600" dirty="0">
                <a:solidFill>
                  <a:srgbClr val="C00000"/>
                </a:solidFill>
                <a:latin typeface="Consolas" panose="020B0609020204030204" pitchFamily="49" charset="0"/>
              </a:rPr>
              <a:t>Light=II1, bridge=II2, </a:t>
            </a:r>
            <a:r>
              <a:rPr lang="en-US" sz="1600" dirty="0" err="1">
                <a:solidFill>
                  <a:srgbClr val="C00000"/>
                </a:solidFill>
                <a:latin typeface="Consolas" panose="020B0609020204030204" pitchFamily="49" charset="0"/>
              </a:rPr>
              <a:t>bridge.featureReference.intId</a:t>
            </a:r>
            <a:r>
              <a:rPr lang="en-US" sz="1600" dirty="0">
                <a:solidFill>
                  <a:srgbClr val="C00000"/>
                </a:solidFill>
                <a:latin typeface="Consolas" panose="020B0609020204030204" pitchFamily="49" charset="0"/>
              </a:rPr>
              <a:t>=II1 and bridge(ENC1) = II2 = bridge(ENC2) </a:t>
            </a:r>
            <a:endParaRPr lang="en-GB" sz="16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2723822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9128AC1-4082-123F-0344-2C595D3FBA0D}"/>
              </a:ext>
            </a:extLst>
          </p:cNvPr>
          <p:cNvPicPr>
            <a:picLocks noChangeAspect="1"/>
          </p:cNvPicPr>
          <p:nvPr/>
        </p:nvPicPr>
        <p:blipFill>
          <a:blip r:embed="rId2"/>
          <a:srcRect l="33282" t="38686" r="34447" b="14028"/>
          <a:stretch>
            <a:fillRect/>
          </a:stretch>
        </p:blipFill>
        <p:spPr>
          <a:xfrm>
            <a:off x="6150855" y="1987062"/>
            <a:ext cx="6146652" cy="4820880"/>
          </a:xfrm>
          <a:prstGeom prst="rect">
            <a:avLst/>
          </a:prstGeom>
        </p:spPr>
      </p:pic>
      <p:sp>
        <p:nvSpPr>
          <p:cNvPr id="3" name="Content Placeholder 2">
            <a:extLst>
              <a:ext uri="{FF2B5EF4-FFF2-40B4-BE49-F238E27FC236}">
                <a16:creationId xmlns:a16="http://schemas.microsoft.com/office/drawing/2014/main" id="{4E5062BA-B20E-4142-E060-04DD6B8EE377}"/>
              </a:ext>
            </a:extLst>
          </p:cNvPr>
          <p:cNvSpPr>
            <a:spLocks noGrp="1"/>
          </p:cNvSpPr>
          <p:nvPr>
            <p:ph idx="1"/>
          </p:nvPr>
        </p:nvSpPr>
        <p:spPr>
          <a:xfrm>
            <a:off x="604375" y="1202627"/>
            <a:ext cx="10515600" cy="1568869"/>
          </a:xfrm>
        </p:spPr>
        <p:txBody>
          <a:bodyPr>
            <a:normAutofit/>
          </a:bodyPr>
          <a:lstStyle/>
          <a:p>
            <a:pPr marL="0" indent="0">
              <a:buNone/>
            </a:pPr>
            <a:r>
              <a:rPr lang="en-US" sz="4000" b="1" dirty="0" err="1">
                <a:solidFill>
                  <a:srgbClr val="C00000"/>
                </a:solidFill>
              </a:rPr>
              <a:t>urn:mrn:iho</a:t>
            </a:r>
            <a:r>
              <a:rPr lang="en-US" sz="4000" b="1" dirty="0">
                <a:solidFill>
                  <a:srgbClr val="C00000"/>
                </a:solidFill>
              </a:rPr>
              <a:t>:[CC (optional)]:[PC]:[</a:t>
            </a:r>
            <a:r>
              <a:rPr lang="en-US" sz="4000" b="1" dirty="0" err="1">
                <a:solidFill>
                  <a:srgbClr val="C00000"/>
                </a:solidFill>
              </a:rPr>
              <a:t>xxxxx</a:t>
            </a:r>
            <a:r>
              <a:rPr lang="en-US" sz="4000" b="1" dirty="0">
                <a:solidFill>
                  <a:srgbClr val="C00000"/>
                </a:solidFill>
              </a:rPr>
              <a:t>]</a:t>
            </a:r>
            <a:endParaRPr lang="en-GB" sz="4000" b="1" dirty="0">
              <a:solidFill>
                <a:srgbClr val="C00000"/>
              </a:solidFill>
            </a:endParaRPr>
          </a:p>
        </p:txBody>
      </p:sp>
      <p:cxnSp>
        <p:nvCxnSpPr>
          <p:cNvPr id="5" name="Straight Connector 4">
            <a:extLst>
              <a:ext uri="{FF2B5EF4-FFF2-40B4-BE49-F238E27FC236}">
                <a16:creationId xmlns:a16="http://schemas.microsoft.com/office/drawing/2014/main" id="{E3B778D0-3552-6525-C2A9-F7C6D6609368}"/>
              </a:ext>
            </a:extLst>
          </p:cNvPr>
          <p:cNvCxnSpPr/>
          <p:nvPr/>
        </p:nvCxnSpPr>
        <p:spPr>
          <a:xfrm flipH="1">
            <a:off x="3224578" y="-118530"/>
            <a:ext cx="43132" cy="4110487"/>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C3A5B5C-6E4D-192C-6AFB-2823B5D4E8FD}"/>
              </a:ext>
            </a:extLst>
          </p:cNvPr>
          <p:cNvSpPr txBox="1"/>
          <p:nvPr/>
        </p:nvSpPr>
        <p:spPr>
          <a:xfrm>
            <a:off x="3361644" y="2294792"/>
            <a:ext cx="1691489" cy="584775"/>
          </a:xfrm>
          <a:prstGeom prst="rect">
            <a:avLst/>
          </a:prstGeom>
          <a:noFill/>
        </p:spPr>
        <p:txBody>
          <a:bodyPr wrap="none" rtlCol="0">
            <a:spAutoFit/>
          </a:bodyPr>
          <a:lstStyle/>
          <a:p>
            <a:r>
              <a:rPr lang="en-US" sz="3200" b="1" dirty="0"/>
              <a:t>ISO3166 </a:t>
            </a:r>
            <a:endParaRPr lang="en-GB" sz="3200" b="1" dirty="0"/>
          </a:p>
        </p:txBody>
      </p:sp>
      <p:sp>
        <p:nvSpPr>
          <p:cNvPr id="7" name="TextBox 6">
            <a:extLst>
              <a:ext uri="{FF2B5EF4-FFF2-40B4-BE49-F238E27FC236}">
                <a16:creationId xmlns:a16="http://schemas.microsoft.com/office/drawing/2014/main" id="{B59E23DB-E9D1-21FE-003E-1A4434A6D7C6}"/>
              </a:ext>
            </a:extLst>
          </p:cNvPr>
          <p:cNvSpPr txBox="1"/>
          <p:nvPr/>
        </p:nvSpPr>
        <p:spPr>
          <a:xfrm>
            <a:off x="2357855" y="2294792"/>
            <a:ext cx="830677" cy="584775"/>
          </a:xfrm>
          <a:prstGeom prst="rect">
            <a:avLst/>
          </a:prstGeom>
          <a:noFill/>
        </p:spPr>
        <p:txBody>
          <a:bodyPr wrap="none" rtlCol="0">
            <a:spAutoFit/>
          </a:bodyPr>
          <a:lstStyle/>
          <a:p>
            <a:r>
              <a:rPr lang="en-US" sz="3200" b="1" dirty="0"/>
              <a:t>IHO</a:t>
            </a:r>
            <a:endParaRPr lang="en-GB" sz="3200" b="1" dirty="0"/>
          </a:p>
        </p:txBody>
      </p:sp>
      <p:sp>
        <p:nvSpPr>
          <p:cNvPr id="11" name="TextBox 10">
            <a:extLst>
              <a:ext uri="{FF2B5EF4-FFF2-40B4-BE49-F238E27FC236}">
                <a16:creationId xmlns:a16="http://schemas.microsoft.com/office/drawing/2014/main" id="{D71ACB01-B1C0-FE56-165F-109D3624DC9D}"/>
              </a:ext>
            </a:extLst>
          </p:cNvPr>
          <p:cNvSpPr txBox="1"/>
          <p:nvPr/>
        </p:nvSpPr>
        <p:spPr>
          <a:xfrm>
            <a:off x="63648" y="6488668"/>
            <a:ext cx="6148020" cy="369332"/>
          </a:xfrm>
          <a:prstGeom prst="rect">
            <a:avLst/>
          </a:prstGeom>
          <a:noFill/>
        </p:spPr>
        <p:txBody>
          <a:bodyPr wrap="square">
            <a:spAutoFit/>
          </a:bodyPr>
          <a:lstStyle/>
          <a:p>
            <a:pPr marL="0" indent="0">
              <a:buNone/>
            </a:pPr>
            <a:r>
              <a:rPr lang="en-US" sz="1800" b="1" dirty="0" err="1">
                <a:solidFill>
                  <a:srgbClr val="C00000"/>
                </a:solidFill>
              </a:rPr>
              <a:t>urn:mrn:iho:</a:t>
            </a:r>
            <a:r>
              <a:rPr lang="en-US" b="1" dirty="0" err="1">
                <a:solidFill>
                  <a:srgbClr val="C00000"/>
                </a:solidFill>
              </a:rPr>
              <a:t>aggr</a:t>
            </a:r>
            <a:r>
              <a:rPr lang="en-US" sz="1800" b="1" dirty="0">
                <a:solidFill>
                  <a:srgbClr val="C00000"/>
                </a:solidFill>
              </a:rPr>
              <a:t>:[org code]:[</a:t>
            </a:r>
            <a:r>
              <a:rPr lang="en-US" sz="1800" b="1" dirty="0" err="1">
                <a:solidFill>
                  <a:srgbClr val="C00000"/>
                </a:solidFill>
              </a:rPr>
              <a:t>xxxxx</a:t>
            </a:r>
            <a:r>
              <a:rPr lang="en-US" sz="1800" b="1" dirty="0">
                <a:solidFill>
                  <a:srgbClr val="C00000"/>
                </a:solidFill>
              </a:rPr>
              <a:t>]</a:t>
            </a:r>
            <a:endParaRPr lang="en-GB" sz="1800" b="1" dirty="0">
              <a:solidFill>
                <a:srgbClr val="C00000"/>
              </a:solidFill>
            </a:endParaRPr>
          </a:p>
        </p:txBody>
      </p:sp>
      <p:sp>
        <p:nvSpPr>
          <p:cNvPr id="12" name="TextBox 11">
            <a:extLst>
              <a:ext uri="{FF2B5EF4-FFF2-40B4-BE49-F238E27FC236}">
                <a16:creationId xmlns:a16="http://schemas.microsoft.com/office/drawing/2014/main" id="{C54E1A89-4665-E195-5028-23EEA518D8D4}"/>
              </a:ext>
            </a:extLst>
          </p:cNvPr>
          <p:cNvSpPr txBox="1"/>
          <p:nvPr/>
        </p:nvSpPr>
        <p:spPr>
          <a:xfrm>
            <a:off x="409479" y="5084122"/>
            <a:ext cx="6148020" cy="369332"/>
          </a:xfrm>
          <a:prstGeom prst="rect">
            <a:avLst/>
          </a:prstGeom>
          <a:noFill/>
        </p:spPr>
        <p:txBody>
          <a:bodyPr wrap="square">
            <a:spAutoFit/>
          </a:bodyPr>
          <a:lstStyle/>
          <a:p>
            <a:pPr marL="0" indent="0">
              <a:buNone/>
            </a:pPr>
            <a:r>
              <a:rPr lang="en-US" sz="1800" b="1" dirty="0" err="1">
                <a:solidFill>
                  <a:srgbClr val="C00000"/>
                </a:solidFill>
              </a:rPr>
              <a:t>urn:mrn:iho:</a:t>
            </a:r>
            <a:r>
              <a:rPr lang="en-US" b="1" dirty="0" err="1">
                <a:solidFill>
                  <a:srgbClr val="C00000"/>
                </a:solidFill>
              </a:rPr>
              <a:t>pub</a:t>
            </a:r>
            <a:r>
              <a:rPr lang="en-US" b="1" dirty="0">
                <a:solidFill>
                  <a:srgbClr val="C00000"/>
                </a:solidFill>
              </a:rPr>
              <a:t>:</a:t>
            </a:r>
            <a:endParaRPr lang="en-GB" sz="1800" b="1" dirty="0">
              <a:solidFill>
                <a:srgbClr val="C00000"/>
              </a:solidFill>
            </a:endParaRPr>
          </a:p>
        </p:txBody>
      </p:sp>
    </p:spTree>
    <p:extLst>
      <p:ext uri="{BB962C8B-B14F-4D97-AF65-F5344CB8AC3E}">
        <p14:creationId xmlns:p14="http://schemas.microsoft.com/office/powerpoint/2010/main" val="1574404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BE9D5-D3F0-0D9B-08CE-817F07B8B9E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F1A59DF-A550-E603-2ED1-A40E9E771E62}"/>
              </a:ext>
            </a:extLst>
          </p:cNvPr>
          <p:cNvSpPr/>
          <p:nvPr/>
        </p:nvSpPr>
        <p:spPr>
          <a:xfrm>
            <a:off x="872411" y="1008649"/>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A8EF1BF2-2416-0491-34F8-8A6D44933672}"/>
              </a:ext>
            </a:extLst>
          </p:cNvPr>
          <p:cNvSpPr/>
          <p:nvPr/>
        </p:nvSpPr>
        <p:spPr>
          <a:xfrm>
            <a:off x="2290353" y="2369662"/>
            <a:ext cx="1674863" cy="1608858"/>
          </a:xfrm>
          <a:prstGeom prst="rect">
            <a:avLst/>
          </a:prstGeom>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Restricted Area</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DEBF5D0E-23BC-FA67-B907-E77115C4E3B0}"/>
              </a:ext>
            </a:extLst>
          </p:cNvPr>
          <p:cNvSpPr/>
          <p:nvPr/>
        </p:nvSpPr>
        <p:spPr>
          <a:xfrm>
            <a:off x="1110155" y="2242073"/>
            <a:ext cx="2962656" cy="2029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1E8D4D1D-3539-5FB4-12FF-AAA2C61C21A9}"/>
              </a:ext>
            </a:extLst>
          </p:cNvPr>
          <p:cNvSpPr txBox="1"/>
          <p:nvPr/>
        </p:nvSpPr>
        <p:spPr>
          <a:xfrm>
            <a:off x="1073058" y="2203465"/>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E8FF3227-A821-A534-1DB1-68E1C44DC0F1}"/>
              </a:ext>
            </a:extLst>
          </p:cNvPr>
          <p:cNvCxnSpPr>
            <a:cxnSpLocks/>
          </p:cNvCxnSpPr>
          <p:nvPr/>
        </p:nvCxnSpPr>
        <p:spPr>
          <a:xfrm>
            <a:off x="4310555" y="2418857"/>
            <a:ext cx="0" cy="662432"/>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1A5A901-B05E-7620-A6EE-5B045F027ED1}"/>
              </a:ext>
            </a:extLst>
          </p:cNvPr>
          <p:cNvSpPr txBox="1"/>
          <p:nvPr/>
        </p:nvSpPr>
        <p:spPr>
          <a:xfrm>
            <a:off x="3748844" y="990838"/>
            <a:ext cx="5693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74061C80-0EE5-8CCC-C3C1-DC597F5F302D}"/>
              </a:ext>
            </a:extLst>
          </p:cNvPr>
          <p:cNvCxnSpPr/>
          <p:nvPr/>
        </p:nvCxnSpPr>
        <p:spPr>
          <a:xfrm>
            <a:off x="2122191" y="2844240"/>
            <a:ext cx="268705" cy="168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08664CC-D8DD-E796-D2B7-673FB528B03D}"/>
              </a:ext>
            </a:extLst>
          </p:cNvPr>
          <p:cNvSpPr/>
          <p:nvPr/>
        </p:nvSpPr>
        <p:spPr>
          <a:xfrm>
            <a:off x="3242507" y="2322987"/>
            <a:ext cx="762390" cy="678027"/>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6BBBB02E-E972-5E7E-6CB7-107FEED10580}"/>
              </a:ext>
            </a:extLst>
          </p:cNvPr>
          <p:cNvSpPr txBox="1"/>
          <p:nvPr/>
        </p:nvSpPr>
        <p:spPr>
          <a:xfrm>
            <a:off x="1647247" y="2643350"/>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3BA57600-C68F-F2CB-23F9-6E10EB12F6BD}"/>
              </a:ext>
            </a:extLst>
          </p:cNvPr>
          <p:cNvSpPr txBox="1"/>
          <p:nvPr/>
        </p:nvSpPr>
        <p:spPr>
          <a:xfrm>
            <a:off x="841268" y="990838"/>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785A52FA-4488-8B2E-5049-7FABCE6CA6CE}"/>
              </a:ext>
            </a:extLst>
          </p:cNvPr>
          <p:cNvSpPr txBox="1"/>
          <p:nvPr/>
        </p:nvSpPr>
        <p:spPr>
          <a:xfrm>
            <a:off x="3607143" y="2192710"/>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a:t>
            </a:r>
            <a:r>
              <a:rPr lang="en-US" sz="1000" b="1" dirty="0">
                <a:solidFill>
                  <a:prstClr val="black"/>
                </a:solidFill>
                <a:latin typeface="Consolas" panose="020B0609020204030204" pitchFamily="49" charset="0"/>
              </a:rPr>
              <a:t>22</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9" name="TextBox 8">
            <a:extLst>
              <a:ext uri="{FF2B5EF4-FFF2-40B4-BE49-F238E27FC236}">
                <a16:creationId xmlns:a16="http://schemas.microsoft.com/office/drawing/2014/main" id="{99F0EC54-60D8-9574-F86C-C9CC84BCF019}"/>
              </a:ext>
            </a:extLst>
          </p:cNvPr>
          <p:cNvSpPr txBox="1"/>
          <p:nvPr/>
        </p:nvSpPr>
        <p:spPr>
          <a:xfrm>
            <a:off x="872411" y="468455"/>
            <a:ext cx="4171527" cy="369332"/>
          </a:xfrm>
          <a:prstGeom prst="rect">
            <a:avLst/>
          </a:prstGeom>
          <a:noFill/>
        </p:spPr>
        <p:txBody>
          <a:bodyPr wrap="none" rtlCol="0">
            <a:spAutoFit/>
          </a:bodyPr>
          <a:lstStyle/>
          <a:p>
            <a:r>
              <a:rPr lang="en-US" dirty="0"/>
              <a:t>What happens when you do a pick report?</a:t>
            </a:r>
          </a:p>
        </p:txBody>
      </p:sp>
      <p:sp>
        <p:nvSpPr>
          <p:cNvPr id="2" name="TextBox 1">
            <a:extLst>
              <a:ext uri="{FF2B5EF4-FFF2-40B4-BE49-F238E27FC236}">
                <a16:creationId xmlns:a16="http://schemas.microsoft.com/office/drawing/2014/main" id="{8DDCC1BE-6B12-43F2-483A-0FA37B872FD1}"/>
              </a:ext>
            </a:extLst>
          </p:cNvPr>
          <p:cNvSpPr txBox="1"/>
          <p:nvPr/>
        </p:nvSpPr>
        <p:spPr>
          <a:xfrm>
            <a:off x="5675761" y="1580703"/>
            <a:ext cx="3245874"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a:t>
            </a:r>
            <a:r>
              <a:rPr lang="en-US" sz="1100" dirty="0">
                <a:solidFill>
                  <a:prstClr val="black"/>
                </a:solidFill>
                <a:latin typeface="Consolas" panose="020B0609020204030204" pitchFamily="49" charset="0"/>
              </a:rPr>
              <a:t>22</a:t>
            </a: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r>
              <a:rPr kumimoji="0" lang="en-US" sz="1100" b="0"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MarineProtectedArea</a:t>
            </a: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II=urn:mrn:iho:DK00:00365:856723:11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endParaRPr kumimoji="0" lang="en-GB"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 name="TextBox 2">
            <a:extLst>
              <a:ext uri="{FF2B5EF4-FFF2-40B4-BE49-F238E27FC236}">
                <a16:creationId xmlns:a16="http://schemas.microsoft.com/office/drawing/2014/main" id="{782C11A4-100A-C90D-E0DB-BABA7386904A}"/>
              </a:ext>
            </a:extLst>
          </p:cNvPr>
          <p:cNvSpPr txBox="1"/>
          <p:nvPr/>
        </p:nvSpPr>
        <p:spPr>
          <a:xfrm>
            <a:off x="3242507" y="4736024"/>
            <a:ext cx="3245874"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 </a:t>
            </a:r>
            <a:r>
              <a:rPr kumimoji="0" lang="en-US" sz="1100" b="0"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RestrictedArea</a:t>
            </a: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II=urn:mrn:iho:DK00:00365:856723:11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endParaRPr kumimoji="0" lang="en-GB"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11" name="Freeform: Shape 10">
            <a:extLst>
              <a:ext uri="{FF2B5EF4-FFF2-40B4-BE49-F238E27FC236}">
                <a16:creationId xmlns:a16="http://schemas.microsoft.com/office/drawing/2014/main" id="{E8622E11-D9E3-FB0D-71D3-84110FE11404}"/>
              </a:ext>
            </a:extLst>
          </p:cNvPr>
          <p:cNvSpPr/>
          <p:nvPr/>
        </p:nvSpPr>
        <p:spPr>
          <a:xfrm>
            <a:off x="3987312" y="1126262"/>
            <a:ext cx="1771650" cy="1348773"/>
          </a:xfrm>
          <a:custGeom>
            <a:avLst/>
            <a:gdLst>
              <a:gd name="connsiteX0" fmla="*/ 0 w 1771650"/>
              <a:gd name="connsiteY0" fmla="*/ 1348773 h 1348773"/>
              <a:gd name="connsiteX1" fmla="*/ 870439 w 1771650"/>
              <a:gd name="connsiteY1" fmla="*/ 34323 h 1348773"/>
              <a:gd name="connsiteX2" fmla="*/ 1771650 w 1771650"/>
              <a:gd name="connsiteY2" fmla="*/ 513504 h 1348773"/>
            </a:gdLst>
            <a:ahLst/>
            <a:cxnLst>
              <a:cxn ang="0">
                <a:pos x="connsiteX0" y="connsiteY0"/>
              </a:cxn>
              <a:cxn ang="0">
                <a:pos x="connsiteX1" y="connsiteY1"/>
              </a:cxn>
              <a:cxn ang="0">
                <a:pos x="connsiteX2" y="connsiteY2"/>
              </a:cxn>
            </a:cxnLst>
            <a:rect l="l" t="t" r="r" b="b"/>
            <a:pathLst>
              <a:path w="1771650" h="1348773">
                <a:moveTo>
                  <a:pt x="0" y="1348773"/>
                </a:moveTo>
                <a:cubicBezTo>
                  <a:pt x="287582" y="761153"/>
                  <a:pt x="575164" y="173534"/>
                  <a:pt x="870439" y="34323"/>
                </a:cubicBezTo>
                <a:cubicBezTo>
                  <a:pt x="1165714" y="-104888"/>
                  <a:pt x="1468682" y="204308"/>
                  <a:pt x="1771650" y="513504"/>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a:extLst>
              <a:ext uri="{FF2B5EF4-FFF2-40B4-BE49-F238E27FC236}">
                <a16:creationId xmlns:a16="http://schemas.microsoft.com/office/drawing/2014/main" id="{D5604416-0ECE-FA32-0B61-EF4290918679}"/>
              </a:ext>
            </a:extLst>
          </p:cNvPr>
          <p:cNvSpPr/>
          <p:nvPr/>
        </p:nvSpPr>
        <p:spPr>
          <a:xfrm>
            <a:off x="2601692" y="3719147"/>
            <a:ext cx="827309" cy="1450730"/>
          </a:xfrm>
          <a:custGeom>
            <a:avLst/>
            <a:gdLst>
              <a:gd name="connsiteX0" fmla="*/ 827309 w 827309"/>
              <a:gd name="connsiteY0" fmla="*/ 0 h 1450730"/>
              <a:gd name="connsiteX1" fmla="*/ 832 w 827309"/>
              <a:gd name="connsiteY1" fmla="*/ 971550 h 1450730"/>
              <a:gd name="connsiteX2" fmla="*/ 704216 w 827309"/>
              <a:gd name="connsiteY2" fmla="*/ 1450730 h 1450730"/>
            </a:gdLst>
            <a:ahLst/>
            <a:cxnLst>
              <a:cxn ang="0">
                <a:pos x="connsiteX0" y="connsiteY0"/>
              </a:cxn>
              <a:cxn ang="0">
                <a:pos x="connsiteX1" y="connsiteY1"/>
              </a:cxn>
              <a:cxn ang="0">
                <a:pos x="connsiteX2" y="connsiteY2"/>
              </a:cxn>
            </a:cxnLst>
            <a:rect l="l" t="t" r="r" b="b"/>
            <a:pathLst>
              <a:path w="827309" h="1450730">
                <a:moveTo>
                  <a:pt x="827309" y="0"/>
                </a:moveTo>
                <a:cubicBezTo>
                  <a:pt x="424328" y="364881"/>
                  <a:pt x="21347" y="729762"/>
                  <a:pt x="832" y="971550"/>
                </a:cubicBezTo>
                <a:cubicBezTo>
                  <a:pt x="-19683" y="1213338"/>
                  <a:pt x="342266" y="1332034"/>
                  <a:pt x="704216" y="1450730"/>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687D0B5D-572B-9F45-A5FC-47C1FD0901E2}"/>
              </a:ext>
            </a:extLst>
          </p:cNvPr>
          <p:cNvSpPr txBox="1"/>
          <p:nvPr/>
        </p:nvSpPr>
        <p:spPr>
          <a:xfrm>
            <a:off x="6321670" y="2572797"/>
            <a:ext cx="5421058" cy="313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Pick Report must return attributes from:</a:t>
            </a: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S-101 Restricted Area</a:t>
            </a: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lang="en-US" dirty="0">
                <a:solidFill>
                  <a:prstClr val="black"/>
                </a:solidFill>
                <a:latin typeface="Calibri" panose="020F0502020204030204"/>
              </a:rPr>
              <a:t>S-122 Marine Protected Area</a:t>
            </a: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Any Information Types referred to by either the S-101 or the S-122 features</a:t>
            </a: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endParaRPr lang="en-US" dirty="0">
              <a:solidFill>
                <a:prstClr val="black"/>
              </a:solidFill>
              <a:latin typeface="Calibri" panose="020F0502020204030204"/>
            </a:endParaRPr>
          </a:p>
          <a:p>
            <a:pPr marR="0" lvl="0" algn="l" defTabSz="914400" rtl="0" eaLnBrk="1" fontAlgn="auto" latinLnBrk="0" hangingPunct="1">
              <a:lnSpc>
                <a:spcPct val="100000"/>
              </a:lnSpc>
              <a:spcBef>
                <a:spcPts val="0"/>
              </a:spcBef>
              <a:spcAft>
                <a:spcPts val="0"/>
              </a:spcAft>
              <a:buClrTx/>
              <a:buSzTx/>
              <a:tabLst/>
              <a:defRPr/>
            </a:pPr>
            <a:r>
              <a:rPr lang="en-US" dirty="0">
                <a:solidFill>
                  <a:prstClr val="black"/>
                </a:solidFill>
                <a:latin typeface="Calibri" panose="020F0502020204030204"/>
              </a:rPr>
              <a:t>Pick Report can always return features from all layers because it’s a spatial query. When features aren’t coincident but the producer wants the information to be available, </a:t>
            </a:r>
            <a:r>
              <a:rPr lang="en-US" dirty="0" err="1">
                <a:solidFill>
                  <a:prstClr val="black"/>
                </a:solidFill>
                <a:latin typeface="Calibri" panose="020F0502020204030204"/>
              </a:rPr>
              <a:t>interoperabilityIdentifier</a:t>
            </a:r>
            <a:r>
              <a:rPr lang="en-US" dirty="0">
                <a:solidFill>
                  <a:prstClr val="black"/>
                </a:solidFill>
                <a:latin typeface="Calibri" panose="020F0502020204030204"/>
              </a:rPr>
              <a:t> can be used to join them together.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975EAB92-99F4-7753-A841-4CB0416022D8}"/>
              </a:ext>
            </a:extLst>
          </p:cNvPr>
          <p:cNvSpPr/>
          <p:nvPr/>
        </p:nvSpPr>
        <p:spPr>
          <a:xfrm>
            <a:off x="2335331" y="3383559"/>
            <a:ext cx="1533616" cy="532146"/>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1035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88CB0-D1AA-DF3A-F996-1E815C91937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B087A52-3993-BA24-11FF-B8313998806C}"/>
              </a:ext>
            </a:extLst>
          </p:cNvPr>
          <p:cNvSpPr/>
          <p:nvPr/>
        </p:nvSpPr>
        <p:spPr>
          <a:xfrm>
            <a:off x="230572"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61C70F1-690A-B647-B2AE-C868AE3CDF9F}"/>
              </a:ext>
            </a:extLst>
          </p:cNvPr>
          <p:cNvSpPr/>
          <p:nvPr/>
        </p:nvSpPr>
        <p:spPr>
          <a:xfrm>
            <a:off x="3668716"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3EB1CF30-0127-ABC4-9C39-59FC0E363901}"/>
              </a:ext>
            </a:extLst>
          </p:cNvPr>
          <p:cNvSpPr/>
          <p:nvPr/>
        </p:nvSpPr>
        <p:spPr>
          <a:xfrm rot="21193878">
            <a:off x="1648514" y="2866427"/>
            <a:ext cx="4937760" cy="673445"/>
          </a:xfrm>
          <a:prstGeom prst="rect">
            <a:avLst/>
          </a:prstGeom>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Bridge</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A1AA5BC5-C53B-2D14-7734-8338FE87C86B}"/>
              </a:ext>
            </a:extLst>
          </p:cNvPr>
          <p:cNvSpPr/>
          <p:nvPr/>
        </p:nvSpPr>
        <p:spPr>
          <a:xfrm>
            <a:off x="468316" y="2738838"/>
            <a:ext cx="2962656" cy="2029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919EC09B-C083-60C3-5B7E-873DC767DA09}"/>
              </a:ext>
            </a:extLst>
          </p:cNvPr>
          <p:cNvSpPr txBox="1"/>
          <p:nvPr/>
        </p:nvSpPr>
        <p:spPr>
          <a:xfrm>
            <a:off x="431219" y="2700230"/>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F8908CF5-0080-8126-250F-C6481717240E}"/>
              </a:ext>
            </a:extLst>
          </p:cNvPr>
          <p:cNvCxnSpPr>
            <a:cxnSpLocks/>
          </p:cNvCxnSpPr>
          <p:nvPr/>
        </p:nvCxnSpPr>
        <p:spPr>
          <a:xfrm>
            <a:off x="3668716" y="2915622"/>
            <a:ext cx="0" cy="662432"/>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26ED4EF-8783-2A13-2E37-E54D01063DF1}"/>
              </a:ext>
            </a:extLst>
          </p:cNvPr>
          <p:cNvSpPr txBox="1"/>
          <p:nvPr/>
        </p:nvSpPr>
        <p:spPr>
          <a:xfrm>
            <a:off x="3107005" y="1487603"/>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6ABD1D81-CA0C-FD13-53DA-70B78C3CA78D}"/>
              </a:ext>
            </a:extLst>
          </p:cNvPr>
          <p:cNvSpPr txBox="1"/>
          <p:nvPr/>
        </p:nvSpPr>
        <p:spPr>
          <a:xfrm>
            <a:off x="6545149" y="1452827"/>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0E726A65-69FF-8A25-D3F9-56E9214AC459}"/>
              </a:ext>
            </a:extLst>
          </p:cNvPr>
          <p:cNvSpPr/>
          <p:nvPr/>
        </p:nvSpPr>
        <p:spPr>
          <a:xfrm>
            <a:off x="4912190" y="2590850"/>
            <a:ext cx="89408" cy="8534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09E730C6-95A1-42E7-72CE-F932F0F3789F}"/>
              </a:ext>
            </a:extLst>
          </p:cNvPr>
          <p:cNvSpPr/>
          <p:nvPr/>
        </p:nvSpPr>
        <p:spPr>
          <a:xfrm>
            <a:off x="4889775" y="3509447"/>
            <a:ext cx="89408" cy="8534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4F1FD8A2-364E-F7CB-D9CD-AE1B6CAA3248}"/>
              </a:ext>
            </a:extLst>
          </p:cNvPr>
          <p:cNvCxnSpPr/>
          <p:nvPr/>
        </p:nvCxnSpPr>
        <p:spPr>
          <a:xfrm>
            <a:off x="1480352" y="3341005"/>
            <a:ext cx="268705" cy="168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F67B8E0A-4F31-D944-383D-5698E88FF4DB}"/>
              </a:ext>
            </a:extLst>
          </p:cNvPr>
          <p:cNvSpPr/>
          <p:nvPr/>
        </p:nvSpPr>
        <p:spPr>
          <a:xfrm>
            <a:off x="5025192" y="2566703"/>
            <a:ext cx="349144" cy="348919"/>
          </a:xfrm>
          <a:custGeom>
            <a:avLst/>
            <a:gdLst>
              <a:gd name="connsiteX0" fmla="*/ 0 w 349144"/>
              <a:gd name="connsiteY0" fmla="*/ 57566 h 348919"/>
              <a:gd name="connsiteX1" fmla="*/ 300317 w 349144"/>
              <a:gd name="connsiteY1" fmla="*/ 21707 h 348919"/>
              <a:gd name="connsiteX2" fmla="*/ 345141 w 349144"/>
              <a:gd name="connsiteY2" fmla="*/ 348919 h 348919"/>
            </a:gdLst>
            <a:ahLst/>
            <a:cxnLst>
              <a:cxn ang="0">
                <a:pos x="connsiteX0" y="connsiteY0"/>
              </a:cxn>
              <a:cxn ang="0">
                <a:pos x="connsiteX1" y="connsiteY1"/>
              </a:cxn>
              <a:cxn ang="0">
                <a:pos x="connsiteX2" y="connsiteY2"/>
              </a:cxn>
            </a:cxnLst>
            <a:rect l="l" t="t" r="r" b="b"/>
            <a:pathLst>
              <a:path w="349144" h="348919">
                <a:moveTo>
                  <a:pt x="0" y="57566"/>
                </a:moveTo>
                <a:cubicBezTo>
                  <a:pt x="121397" y="15357"/>
                  <a:pt x="242794" y="-26852"/>
                  <a:pt x="300317" y="21707"/>
                </a:cubicBezTo>
                <a:cubicBezTo>
                  <a:pt x="357840" y="70266"/>
                  <a:pt x="351490" y="209592"/>
                  <a:pt x="345141" y="348919"/>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88928216-4BE9-B8BE-B9FE-40B7C8C7BC36}"/>
              </a:ext>
            </a:extLst>
          </p:cNvPr>
          <p:cNvSpPr/>
          <p:nvPr/>
        </p:nvSpPr>
        <p:spPr>
          <a:xfrm>
            <a:off x="4705585" y="3334871"/>
            <a:ext cx="354991" cy="227783"/>
          </a:xfrm>
          <a:custGeom>
            <a:avLst/>
            <a:gdLst>
              <a:gd name="connsiteX0" fmla="*/ 354991 w 354991"/>
              <a:gd name="connsiteY0" fmla="*/ 0 h 227783"/>
              <a:gd name="connsiteX1" fmla="*/ 5368 w 354991"/>
              <a:gd name="connsiteY1" fmla="*/ 197224 h 227783"/>
              <a:gd name="connsiteX2" fmla="*/ 175697 w 354991"/>
              <a:gd name="connsiteY2" fmla="*/ 224118 h 227783"/>
            </a:gdLst>
            <a:ahLst/>
            <a:cxnLst>
              <a:cxn ang="0">
                <a:pos x="connsiteX0" y="connsiteY0"/>
              </a:cxn>
              <a:cxn ang="0">
                <a:pos x="connsiteX1" y="connsiteY1"/>
              </a:cxn>
              <a:cxn ang="0">
                <a:pos x="connsiteX2" y="connsiteY2"/>
              </a:cxn>
            </a:cxnLst>
            <a:rect l="l" t="t" r="r" b="b"/>
            <a:pathLst>
              <a:path w="354991" h="227783">
                <a:moveTo>
                  <a:pt x="354991" y="0"/>
                </a:moveTo>
                <a:cubicBezTo>
                  <a:pt x="195120" y="79935"/>
                  <a:pt x="35250" y="159871"/>
                  <a:pt x="5368" y="197224"/>
                </a:cubicBezTo>
                <a:cubicBezTo>
                  <a:pt x="-24514" y="234577"/>
                  <a:pt x="75591" y="229347"/>
                  <a:pt x="175697" y="224118"/>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FF90A2B9-77AC-5FBB-CCF9-152471F98CE1}"/>
              </a:ext>
            </a:extLst>
          </p:cNvPr>
          <p:cNvSpPr/>
          <p:nvPr/>
        </p:nvSpPr>
        <p:spPr>
          <a:xfrm>
            <a:off x="4775228" y="2473604"/>
            <a:ext cx="354246" cy="369332"/>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3EEAFFC2-D767-67C9-397D-BC6EFCBD066C}"/>
              </a:ext>
            </a:extLst>
          </p:cNvPr>
          <p:cNvSpPr txBox="1"/>
          <p:nvPr/>
        </p:nvSpPr>
        <p:spPr>
          <a:xfrm>
            <a:off x="4694361" y="2275970"/>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S-124</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25" name="TextBox 24">
            <a:extLst>
              <a:ext uri="{FF2B5EF4-FFF2-40B4-BE49-F238E27FC236}">
                <a16:creationId xmlns:a16="http://schemas.microsoft.com/office/drawing/2014/main" id="{3155B4A8-8393-F7EC-5119-B0E45FF3C055}"/>
              </a:ext>
            </a:extLst>
          </p:cNvPr>
          <p:cNvSpPr txBox="1"/>
          <p:nvPr/>
        </p:nvSpPr>
        <p:spPr>
          <a:xfrm>
            <a:off x="1005408" y="3140115"/>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03A2E8AB-AC13-901B-2FA7-96379272CF7F}"/>
              </a:ext>
            </a:extLst>
          </p:cNvPr>
          <p:cNvSpPr txBox="1"/>
          <p:nvPr/>
        </p:nvSpPr>
        <p:spPr>
          <a:xfrm>
            <a:off x="199429" y="1487603"/>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A8EC85DF-E27F-37F3-CA6A-51520615B567}"/>
              </a:ext>
            </a:extLst>
          </p:cNvPr>
          <p:cNvSpPr txBox="1"/>
          <p:nvPr/>
        </p:nvSpPr>
        <p:spPr>
          <a:xfrm>
            <a:off x="3611895" y="1487602"/>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5" name="TextBox 34">
            <a:extLst>
              <a:ext uri="{FF2B5EF4-FFF2-40B4-BE49-F238E27FC236}">
                <a16:creationId xmlns:a16="http://schemas.microsoft.com/office/drawing/2014/main" id="{822E3310-FBEC-210D-188B-AF5A5CEE8DFF}"/>
              </a:ext>
            </a:extLst>
          </p:cNvPr>
          <p:cNvSpPr txBox="1"/>
          <p:nvPr/>
        </p:nvSpPr>
        <p:spPr>
          <a:xfrm>
            <a:off x="2621528" y="201867"/>
            <a:ext cx="3245874"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S-124 </a:t>
            </a:r>
            <a:r>
              <a:rPr kumimoji="0" lang="en-US" sz="1100" b="0"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NavwarnPart</a:t>
            </a: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II=urn:mrn:iho:DK00:00365:856723:11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endParaRPr kumimoji="0" lang="en-GB"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6" name="Freeform: Shape 35">
            <a:extLst>
              <a:ext uri="{FF2B5EF4-FFF2-40B4-BE49-F238E27FC236}">
                <a16:creationId xmlns:a16="http://schemas.microsoft.com/office/drawing/2014/main" id="{66B1AB32-F986-5BCA-D03D-14D31F901BE9}"/>
              </a:ext>
            </a:extLst>
          </p:cNvPr>
          <p:cNvSpPr/>
          <p:nvPr/>
        </p:nvSpPr>
        <p:spPr>
          <a:xfrm>
            <a:off x="4979894" y="820271"/>
            <a:ext cx="767814" cy="1662953"/>
          </a:xfrm>
          <a:custGeom>
            <a:avLst/>
            <a:gdLst>
              <a:gd name="connsiteX0" fmla="*/ 147918 w 767814"/>
              <a:gd name="connsiteY0" fmla="*/ 1662953 h 1662953"/>
              <a:gd name="connsiteX1" fmla="*/ 766482 w 767814"/>
              <a:gd name="connsiteY1" fmla="*/ 1048871 h 1662953"/>
              <a:gd name="connsiteX2" fmla="*/ 0 w 767814"/>
              <a:gd name="connsiteY2" fmla="*/ 0 h 1662953"/>
            </a:gdLst>
            <a:ahLst/>
            <a:cxnLst>
              <a:cxn ang="0">
                <a:pos x="connsiteX0" y="connsiteY0"/>
              </a:cxn>
              <a:cxn ang="0">
                <a:pos x="connsiteX1" y="connsiteY1"/>
              </a:cxn>
              <a:cxn ang="0">
                <a:pos x="connsiteX2" y="connsiteY2"/>
              </a:cxn>
            </a:cxnLst>
            <a:rect l="l" t="t" r="r" b="b"/>
            <a:pathLst>
              <a:path w="767814" h="1662953">
                <a:moveTo>
                  <a:pt x="147918" y="1662953"/>
                </a:moveTo>
                <a:cubicBezTo>
                  <a:pt x="469526" y="1494491"/>
                  <a:pt x="791135" y="1326030"/>
                  <a:pt x="766482" y="1048871"/>
                </a:cubicBezTo>
                <a:cubicBezTo>
                  <a:pt x="741829" y="771712"/>
                  <a:pt x="370914" y="385856"/>
                  <a:pt x="0" y="0"/>
                </a:cubicBezTo>
              </a:path>
            </a:pathLst>
          </a:custGeom>
          <a:noFill/>
          <a:ln>
            <a:solidFill>
              <a:schemeClr val="accent6">
                <a:lumMod val="5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TextBox 36">
            <a:extLst>
              <a:ext uri="{FF2B5EF4-FFF2-40B4-BE49-F238E27FC236}">
                <a16:creationId xmlns:a16="http://schemas.microsoft.com/office/drawing/2014/main" id="{24E34E86-22F5-8F10-2469-BD4CD6F208BE}"/>
              </a:ext>
            </a:extLst>
          </p:cNvPr>
          <p:cNvSpPr txBox="1"/>
          <p:nvPr/>
        </p:nvSpPr>
        <p:spPr>
          <a:xfrm>
            <a:off x="2451198" y="5344815"/>
            <a:ext cx="3245874"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 Bridge: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II=urn:mrn:iho:DK00:00365:856723:11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endParaRPr kumimoji="0" lang="en-GB"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8" name="Freeform: Shape 37">
            <a:extLst>
              <a:ext uri="{FF2B5EF4-FFF2-40B4-BE49-F238E27FC236}">
                <a16:creationId xmlns:a16="http://schemas.microsoft.com/office/drawing/2014/main" id="{330C4E88-4440-AA2A-3E2E-EDACD0B69316}"/>
              </a:ext>
            </a:extLst>
          </p:cNvPr>
          <p:cNvSpPr/>
          <p:nvPr/>
        </p:nvSpPr>
        <p:spPr>
          <a:xfrm>
            <a:off x="5567082" y="3222813"/>
            <a:ext cx="770220" cy="2675301"/>
          </a:xfrm>
          <a:custGeom>
            <a:avLst/>
            <a:gdLst>
              <a:gd name="connsiteX0" fmla="*/ 735106 w 770220"/>
              <a:gd name="connsiteY0" fmla="*/ 0 h 2675301"/>
              <a:gd name="connsiteX1" fmla="*/ 685800 w 770220"/>
              <a:gd name="connsiteY1" fmla="*/ 2294964 h 2675301"/>
              <a:gd name="connsiteX2" fmla="*/ 0 w 770220"/>
              <a:gd name="connsiteY2" fmla="*/ 2649070 h 2675301"/>
            </a:gdLst>
            <a:ahLst/>
            <a:cxnLst>
              <a:cxn ang="0">
                <a:pos x="connsiteX0" y="connsiteY0"/>
              </a:cxn>
              <a:cxn ang="0">
                <a:pos x="connsiteX1" y="connsiteY1"/>
              </a:cxn>
              <a:cxn ang="0">
                <a:pos x="connsiteX2" y="connsiteY2"/>
              </a:cxn>
            </a:cxnLst>
            <a:rect l="l" t="t" r="r" b="b"/>
            <a:pathLst>
              <a:path w="770220" h="2675301">
                <a:moveTo>
                  <a:pt x="735106" y="0"/>
                </a:moveTo>
                <a:cubicBezTo>
                  <a:pt x="771712" y="926726"/>
                  <a:pt x="808318" y="1853452"/>
                  <a:pt x="685800" y="2294964"/>
                </a:cubicBezTo>
                <a:cubicBezTo>
                  <a:pt x="563282" y="2736476"/>
                  <a:pt x="281641" y="2692773"/>
                  <a:pt x="0" y="2649070"/>
                </a:cubicBezTo>
              </a:path>
            </a:pathLst>
          </a:custGeom>
          <a:noFill/>
          <a:ln>
            <a:solidFill>
              <a:schemeClr val="accent6">
                <a:lumMod val="5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B8E14709-6CD4-DB47-3C05-ACA7B0A99973}"/>
              </a:ext>
            </a:extLst>
          </p:cNvPr>
          <p:cNvSpPr/>
          <p:nvPr/>
        </p:nvSpPr>
        <p:spPr>
          <a:xfrm rot="21173215">
            <a:off x="4610382" y="1968712"/>
            <a:ext cx="1375949" cy="2932447"/>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5B0A332-E190-F8AD-EBDD-060478852A6A}"/>
              </a:ext>
            </a:extLst>
          </p:cNvPr>
          <p:cNvSpPr txBox="1"/>
          <p:nvPr/>
        </p:nvSpPr>
        <p:spPr>
          <a:xfrm rot="21175954">
            <a:off x="4357935" y="1853502"/>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S-131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2" name="TextBox 31">
            <a:extLst>
              <a:ext uri="{FF2B5EF4-FFF2-40B4-BE49-F238E27FC236}">
                <a16:creationId xmlns:a16="http://schemas.microsoft.com/office/drawing/2014/main" id="{7945FB0B-52BD-0087-34A3-DF0F8DE80D29}"/>
              </a:ext>
            </a:extLst>
          </p:cNvPr>
          <p:cNvSpPr txBox="1"/>
          <p:nvPr/>
        </p:nvSpPr>
        <p:spPr>
          <a:xfrm>
            <a:off x="6908354" y="630230"/>
            <a:ext cx="3245874"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S-131 </a:t>
            </a:r>
            <a:r>
              <a:rPr lang="en-US" sz="1100" dirty="0" err="1">
                <a:solidFill>
                  <a:prstClr val="black"/>
                </a:solidFill>
                <a:latin typeface="Consolas" panose="020B0609020204030204" pitchFamily="49" charset="0"/>
              </a:rPr>
              <a:t>WaterwayArea</a:t>
            </a: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II=urn:mrn:iho:DK00:00365:856723:11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endParaRPr kumimoji="0" lang="en-GB"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9" name="Freeform: Shape 38">
            <a:extLst>
              <a:ext uri="{FF2B5EF4-FFF2-40B4-BE49-F238E27FC236}">
                <a16:creationId xmlns:a16="http://schemas.microsoft.com/office/drawing/2014/main" id="{ABF19EF8-C827-2C99-6289-D61001D19595}"/>
              </a:ext>
            </a:extLst>
          </p:cNvPr>
          <p:cNvSpPr/>
          <p:nvPr/>
        </p:nvSpPr>
        <p:spPr>
          <a:xfrm>
            <a:off x="5175561" y="630230"/>
            <a:ext cx="1771650" cy="1348773"/>
          </a:xfrm>
          <a:custGeom>
            <a:avLst/>
            <a:gdLst>
              <a:gd name="connsiteX0" fmla="*/ 0 w 1771650"/>
              <a:gd name="connsiteY0" fmla="*/ 1348773 h 1348773"/>
              <a:gd name="connsiteX1" fmla="*/ 870439 w 1771650"/>
              <a:gd name="connsiteY1" fmla="*/ 34323 h 1348773"/>
              <a:gd name="connsiteX2" fmla="*/ 1771650 w 1771650"/>
              <a:gd name="connsiteY2" fmla="*/ 513504 h 1348773"/>
            </a:gdLst>
            <a:ahLst/>
            <a:cxnLst>
              <a:cxn ang="0">
                <a:pos x="connsiteX0" y="connsiteY0"/>
              </a:cxn>
              <a:cxn ang="0">
                <a:pos x="connsiteX1" y="connsiteY1"/>
              </a:cxn>
              <a:cxn ang="0">
                <a:pos x="connsiteX2" y="connsiteY2"/>
              </a:cxn>
            </a:cxnLst>
            <a:rect l="l" t="t" r="r" b="b"/>
            <a:pathLst>
              <a:path w="1771650" h="1348773">
                <a:moveTo>
                  <a:pt x="0" y="1348773"/>
                </a:moveTo>
                <a:cubicBezTo>
                  <a:pt x="287582" y="761153"/>
                  <a:pt x="575164" y="173534"/>
                  <a:pt x="870439" y="34323"/>
                </a:cubicBezTo>
                <a:cubicBezTo>
                  <a:pt x="1165714" y="-104888"/>
                  <a:pt x="1468682" y="204308"/>
                  <a:pt x="1771650" y="513504"/>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96670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2B646-5051-65BC-7BB6-F9E7FC440ED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1B0F14D-65EE-DD88-C8AF-054E39A4523C}"/>
              </a:ext>
            </a:extLst>
          </p:cNvPr>
          <p:cNvSpPr/>
          <p:nvPr/>
        </p:nvSpPr>
        <p:spPr>
          <a:xfrm>
            <a:off x="230572"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913407A3-44A3-58AE-18CF-521E2612AFA5}"/>
              </a:ext>
            </a:extLst>
          </p:cNvPr>
          <p:cNvSpPr/>
          <p:nvPr/>
        </p:nvSpPr>
        <p:spPr>
          <a:xfrm>
            <a:off x="3668716"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11218064-7E8C-A89E-9CA8-E1B868825F38}"/>
              </a:ext>
            </a:extLst>
          </p:cNvPr>
          <p:cNvSpPr/>
          <p:nvPr/>
        </p:nvSpPr>
        <p:spPr>
          <a:xfrm>
            <a:off x="1817504" y="2877120"/>
            <a:ext cx="2962656" cy="2029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841BD5B1-FCD6-08CD-F569-93E0D15501FB}"/>
              </a:ext>
            </a:extLst>
          </p:cNvPr>
          <p:cNvSpPr txBox="1"/>
          <p:nvPr/>
        </p:nvSpPr>
        <p:spPr>
          <a:xfrm>
            <a:off x="3107005" y="1487603"/>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52661012-19E4-F311-8A3A-B2A400606F7F}"/>
              </a:ext>
            </a:extLst>
          </p:cNvPr>
          <p:cNvSpPr txBox="1"/>
          <p:nvPr/>
        </p:nvSpPr>
        <p:spPr>
          <a:xfrm>
            <a:off x="6545149" y="1452827"/>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40EA376B-6EB5-0DAB-3F49-BB7C183102D3}"/>
              </a:ext>
            </a:extLst>
          </p:cNvPr>
          <p:cNvSpPr txBox="1"/>
          <p:nvPr/>
        </p:nvSpPr>
        <p:spPr>
          <a:xfrm>
            <a:off x="199429" y="1487603"/>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81A1892C-EF51-161D-83F2-15AD5FF227E2}"/>
              </a:ext>
            </a:extLst>
          </p:cNvPr>
          <p:cNvSpPr txBox="1"/>
          <p:nvPr/>
        </p:nvSpPr>
        <p:spPr>
          <a:xfrm>
            <a:off x="3611895" y="1487602"/>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9" name="Freeform: Shape 38">
            <a:extLst>
              <a:ext uri="{FF2B5EF4-FFF2-40B4-BE49-F238E27FC236}">
                <a16:creationId xmlns:a16="http://schemas.microsoft.com/office/drawing/2014/main" id="{5199F37A-DF53-5CEC-C880-7F6FC5188A0D}"/>
              </a:ext>
            </a:extLst>
          </p:cNvPr>
          <p:cNvSpPr/>
          <p:nvPr/>
        </p:nvSpPr>
        <p:spPr>
          <a:xfrm rot="16200000">
            <a:off x="3369255" y="3721432"/>
            <a:ext cx="685149" cy="1191416"/>
          </a:xfrm>
          <a:custGeom>
            <a:avLst/>
            <a:gdLst>
              <a:gd name="connsiteX0" fmla="*/ 226406 w 685149"/>
              <a:gd name="connsiteY0" fmla="*/ 0 h 1191416"/>
              <a:gd name="connsiteX1" fmla="*/ 2288 w 685149"/>
              <a:gd name="connsiteY1" fmla="*/ 663388 h 1191416"/>
              <a:gd name="connsiteX2" fmla="*/ 136759 w 685149"/>
              <a:gd name="connsiteY2" fmla="*/ 1071282 h 1191416"/>
              <a:gd name="connsiteX3" fmla="*/ 540171 w 685149"/>
              <a:gd name="connsiteY3" fmla="*/ 1174376 h 1191416"/>
              <a:gd name="connsiteX4" fmla="*/ 674641 w 685149"/>
              <a:gd name="connsiteY4" fmla="*/ 770964 h 1191416"/>
              <a:gd name="connsiteX5" fmla="*/ 665677 w 685149"/>
              <a:gd name="connsiteY5" fmla="*/ 591670 h 1191416"/>
              <a:gd name="connsiteX6" fmla="*/ 580512 w 685149"/>
              <a:gd name="connsiteY6" fmla="*/ 219635 h 1191416"/>
              <a:gd name="connsiteX7" fmla="*/ 450524 w 685149"/>
              <a:gd name="connsiteY7" fmla="*/ 4482 h 119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149" h="1191416">
                <a:moveTo>
                  <a:pt x="226406" y="0"/>
                </a:moveTo>
                <a:cubicBezTo>
                  <a:pt x="121817" y="242420"/>
                  <a:pt x="17229" y="484841"/>
                  <a:pt x="2288" y="663388"/>
                </a:cubicBezTo>
                <a:cubicBezTo>
                  <a:pt x="-12653" y="841935"/>
                  <a:pt x="47112" y="986117"/>
                  <a:pt x="136759" y="1071282"/>
                </a:cubicBezTo>
                <a:cubicBezTo>
                  <a:pt x="226406" y="1156447"/>
                  <a:pt x="450524" y="1224429"/>
                  <a:pt x="540171" y="1174376"/>
                </a:cubicBezTo>
                <a:cubicBezTo>
                  <a:pt x="629818" y="1124323"/>
                  <a:pt x="653723" y="868082"/>
                  <a:pt x="674641" y="770964"/>
                </a:cubicBezTo>
                <a:cubicBezTo>
                  <a:pt x="695559" y="673846"/>
                  <a:pt x="681365" y="683558"/>
                  <a:pt x="665677" y="591670"/>
                </a:cubicBezTo>
                <a:cubicBezTo>
                  <a:pt x="649989" y="499782"/>
                  <a:pt x="616371" y="317500"/>
                  <a:pt x="580512" y="219635"/>
                </a:cubicBezTo>
                <a:cubicBezTo>
                  <a:pt x="544653" y="121770"/>
                  <a:pt x="497588" y="63126"/>
                  <a:pt x="450524" y="4482"/>
                </a:cubicBezTo>
              </a:path>
            </a:pathLst>
          </a:custGeom>
          <a:noFill/>
          <a:ln w="28575">
            <a:solidFill>
              <a:srgbClr val="C925BD"/>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12969CDB-D605-27DC-16FE-ABC96341A1FD}"/>
              </a:ext>
            </a:extLst>
          </p:cNvPr>
          <p:cNvSpPr txBox="1"/>
          <p:nvPr/>
        </p:nvSpPr>
        <p:spPr>
          <a:xfrm rot="20414996">
            <a:off x="3056051" y="3865474"/>
            <a:ext cx="59182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Spatial</a:t>
            </a:r>
            <a:r>
              <a:rPr kumimoji="0" lang="en-US" sz="1000" b="1" i="0" u="none" strike="noStrike" kern="1200" cap="none" spc="0" normalizeH="0" baseline="-25000" noProof="0" dirty="0">
                <a:ln>
                  <a:noFill/>
                </a:ln>
                <a:solidFill>
                  <a:prstClr val="black"/>
                </a:solidFill>
                <a:effectLst/>
                <a:uLnTx/>
                <a:uFillTx/>
                <a:latin typeface="Calibri" panose="020F0502020204030204"/>
                <a:ea typeface="+mn-ea"/>
                <a:cs typeface="+mn-cs"/>
              </a:rPr>
              <a:t>1</a:t>
            </a:r>
            <a:endParaRPr kumimoji="0" lang="en-GB"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38FB000F-0D50-44EA-F18A-B36D915FCA63}"/>
              </a:ext>
            </a:extLst>
          </p:cNvPr>
          <p:cNvSpPr txBox="1"/>
          <p:nvPr/>
        </p:nvSpPr>
        <p:spPr>
          <a:xfrm rot="1382470">
            <a:off x="3048476" y="4515153"/>
            <a:ext cx="59182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Spatial</a:t>
            </a:r>
            <a:r>
              <a:rPr kumimoji="0" lang="en-US" sz="1000" b="1" i="0" u="none" strike="noStrike" kern="1200" cap="none" spc="0" normalizeH="0" baseline="-25000" noProof="0" dirty="0">
                <a:ln>
                  <a:noFill/>
                </a:ln>
                <a:solidFill>
                  <a:prstClr val="black"/>
                </a:solidFill>
                <a:effectLst/>
                <a:uLnTx/>
                <a:uFillTx/>
                <a:latin typeface="Calibri" panose="020F0502020204030204"/>
                <a:ea typeface="+mn-ea"/>
                <a:cs typeface="+mn-cs"/>
              </a:rPr>
              <a:t>2</a:t>
            </a:r>
            <a:endParaRPr kumimoji="0" lang="en-GB"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Box 40">
            <a:extLst>
              <a:ext uri="{FF2B5EF4-FFF2-40B4-BE49-F238E27FC236}">
                <a16:creationId xmlns:a16="http://schemas.microsoft.com/office/drawing/2014/main" id="{33E654EA-280B-95FB-8ADD-7F92637CF96E}"/>
              </a:ext>
            </a:extLst>
          </p:cNvPr>
          <p:cNvSpPr txBox="1"/>
          <p:nvPr/>
        </p:nvSpPr>
        <p:spPr>
          <a:xfrm>
            <a:off x="3869865" y="5193649"/>
            <a:ext cx="10759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=1810:238975:35</a:t>
            </a:r>
            <a:endParaRPr kumimoji="0" lang="en-GB" sz="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D6D3E64E-4EF0-099A-8107-3AC47520FBBC}"/>
              </a:ext>
            </a:extLst>
          </p:cNvPr>
          <p:cNvSpPr txBox="1"/>
          <p:nvPr/>
        </p:nvSpPr>
        <p:spPr>
          <a:xfrm>
            <a:off x="2268454" y="5180514"/>
            <a:ext cx="10759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=1810:238975:35</a:t>
            </a:r>
            <a:endParaRPr kumimoji="0" lang="en-GB" sz="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E4A0F4C4-E132-0996-6B88-18F4C9BA82DF}"/>
              </a:ext>
            </a:extLst>
          </p:cNvPr>
          <p:cNvSpPr/>
          <p:nvPr/>
        </p:nvSpPr>
        <p:spPr>
          <a:xfrm>
            <a:off x="2865412" y="4508073"/>
            <a:ext cx="358624" cy="721658"/>
          </a:xfrm>
          <a:custGeom>
            <a:avLst/>
            <a:gdLst>
              <a:gd name="connsiteX0" fmla="*/ 9000 w 358624"/>
              <a:gd name="connsiteY0" fmla="*/ 721658 h 721658"/>
              <a:gd name="connsiteX1" fmla="*/ 44859 w 358624"/>
              <a:gd name="connsiteY1" fmla="*/ 138953 h 721658"/>
              <a:gd name="connsiteX2" fmla="*/ 358624 w 358624"/>
              <a:gd name="connsiteY2" fmla="*/ 0 h 721658"/>
            </a:gdLst>
            <a:ahLst/>
            <a:cxnLst>
              <a:cxn ang="0">
                <a:pos x="connsiteX0" y="connsiteY0"/>
              </a:cxn>
              <a:cxn ang="0">
                <a:pos x="connsiteX1" y="connsiteY1"/>
              </a:cxn>
              <a:cxn ang="0">
                <a:pos x="connsiteX2" y="connsiteY2"/>
              </a:cxn>
            </a:cxnLst>
            <a:rect l="l" t="t" r="r" b="b"/>
            <a:pathLst>
              <a:path w="358624" h="721658">
                <a:moveTo>
                  <a:pt x="9000" y="721658"/>
                </a:moveTo>
                <a:cubicBezTo>
                  <a:pt x="-2206" y="490443"/>
                  <a:pt x="-13412" y="259229"/>
                  <a:pt x="44859" y="138953"/>
                </a:cubicBezTo>
                <a:cubicBezTo>
                  <a:pt x="103130" y="18677"/>
                  <a:pt x="230877" y="9338"/>
                  <a:pt x="358624" y="0"/>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D33C37EE-8EBF-3C8A-4EE4-003E909E9C3B}"/>
              </a:ext>
            </a:extLst>
          </p:cNvPr>
          <p:cNvSpPr/>
          <p:nvPr/>
        </p:nvSpPr>
        <p:spPr>
          <a:xfrm>
            <a:off x="2639457" y="4082234"/>
            <a:ext cx="533919" cy="1154962"/>
          </a:xfrm>
          <a:custGeom>
            <a:avLst/>
            <a:gdLst>
              <a:gd name="connsiteX0" fmla="*/ 247049 w 533919"/>
              <a:gd name="connsiteY0" fmla="*/ 1154962 h 1154962"/>
              <a:gd name="connsiteX1" fmla="*/ 519 w 533919"/>
              <a:gd name="connsiteY1" fmla="*/ 285386 h 1154962"/>
              <a:gd name="connsiteX2" fmla="*/ 305319 w 533919"/>
              <a:gd name="connsiteY2" fmla="*/ 16445 h 1154962"/>
              <a:gd name="connsiteX3" fmla="*/ 533919 w 533919"/>
              <a:gd name="connsiteY3" fmla="*/ 52303 h 1154962"/>
            </a:gdLst>
            <a:ahLst/>
            <a:cxnLst>
              <a:cxn ang="0">
                <a:pos x="connsiteX0" y="connsiteY0"/>
              </a:cxn>
              <a:cxn ang="0">
                <a:pos x="connsiteX1" y="connsiteY1"/>
              </a:cxn>
              <a:cxn ang="0">
                <a:pos x="connsiteX2" y="connsiteY2"/>
              </a:cxn>
              <a:cxn ang="0">
                <a:pos x="connsiteX3" y="connsiteY3"/>
              </a:cxn>
            </a:cxnLst>
            <a:rect l="l" t="t" r="r" b="b"/>
            <a:pathLst>
              <a:path w="533919" h="1154962">
                <a:moveTo>
                  <a:pt x="247049" y="1154962"/>
                </a:moveTo>
                <a:cubicBezTo>
                  <a:pt x="118928" y="815050"/>
                  <a:pt x="-9193" y="475139"/>
                  <a:pt x="519" y="285386"/>
                </a:cubicBezTo>
                <a:cubicBezTo>
                  <a:pt x="10231" y="95633"/>
                  <a:pt x="216419" y="55292"/>
                  <a:pt x="305319" y="16445"/>
                </a:cubicBezTo>
                <a:cubicBezTo>
                  <a:pt x="394219" y="-22402"/>
                  <a:pt x="464069" y="14950"/>
                  <a:pt x="533919" y="52303"/>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BA107B8C-F25C-99F8-FA06-37EB49E3294D}"/>
              </a:ext>
            </a:extLst>
          </p:cNvPr>
          <p:cNvSpPr/>
          <p:nvPr/>
        </p:nvSpPr>
        <p:spPr>
          <a:xfrm>
            <a:off x="4231341" y="4347882"/>
            <a:ext cx="167100" cy="900953"/>
          </a:xfrm>
          <a:custGeom>
            <a:avLst/>
            <a:gdLst>
              <a:gd name="connsiteX0" fmla="*/ 0 w 167100"/>
              <a:gd name="connsiteY0" fmla="*/ 900953 h 900953"/>
              <a:gd name="connsiteX1" fmla="*/ 165847 w 167100"/>
              <a:gd name="connsiteY1" fmla="*/ 170330 h 900953"/>
              <a:gd name="connsiteX2" fmla="*/ 62753 w 167100"/>
              <a:gd name="connsiteY2" fmla="*/ 0 h 900953"/>
            </a:gdLst>
            <a:ahLst/>
            <a:cxnLst>
              <a:cxn ang="0">
                <a:pos x="connsiteX0" y="connsiteY0"/>
              </a:cxn>
              <a:cxn ang="0">
                <a:pos x="connsiteX1" y="connsiteY1"/>
              </a:cxn>
              <a:cxn ang="0">
                <a:pos x="connsiteX2" y="connsiteY2"/>
              </a:cxn>
            </a:cxnLst>
            <a:rect l="l" t="t" r="r" b="b"/>
            <a:pathLst>
              <a:path w="167100" h="900953">
                <a:moveTo>
                  <a:pt x="0" y="900953"/>
                </a:moveTo>
                <a:cubicBezTo>
                  <a:pt x="77694" y="610721"/>
                  <a:pt x="155388" y="320489"/>
                  <a:pt x="165847" y="170330"/>
                </a:cubicBezTo>
                <a:cubicBezTo>
                  <a:pt x="176306" y="20171"/>
                  <a:pt x="119529" y="10085"/>
                  <a:pt x="62753" y="0"/>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TextBox 45">
            <a:extLst>
              <a:ext uri="{FF2B5EF4-FFF2-40B4-BE49-F238E27FC236}">
                <a16:creationId xmlns:a16="http://schemas.microsoft.com/office/drawing/2014/main" id="{41E53E79-D3BD-8F7A-7EED-DDCCFBB51E33}"/>
              </a:ext>
            </a:extLst>
          </p:cNvPr>
          <p:cNvSpPr txBox="1"/>
          <p:nvPr/>
        </p:nvSpPr>
        <p:spPr>
          <a:xfrm>
            <a:off x="1996885" y="4362617"/>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cxnSp>
        <p:nvCxnSpPr>
          <p:cNvPr id="47" name="Straight Arrow Connector 46">
            <a:extLst>
              <a:ext uri="{FF2B5EF4-FFF2-40B4-BE49-F238E27FC236}">
                <a16:creationId xmlns:a16="http://schemas.microsoft.com/office/drawing/2014/main" id="{A0746496-05EC-935D-A585-CBD57753C0E9}"/>
              </a:ext>
            </a:extLst>
          </p:cNvPr>
          <p:cNvCxnSpPr>
            <a:cxnSpLocks/>
          </p:cNvCxnSpPr>
          <p:nvPr/>
        </p:nvCxnSpPr>
        <p:spPr>
          <a:xfrm flipV="1">
            <a:off x="2490002" y="4455459"/>
            <a:ext cx="599109" cy="1052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C9CAADD-B591-123E-ABD9-68F85FF70E12}"/>
              </a:ext>
            </a:extLst>
          </p:cNvPr>
          <p:cNvSpPr txBox="1"/>
          <p:nvPr/>
        </p:nvSpPr>
        <p:spPr>
          <a:xfrm>
            <a:off x="1814161" y="2842383"/>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D954F60B-D793-1170-7331-3C110CED1A65}"/>
              </a:ext>
            </a:extLst>
          </p:cNvPr>
          <p:cNvPicPr>
            <a:picLocks noChangeAspect="1"/>
          </p:cNvPicPr>
          <p:nvPr/>
        </p:nvPicPr>
        <p:blipFill>
          <a:blip r:embed="rId2"/>
          <a:stretch>
            <a:fillRect/>
          </a:stretch>
        </p:blipFill>
        <p:spPr>
          <a:xfrm>
            <a:off x="6625308" y="225226"/>
            <a:ext cx="5391289" cy="1047170"/>
          </a:xfrm>
          <a:prstGeom prst="rect">
            <a:avLst/>
          </a:prstGeom>
        </p:spPr>
      </p:pic>
      <p:pic>
        <p:nvPicPr>
          <p:cNvPr id="3" name="Picture 2">
            <a:extLst>
              <a:ext uri="{FF2B5EF4-FFF2-40B4-BE49-F238E27FC236}">
                <a16:creationId xmlns:a16="http://schemas.microsoft.com/office/drawing/2014/main" id="{897F68E2-8738-C2BB-4AEB-521EE1B0983E}"/>
              </a:ext>
            </a:extLst>
          </p:cNvPr>
          <p:cNvPicPr>
            <a:picLocks noChangeAspect="1"/>
          </p:cNvPicPr>
          <p:nvPr/>
        </p:nvPicPr>
        <p:blipFill>
          <a:blip r:embed="rId3"/>
          <a:stretch>
            <a:fillRect/>
          </a:stretch>
        </p:blipFill>
        <p:spPr>
          <a:xfrm>
            <a:off x="5935602" y="6111904"/>
            <a:ext cx="6143625" cy="638175"/>
          </a:xfrm>
          <a:prstGeom prst="rect">
            <a:avLst/>
          </a:prstGeom>
        </p:spPr>
      </p:pic>
    </p:spTree>
    <p:extLst>
      <p:ext uri="{BB962C8B-B14F-4D97-AF65-F5344CB8AC3E}">
        <p14:creationId xmlns:p14="http://schemas.microsoft.com/office/powerpoint/2010/main" val="3053869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41BC9-29C9-6480-921A-05C747787384}"/>
              </a:ext>
            </a:extLst>
          </p:cNvPr>
          <p:cNvSpPr>
            <a:spLocks noGrp="1"/>
          </p:cNvSpPr>
          <p:nvPr>
            <p:ph type="title"/>
          </p:nvPr>
        </p:nvSpPr>
        <p:spPr/>
        <p:txBody>
          <a:bodyPr/>
          <a:lstStyle/>
          <a:p>
            <a:r>
              <a:rPr lang="en-US" dirty="0"/>
              <a:t>The multiplicity problem</a:t>
            </a:r>
            <a:endParaRPr lang="en-GB" dirty="0"/>
          </a:p>
        </p:txBody>
      </p:sp>
      <p:sp>
        <p:nvSpPr>
          <p:cNvPr id="3" name="Content Placeholder 2">
            <a:extLst>
              <a:ext uri="{FF2B5EF4-FFF2-40B4-BE49-F238E27FC236}">
                <a16:creationId xmlns:a16="http://schemas.microsoft.com/office/drawing/2014/main" id="{21979D76-7BBD-5708-A4BF-CAB89A843116}"/>
              </a:ext>
            </a:extLst>
          </p:cNvPr>
          <p:cNvSpPr>
            <a:spLocks noGrp="1"/>
          </p:cNvSpPr>
          <p:nvPr>
            <p:ph idx="1"/>
          </p:nvPr>
        </p:nvSpPr>
        <p:spPr>
          <a:xfrm>
            <a:off x="838200" y="1503485"/>
            <a:ext cx="10515600" cy="4673478"/>
          </a:xfrm>
        </p:spPr>
        <p:txBody>
          <a:bodyPr>
            <a:normAutofit fontScale="62500" lnSpcReduction="20000"/>
          </a:bodyPr>
          <a:lstStyle/>
          <a:p>
            <a:pPr>
              <a:lnSpc>
                <a:spcPct val="120000"/>
              </a:lnSpc>
            </a:pPr>
            <a:r>
              <a:rPr lang="en-US" dirty="0"/>
              <a:t>Interoperability Identifier is ECDIS functionality. It is a “join field” – it says which features you want to be grouped together when one of them is picked by the pick report.</a:t>
            </a:r>
          </a:p>
          <a:p>
            <a:pPr>
              <a:lnSpc>
                <a:spcPct val="120000"/>
              </a:lnSpc>
            </a:pPr>
            <a:r>
              <a:rPr lang="en-US" dirty="0"/>
              <a:t>Either </a:t>
            </a:r>
          </a:p>
          <a:p>
            <a:pPr lvl="1">
              <a:lnSpc>
                <a:spcPct val="120000"/>
              </a:lnSpc>
            </a:pPr>
            <a:r>
              <a:rPr lang="en-US" dirty="0"/>
              <a:t>[1] Every feature has a value for </a:t>
            </a:r>
            <a:r>
              <a:rPr lang="en-US" dirty="0" err="1"/>
              <a:t>interoperabilityIdentifier</a:t>
            </a:r>
            <a:endParaRPr lang="en-US" dirty="0"/>
          </a:p>
          <a:p>
            <a:pPr>
              <a:lnSpc>
                <a:spcPct val="120000"/>
              </a:lnSpc>
            </a:pPr>
            <a:r>
              <a:rPr lang="en-US" dirty="0"/>
              <a:t>OR </a:t>
            </a:r>
          </a:p>
          <a:p>
            <a:pPr lvl="1">
              <a:lnSpc>
                <a:spcPct val="120000"/>
              </a:lnSpc>
            </a:pPr>
            <a:r>
              <a:rPr lang="en-GB" dirty="0"/>
              <a:t>[2] The </a:t>
            </a:r>
            <a:r>
              <a:rPr lang="en-GB" dirty="0" err="1"/>
              <a:t>interoperabilityIdentifier</a:t>
            </a:r>
            <a:r>
              <a:rPr lang="en-GB" dirty="0"/>
              <a:t> is only defined on features on which you want the pick report functionality to operate</a:t>
            </a:r>
          </a:p>
          <a:p>
            <a:pPr>
              <a:lnSpc>
                <a:spcPct val="120000"/>
              </a:lnSpc>
            </a:pPr>
            <a:r>
              <a:rPr lang="en-GB" dirty="0"/>
              <a:t>But, if the primary use case of Interoperability Identifier is for MSI-like applications, between an ENC and another layer (e.g. S-124), then where you can’t change the underlying ENC as well, all potential “join” features in the ENC </a:t>
            </a:r>
            <a:r>
              <a:rPr lang="en-GB" b="1" dirty="0"/>
              <a:t>must</a:t>
            </a:r>
            <a:r>
              <a:rPr lang="en-GB" dirty="0"/>
              <a:t> have pre-existing </a:t>
            </a:r>
            <a:r>
              <a:rPr lang="en-GB" dirty="0" err="1"/>
              <a:t>interoperabilityIdentifiers</a:t>
            </a:r>
            <a:r>
              <a:rPr lang="en-GB" dirty="0"/>
              <a:t> as well.</a:t>
            </a:r>
          </a:p>
          <a:p>
            <a:pPr>
              <a:lnSpc>
                <a:spcPct val="120000"/>
              </a:lnSpc>
            </a:pPr>
            <a:r>
              <a:rPr lang="en-US" dirty="0"/>
              <a:t>So, are the </a:t>
            </a:r>
            <a:r>
              <a:rPr lang="en-US" dirty="0" err="1"/>
              <a:t>interoperabilityIdentifiers</a:t>
            </a:r>
            <a:r>
              <a:rPr lang="en-US" dirty="0"/>
              <a:t> actually the MRNs of the features themselves? In S-101, in S-124? In general? Or is it up to the data producer to encode in the way that makes sense to them. But we need to prepare the OEM for likely use cases.</a:t>
            </a:r>
          </a:p>
          <a:p>
            <a:pPr>
              <a:lnSpc>
                <a:spcPct val="120000"/>
              </a:lnSpc>
            </a:pPr>
            <a:r>
              <a:rPr lang="en-US" dirty="0"/>
              <a:t>It is likely that either S-124 or S-101 (perhaps both) will need </a:t>
            </a:r>
            <a:r>
              <a:rPr lang="en-US" dirty="0" err="1"/>
              <a:t>interoperabilityIdentifier</a:t>
            </a:r>
            <a:r>
              <a:rPr lang="en-US" dirty="0"/>
              <a:t> to have multiplicity &gt; 1 but we need to model the scenarios first…</a:t>
            </a:r>
          </a:p>
          <a:p>
            <a:pPr>
              <a:lnSpc>
                <a:spcPct val="120000"/>
              </a:lnSpc>
            </a:pPr>
            <a:endParaRPr lang="en-GB" dirty="0"/>
          </a:p>
        </p:txBody>
      </p:sp>
    </p:spTree>
    <p:extLst>
      <p:ext uri="{BB962C8B-B14F-4D97-AF65-F5344CB8AC3E}">
        <p14:creationId xmlns:p14="http://schemas.microsoft.com/office/powerpoint/2010/main" val="3835079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Sheep with solid fill">
            <a:extLst>
              <a:ext uri="{FF2B5EF4-FFF2-40B4-BE49-F238E27FC236}">
                <a16:creationId xmlns:a16="http://schemas.microsoft.com/office/drawing/2014/main" id="{8C580470-4DB5-F6B7-C3EA-B649C0F092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84321" y="1453551"/>
            <a:ext cx="914400" cy="914400"/>
          </a:xfrm>
          <a:prstGeom prst="rect">
            <a:avLst/>
          </a:prstGeom>
        </p:spPr>
      </p:pic>
      <p:pic>
        <p:nvPicPr>
          <p:cNvPr id="9" name="Graphic 8" descr="Ram with solid fill">
            <a:extLst>
              <a:ext uri="{FF2B5EF4-FFF2-40B4-BE49-F238E27FC236}">
                <a16:creationId xmlns:a16="http://schemas.microsoft.com/office/drawing/2014/main" id="{49021D72-7F06-FAE1-E6F3-F9C207073E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9137" y="2224653"/>
            <a:ext cx="914400" cy="914400"/>
          </a:xfrm>
          <a:prstGeom prst="rect">
            <a:avLst/>
          </a:prstGeom>
        </p:spPr>
      </p:pic>
      <p:pic>
        <p:nvPicPr>
          <p:cNvPr id="12" name="Graphic 11" descr="Ram with solid fill">
            <a:extLst>
              <a:ext uri="{FF2B5EF4-FFF2-40B4-BE49-F238E27FC236}">
                <a16:creationId xmlns:a16="http://schemas.microsoft.com/office/drawing/2014/main" id="{31F9DFB3-1198-A44D-DB8D-C2998A139E2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9620" y="2985216"/>
            <a:ext cx="914400" cy="914400"/>
          </a:xfrm>
          <a:prstGeom prst="rect">
            <a:avLst/>
          </a:prstGeom>
        </p:spPr>
      </p:pic>
      <p:pic>
        <p:nvPicPr>
          <p:cNvPr id="13" name="Graphic 12" descr="Ram with solid fill">
            <a:extLst>
              <a:ext uri="{FF2B5EF4-FFF2-40B4-BE49-F238E27FC236}">
                <a16:creationId xmlns:a16="http://schemas.microsoft.com/office/drawing/2014/main" id="{3FDB388C-42CC-EDF7-60C7-8B08166D5CC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97669" y="1453551"/>
            <a:ext cx="914400" cy="914400"/>
          </a:xfrm>
          <a:prstGeom prst="rect">
            <a:avLst/>
          </a:prstGeom>
        </p:spPr>
      </p:pic>
      <p:pic>
        <p:nvPicPr>
          <p:cNvPr id="14" name="Graphic 13" descr="Ram with solid fill">
            <a:extLst>
              <a:ext uri="{FF2B5EF4-FFF2-40B4-BE49-F238E27FC236}">
                <a16:creationId xmlns:a16="http://schemas.microsoft.com/office/drawing/2014/main" id="{C4E694D7-9B13-A670-7C72-0CCD674D138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79069" y="767751"/>
            <a:ext cx="914400" cy="914400"/>
          </a:xfrm>
          <a:prstGeom prst="rect">
            <a:avLst/>
          </a:prstGeom>
        </p:spPr>
      </p:pic>
      <p:pic>
        <p:nvPicPr>
          <p:cNvPr id="15" name="Graphic 14" descr="Sheep with solid fill">
            <a:extLst>
              <a:ext uri="{FF2B5EF4-FFF2-40B4-BE49-F238E27FC236}">
                <a16:creationId xmlns:a16="http://schemas.microsoft.com/office/drawing/2014/main" id="{829010CE-E4E4-62F9-0474-58093D07A1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9669" y="1269521"/>
            <a:ext cx="914400" cy="914400"/>
          </a:xfrm>
          <a:prstGeom prst="rect">
            <a:avLst/>
          </a:prstGeom>
        </p:spPr>
      </p:pic>
      <p:pic>
        <p:nvPicPr>
          <p:cNvPr id="16" name="Graphic 15" descr="Sheep with solid fill">
            <a:extLst>
              <a:ext uri="{FF2B5EF4-FFF2-40B4-BE49-F238E27FC236}">
                <a16:creationId xmlns:a16="http://schemas.microsoft.com/office/drawing/2014/main" id="{2017D526-3CAD-4D46-E036-8503654DD2A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98069" y="2353663"/>
            <a:ext cx="914400" cy="914400"/>
          </a:xfrm>
          <a:prstGeom prst="rect">
            <a:avLst/>
          </a:prstGeom>
        </p:spPr>
      </p:pic>
      <p:pic>
        <p:nvPicPr>
          <p:cNvPr id="17" name="Graphic 16" descr="Sheep with solid fill">
            <a:extLst>
              <a:ext uri="{FF2B5EF4-FFF2-40B4-BE49-F238E27FC236}">
                <a16:creationId xmlns:a16="http://schemas.microsoft.com/office/drawing/2014/main" id="{FFA95518-4A6D-639D-306C-863F1D431F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2220" y="3368616"/>
            <a:ext cx="914400" cy="914400"/>
          </a:xfrm>
          <a:prstGeom prst="rect">
            <a:avLst/>
          </a:prstGeom>
        </p:spPr>
      </p:pic>
      <p:pic>
        <p:nvPicPr>
          <p:cNvPr id="18" name="Graphic 17" descr="Sheep with solid fill">
            <a:extLst>
              <a:ext uri="{FF2B5EF4-FFF2-40B4-BE49-F238E27FC236}">
                <a16:creationId xmlns:a16="http://schemas.microsoft.com/office/drawing/2014/main" id="{6CAA971B-297D-184F-DB3D-E6186DD137D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85259" y="2070816"/>
            <a:ext cx="914400" cy="914400"/>
          </a:xfrm>
          <a:prstGeom prst="rect">
            <a:avLst/>
          </a:prstGeom>
        </p:spPr>
      </p:pic>
      <p:pic>
        <p:nvPicPr>
          <p:cNvPr id="19" name="Graphic 18" descr="Sheep with solid fill">
            <a:extLst>
              <a:ext uri="{FF2B5EF4-FFF2-40B4-BE49-F238E27FC236}">
                <a16:creationId xmlns:a16="http://schemas.microsoft.com/office/drawing/2014/main" id="{69077305-2318-C9FD-2E3E-272532BAE9A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14503" y="3649063"/>
            <a:ext cx="914400" cy="914400"/>
          </a:xfrm>
          <a:prstGeom prst="rect">
            <a:avLst/>
          </a:prstGeom>
        </p:spPr>
      </p:pic>
      <p:pic>
        <p:nvPicPr>
          <p:cNvPr id="20" name="Graphic 19" descr="Sheep with solid fill">
            <a:extLst>
              <a:ext uri="{FF2B5EF4-FFF2-40B4-BE49-F238E27FC236}">
                <a16:creationId xmlns:a16="http://schemas.microsoft.com/office/drawing/2014/main" id="{0BD0196E-F098-69BF-8BDC-245462A6E20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35895" y="1073270"/>
            <a:ext cx="914400" cy="914400"/>
          </a:xfrm>
          <a:prstGeom prst="rect">
            <a:avLst/>
          </a:prstGeom>
        </p:spPr>
      </p:pic>
      <p:pic>
        <p:nvPicPr>
          <p:cNvPr id="21" name="Graphic 20" descr="Sheep with solid fill">
            <a:extLst>
              <a:ext uri="{FF2B5EF4-FFF2-40B4-BE49-F238E27FC236}">
                <a16:creationId xmlns:a16="http://schemas.microsoft.com/office/drawing/2014/main" id="{543F15FB-526B-02D7-4D7B-073930AE0A2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06817" y="634716"/>
            <a:ext cx="914400" cy="914400"/>
          </a:xfrm>
          <a:prstGeom prst="rect">
            <a:avLst/>
          </a:prstGeom>
        </p:spPr>
      </p:pic>
      <p:pic>
        <p:nvPicPr>
          <p:cNvPr id="22" name="Graphic 21" descr="Sheep with solid fill">
            <a:extLst>
              <a:ext uri="{FF2B5EF4-FFF2-40B4-BE49-F238E27FC236}">
                <a16:creationId xmlns:a16="http://schemas.microsoft.com/office/drawing/2014/main" id="{92BFC427-0C97-3A59-4A48-96BEB8E5CD5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11531" y="2277463"/>
            <a:ext cx="914400" cy="914400"/>
          </a:xfrm>
          <a:prstGeom prst="rect">
            <a:avLst/>
          </a:prstGeom>
        </p:spPr>
      </p:pic>
      <p:pic>
        <p:nvPicPr>
          <p:cNvPr id="23" name="Graphic 22" descr="Sheep with solid fill">
            <a:extLst>
              <a:ext uri="{FF2B5EF4-FFF2-40B4-BE49-F238E27FC236}">
                <a16:creationId xmlns:a16="http://schemas.microsoft.com/office/drawing/2014/main" id="{2A2D218E-EB2B-A492-B136-3EA0F57F974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351054" y="3368616"/>
            <a:ext cx="914400" cy="914400"/>
          </a:xfrm>
          <a:prstGeom prst="rect">
            <a:avLst/>
          </a:prstGeom>
        </p:spPr>
      </p:pic>
      <p:pic>
        <p:nvPicPr>
          <p:cNvPr id="24" name="Graphic 23" descr="Sheep with solid fill">
            <a:extLst>
              <a:ext uri="{FF2B5EF4-FFF2-40B4-BE49-F238E27FC236}">
                <a16:creationId xmlns:a16="http://schemas.microsoft.com/office/drawing/2014/main" id="{18F6EEF9-A2BE-1BC5-4EB6-D7A5EEF18D0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13352" y="3825816"/>
            <a:ext cx="914400" cy="914400"/>
          </a:xfrm>
          <a:prstGeom prst="rect">
            <a:avLst/>
          </a:prstGeom>
        </p:spPr>
      </p:pic>
      <p:pic>
        <p:nvPicPr>
          <p:cNvPr id="25" name="Graphic 24" descr="Sheep with solid fill">
            <a:extLst>
              <a:ext uri="{FF2B5EF4-FFF2-40B4-BE49-F238E27FC236}">
                <a16:creationId xmlns:a16="http://schemas.microsoft.com/office/drawing/2014/main" id="{E8FCA0CD-2BE4-A070-3DB9-FC8C3FC4DD3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69379" y="3756318"/>
            <a:ext cx="914400" cy="914400"/>
          </a:xfrm>
          <a:prstGeom prst="rect">
            <a:avLst/>
          </a:prstGeom>
        </p:spPr>
      </p:pic>
      <p:sp>
        <p:nvSpPr>
          <p:cNvPr id="26" name="TextBox 25">
            <a:extLst>
              <a:ext uri="{FF2B5EF4-FFF2-40B4-BE49-F238E27FC236}">
                <a16:creationId xmlns:a16="http://schemas.microsoft.com/office/drawing/2014/main" id="{1AE45FCC-3D5C-0C2D-CD3A-58CE9D0B6779}"/>
              </a:ext>
            </a:extLst>
          </p:cNvPr>
          <p:cNvSpPr txBox="1"/>
          <p:nvPr/>
        </p:nvSpPr>
        <p:spPr>
          <a:xfrm>
            <a:off x="6182168" y="856185"/>
            <a:ext cx="708848"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=Goat</a:t>
            </a:r>
            <a:r>
              <a:rPr lang="en-US" sz="1050" baseline="-25000" dirty="0"/>
              <a:t>2</a:t>
            </a:r>
            <a:endParaRPr lang="en-GB" sz="1050" dirty="0"/>
          </a:p>
        </p:txBody>
      </p:sp>
      <p:sp>
        <p:nvSpPr>
          <p:cNvPr id="27" name="TextBox 26">
            <a:extLst>
              <a:ext uri="{FF2B5EF4-FFF2-40B4-BE49-F238E27FC236}">
                <a16:creationId xmlns:a16="http://schemas.microsoft.com/office/drawing/2014/main" id="{DB0BB0F2-7142-8468-8F29-5AC3B11E0142}"/>
              </a:ext>
            </a:extLst>
          </p:cNvPr>
          <p:cNvSpPr txBox="1"/>
          <p:nvPr/>
        </p:nvSpPr>
        <p:spPr>
          <a:xfrm>
            <a:off x="7269669" y="4106263"/>
            <a:ext cx="995785" cy="253916"/>
          </a:xfrm>
          <a:prstGeom prst="rect">
            <a:avLst/>
          </a:prstGeom>
          <a:noFill/>
        </p:spPr>
        <p:txBody>
          <a:bodyPr wrap="none" rtlCol="0">
            <a:spAutoFit/>
          </a:bodyPr>
          <a:lstStyle/>
          <a:p>
            <a:r>
              <a:rPr lang="en-US" sz="1050" b="1" dirty="0">
                <a:solidFill>
                  <a:srgbClr val="FF33CC"/>
                </a:solidFill>
                <a:latin typeface="Consolas" panose="020B0609020204030204" pitchFamily="49" charset="0"/>
              </a:rPr>
              <a:t>S-124 Sheep</a:t>
            </a:r>
            <a:endParaRPr lang="en-GB" sz="1050" b="1" dirty="0">
              <a:solidFill>
                <a:srgbClr val="FF33CC"/>
              </a:solidFill>
            </a:endParaRPr>
          </a:p>
        </p:txBody>
      </p:sp>
      <p:sp>
        <p:nvSpPr>
          <p:cNvPr id="29" name="TextBox 28">
            <a:extLst>
              <a:ext uri="{FF2B5EF4-FFF2-40B4-BE49-F238E27FC236}">
                <a16:creationId xmlns:a16="http://schemas.microsoft.com/office/drawing/2014/main" id="{74246BF7-7B34-8081-04CC-E2FFAF104241}"/>
              </a:ext>
            </a:extLst>
          </p:cNvPr>
          <p:cNvSpPr txBox="1"/>
          <p:nvPr/>
        </p:nvSpPr>
        <p:spPr>
          <a:xfrm>
            <a:off x="5990468" y="3068407"/>
            <a:ext cx="782587"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=Sheep</a:t>
            </a:r>
            <a:r>
              <a:rPr lang="en-US" sz="1050" baseline="-25000" dirty="0"/>
              <a:t>3</a:t>
            </a:r>
            <a:endParaRPr lang="en-GB" sz="1050" dirty="0"/>
          </a:p>
        </p:txBody>
      </p:sp>
      <p:sp>
        <p:nvSpPr>
          <p:cNvPr id="31" name="TextBox 30">
            <a:extLst>
              <a:ext uri="{FF2B5EF4-FFF2-40B4-BE49-F238E27FC236}">
                <a16:creationId xmlns:a16="http://schemas.microsoft.com/office/drawing/2014/main" id="{0885A16C-FE19-4A10-568C-CEA86A215EDC}"/>
              </a:ext>
            </a:extLst>
          </p:cNvPr>
          <p:cNvSpPr txBox="1"/>
          <p:nvPr/>
        </p:nvSpPr>
        <p:spPr>
          <a:xfrm>
            <a:off x="2914248" y="3777973"/>
            <a:ext cx="708848"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=Goat</a:t>
            </a:r>
            <a:r>
              <a:rPr lang="en-US" sz="1050" baseline="-25000" dirty="0"/>
              <a:t>1</a:t>
            </a:r>
            <a:endParaRPr lang="en-GB" sz="1050" dirty="0"/>
          </a:p>
        </p:txBody>
      </p:sp>
      <p:sp>
        <p:nvSpPr>
          <p:cNvPr id="32" name="TextBox 31">
            <a:extLst>
              <a:ext uri="{FF2B5EF4-FFF2-40B4-BE49-F238E27FC236}">
                <a16:creationId xmlns:a16="http://schemas.microsoft.com/office/drawing/2014/main" id="{932780CC-547C-64DB-4BD0-B60D96645459}"/>
              </a:ext>
            </a:extLst>
          </p:cNvPr>
          <p:cNvSpPr txBox="1"/>
          <p:nvPr/>
        </p:nvSpPr>
        <p:spPr>
          <a:xfrm>
            <a:off x="2157659" y="4527420"/>
            <a:ext cx="782587"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=Sheep</a:t>
            </a:r>
            <a:r>
              <a:rPr lang="en-US" sz="1050" baseline="-25000" dirty="0"/>
              <a:t>2</a:t>
            </a:r>
            <a:endParaRPr lang="en-GB" sz="1050" dirty="0"/>
          </a:p>
        </p:txBody>
      </p:sp>
      <p:sp>
        <p:nvSpPr>
          <p:cNvPr id="33" name="TextBox 32">
            <a:extLst>
              <a:ext uri="{FF2B5EF4-FFF2-40B4-BE49-F238E27FC236}">
                <a16:creationId xmlns:a16="http://schemas.microsoft.com/office/drawing/2014/main" id="{D9230C09-BB74-1A19-6D97-4B9ED7649461}"/>
              </a:ext>
            </a:extLst>
          </p:cNvPr>
          <p:cNvSpPr txBox="1"/>
          <p:nvPr/>
        </p:nvSpPr>
        <p:spPr>
          <a:xfrm>
            <a:off x="864269" y="3368616"/>
            <a:ext cx="782587"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=Sheep</a:t>
            </a:r>
            <a:r>
              <a:rPr lang="en-US" sz="1050" baseline="-25000" dirty="0"/>
              <a:t>1</a:t>
            </a:r>
            <a:endParaRPr lang="en-GB" sz="1050" dirty="0"/>
          </a:p>
        </p:txBody>
      </p:sp>
      <p:sp>
        <p:nvSpPr>
          <p:cNvPr id="35" name="Rectangle 34">
            <a:extLst>
              <a:ext uri="{FF2B5EF4-FFF2-40B4-BE49-F238E27FC236}">
                <a16:creationId xmlns:a16="http://schemas.microsoft.com/office/drawing/2014/main" id="{1D3B8062-D8EE-6375-84B4-5C8CE0417D35}"/>
              </a:ext>
            </a:extLst>
          </p:cNvPr>
          <p:cNvSpPr/>
          <p:nvPr/>
        </p:nvSpPr>
        <p:spPr>
          <a:xfrm>
            <a:off x="7188283" y="3330016"/>
            <a:ext cx="1137067" cy="1197403"/>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Title 1">
            <a:extLst>
              <a:ext uri="{FF2B5EF4-FFF2-40B4-BE49-F238E27FC236}">
                <a16:creationId xmlns:a16="http://schemas.microsoft.com/office/drawing/2014/main" id="{7656949A-B310-FBD9-C4F6-2F40FA92E227}"/>
              </a:ext>
            </a:extLst>
          </p:cNvPr>
          <p:cNvSpPr>
            <a:spLocks noGrp="1"/>
          </p:cNvSpPr>
          <p:nvPr>
            <p:ph type="title"/>
          </p:nvPr>
        </p:nvSpPr>
        <p:spPr>
          <a:xfrm>
            <a:off x="126521" y="5951830"/>
            <a:ext cx="10515600" cy="827233"/>
          </a:xfrm>
        </p:spPr>
        <p:txBody>
          <a:bodyPr/>
          <a:lstStyle/>
          <a:p>
            <a:r>
              <a:rPr lang="en-US" dirty="0">
                <a:latin typeface="Consolas" panose="020B0609020204030204" pitchFamily="49" charset="0"/>
              </a:rPr>
              <a:t>II</a:t>
            </a:r>
            <a:r>
              <a:rPr lang="en-US" dirty="0"/>
              <a:t> are unique identifiers.</a:t>
            </a:r>
            <a:endParaRPr lang="en-GB" dirty="0"/>
          </a:p>
        </p:txBody>
      </p:sp>
    </p:spTree>
    <p:extLst>
      <p:ext uri="{BB962C8B-B14F-4D97-AF65-F5344CB8AC3E}">
        <p14:creationId xmlns:p14="http://schemas.microsoft.com/office/powerpoint/2010/main" val="3682436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C77A2-9063-559D-3A08-5F317EF14312}"/>
            </a:ext>
          </a:extLst>
        </p:cNvPr>
        <p:cNvGrpSpPr/>
        <p:nvPr/>
      </p:nvGrpSpPr>
      <p:grpSpPr>
        <a:xfrm>
          <a:off x="0" y="0"/>
          <a:ext cx="0" cy="0"/>
          <a:chOff x="0" y="0"/>
          <a:chExt cx="0" cy="0"/>
        </a:xfrm>
      </p:grpSpPr>
      <p:pic>
        <p:nvPicPr>
          <p:cNvPr id="7" name="Graphic 6" descr="Sheep with solid fill">
            <a:extLst>
              <a:ext uri="{FF2B5EF4-FFF2-40B4-BE49-F238E27FC236}">
                <a16:creationId xmlns:a16="http://schemas.microsoft.com/office/drawing/2014/main" id="{17115526-BE70-6029-C5AC-5C9264B7CB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84321" y="1453551"/>
            <a:ext cx="914400" cy="914400"/>
          </a:xfrm>
          <a:prstGeom prst="rect">
            <a:avLst/>
          </a:prstGeom>
        </p:spPr>
      </p:pic>
      <p:pic>
        <p:nvPicPr>
          <p:cNvPr id="9" name="Graphic 8" descr="Ram with solid fill">
            <a:extLst>
              <a:ext uri="{FF2B5EF4-FFF2-40B4-BE49-F238E27FC236}">
                <a16:creationId xmlns:a16="http://schemas.microsoft.com/office/drawing/2014/main" id="{281D6691-9668-A4DE-94C7-26F563F5DD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9137" y="2224653"/>
            <a:ext cx="914400" cy="914400"/>
          </a:xfrm>
          <a:prstGeom prst="rect">
            <a:avLst/>
          </a:prstGeom>
        </p:spPr>
      </p:pic>
      <p:pic>
        <p:nvPicPr>
          <p:cNvPr id="12" name="Graphic 11" descr="Ram with solid fill">
            <a:extLst>
              <a:ext uri="{FF2B5EF4-FFF2-40B4-BE49-F238E27FC236}">
                <a16:creationId xmlns:a16="http://schemas.microsoft.com/office/drawing/2014/main" id="{D38E871C-3083-3A6C-27B7-D2AE2C9A281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9620" y="2985216"/>
            <a:ext cx="914400" cy="914400"/>
          </a:xfrm>
          <a:prstGeom prst="rect">
            <a:avLst/>
          </a:prstGeom>
        </p:spPr>
      </p:pic>
      <p:pic>
        <p:nvPicPr>
          <p:cNvPr id="13" name="Graphic 12" descr="Ram with solid fill">
            <a:extLst>
              <a:ext uri="{FF2B5EF4-FFF2-40B4-BE49-F238E27FC236}">
                <a16:creationId xmlns:a16="http://schemas.microsoft.com/office/drawing/2014/main" id="{5BD87DAF-FA3F-25A3-58F9-56764B269CF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97669" y="1453551"/>
            <a:ext cx="914400" cy="914400"/>
          </a:xfrm>
          <a:prstGeom prst="rect">
            <a:avLst/>
          </a:prstGeom>
        </p:spPr>
      </p:pic>
      <p:pic>
        <p:nvPicPr>
          <p:cNvPr id="14" name="Graphic 13" descr="Ram with solid fill">
            <a:extLst>
              <a:ext uri="{FF2B5EF4-FFF2-40B4-BE49-F238E27FC236}">
                <a16:creationId xmlns:a16="http://schemas.microsoft.com/office/drawing/2014/main" id="{2A1ECF4F-5111-F38E-6390-1BA4D384874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79069" y="767751"/>
            <a:ext cx="914400" cy="914400"/>
          </a:xfrm>
          <a:prstGeom prst="rect">
            <a:avLst/>
          </a:prstGeom>
        </p:spPr>
      </p:pic>
      <p:pic>
        <p:nvPicPr>
          <p:cNvPr id="15" name="Graphic 14" descr="Sheep with solid fill">
            <a:extLst>
              <a:ext uri="{FF2B5EF4-FFF2-40B4-BE49-F238E27FC236}">
                <a16:creationId xmlns:a16="http://schemas.microsoft.com/office/drawing/2014/main" id="{C22249B6-D7C7-753A-9E2D-A56D06B022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9669" y="1269521"/>
            <a:ext cx="914400" cy="914400"/>
          </a:xfrm>
          <a:prstGeom prst="rect">
            <a:avLst/>
          </a:prstGeom>
        </p:spPr>
      </p:pic>
      <p:pic>
        <p:nvPicPr>
          <p:cNvPr id="16" name="Graphic 15" descr="Sheep with solid fill">
            <a:extLst>
              <a:ext uri="{FF2B5EF4-FFF2-40B4-BE49-F238E27FC236}">
                <a16:creationId xmlns:a16="http://schemas.microsoft.com/office/drawing/2014/main" id="{DB32ADF6-AF5F-943D-96A7-A715F9F5F9E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98069" y="2353663"/>
            <a:ext cx="914400" cy="914400"/>
          </a:xfrm>
          <a:prstGeom prst="rect">
            <a:avLst/>
          </a:prstGeom>
        </p:spPr>
      </p:pic>
      <p:pic>
        <p:nvPicPr>
          <p:cNvPr id="17" name="Graphic 16" descr="Sheep with solid fill">
            <a:extLst>
              <a:ext uri="{FF2B5EF4-FFF2-40B4-BE49-F238E27FC236}">
                <a16:creationId xmlns:a16="http://schemas.microsoft.com/office/drawing/2014/main" id="{B129C26B-8CB0-30AB-4854-240F63425A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2220" y="3368616"/>
            <a:ext cx="914400" cy="914400"/>
          </a:xfrm>
          <a:prstGeom prst="rect">
            <a:avLst/>
          </a:prstGeom>
        </p:spPr>
      </p:pic>
      <p:pic>
        <p:nvPicPr>
          <p:cNvPr id="18" name="Graphic 17" descr="Sheep with solid fill">
            <a:extLst>
              <a:ext uri="{FF2B5EF4-FFF2-40B4-BE49-F238E27FC236}">
                <a16:creationId xmlns:a16="http://schemas.microsoft.com/office/drawing/2014/main" id="{CAF812D5-B61A-9A26-2306-F626237BD71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85259" y="2070816"/>
            <a:ext cx="914400" cy="914400"/>
          </a:xfrm>
          <a:prstGeom prst="rect">
            <a:avLst/>
          </a:prstGeom>
        </p:spPr>
      </p:pic>
      <p:pic>
        <p:nvPicPr>
          <p:cNvPr id="19" name="Graphic 18" descr="Sheep with solid fill">
            <a:extLst>
              <a:ext uri="{FF2B5EF4-FFF2-40B4-BE49-F238E27FC236}">
                <a16:creationId xmlns:a16="http://schemas.microsoft.com/office/drawing/2014/main" id="{D945FCA3-4782-2AF6-9A18-F4F257F2080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14503" y="3649063"/>
            <a:ext cx="914400" cy="914400"/>
          </a:xfrm>
          <a:prstGeom prst="rect">
            <a:avLst/>
          </a:prstGeom>
        </p:spPr>
      </p:pic>
      <p:pic>
        <p:nvPicPr>
          <p:cNvPr id="20" name="Graphic 19" descr="Sheep with solid fill">
            <a:extLst>
              <a:ext uri="{FF2B5EF4-FFF2-40B4-BE49-F238E27FC236}">
                <a16:creationId xmlns:a16="http://schemas.microsoft.com/office/drawing/2014/main" id="{2734E7A1-1FCF-0726-73C0-FD11A601A45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35895" y="1073270"/>
            <a:ext cx="914400" cy="914400"/>
          </a:xfrm>
          <a:prstGeom prst="rect">
            <a:avLst/>
          </a:prstGeom>
        </p:spPr>
      </p:pic>
      <p:pic>
        <p:nvPicPr>
          <p:cNvPr id="21" name="Graphic 20" descr="Sheep with solid fill">
            <a:extLst>
              <a:ext uri="{FF2B5EF4-FFF2-40B4-BE49-F238E27FC236}">
                <a16:creationId xmlns:a16="http://schemas.microsoft.com/office/drawing/2014/main" id="{A9668BE1-6232-30CF-CD77-885C889EFF8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06817" y="634716"/>
            <a:ext cx="914400" cy="914400"/>
          </a:xfrm>
          <a:prstGeom prst="rect">
            <a:avLst/>
          </a:prstGeom>
        </p:spPr>
      </p:pic>
      <p:pic>
        <p:nvPicPr>
          <p:cNvPr id="22" name="Graphic 21" descr="Sheep with solid fill">
            <a:extLst>
              <a:ext uri="{FF2B5EF4-FFF2-40B4-BE49-F238E27FC236}">
                <a16:creationId xmlns:a16="http://schemas.microsoft.com/office/drawing/2014/main" id="{5BF0E674-8B09-9B9B-4C17-08DF9CC5198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11531" y="2277463"/>
            <a:ext cx="914400" cy="914400"/>
          </a:xfrm>
          <a:prstGeom prst="rect">
            <a:avLst/>
          </a:prstGeom>
        </p:spPr>
      </p:pic>
      <p:pic>
        <p:nvPicPr>
          <p:cNvPr id="23" name="Graphic 22" descr="Sheep with solid fill">
            <a:extLst>
              <a:ext uri="{FF2B5EF4-FFF2-40B4-BE49-F238E27FC236}">
                <a16:creationId xmlns:a16="http://schemas.microsoft.com/office/drawing/2014/main" id="{D261585F-D43D-B350-A865-540A3219395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351054" y="3368616"/>
            <a:ext cx="914400" cy="914400"/>
          </a:xfrm>
          <a:prstGeom prst="rect">
            <a:avLst/>
          </a:prstGeom>
        </p:spPr>
      </p:pic>
      <p:pic>
        <p:nvPicPr>
          <p:cNvPr id="24" name="Graphic 23" descr="Sheep with solid fill">
            <a:extLst>
              <a:ext uri="{FF2B5EF4-FFF2-40B4-BE49-F238E27FC236}">
                <a16:creationId xmlns:a16="http://schemas.microsoft.com/office/drawing/2014/main" id="{F3A34999-DF60-8F91-8A95-EA9831B77D5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13352" y="3825816"/>
            <a:ext cx="914400" cy="914400"/>
          </a:xfrm>
          <a:prstGeom prst="rect">
            <a:avLst/>
          </a:prstGeom>
        </p:spPr>
      </p:pic>
      <p:pic>
        <p:nvPicPr>
          <p:cNvPr id="25" name="Graphic 24" descr="Sheep with solid fill">
            <a:extLst>
              <a:ext uri="{FF2B5EF4-FFF2-40B4-BE49-F238E27FC236}">
                <a16:creationId xmlns:a16="http://schemas.microsoft.com/office/drawing/2014/main" id="{357A8E5A-67ED-B922-76EB-3A97F0CC2DD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69379" y="3756318"/>
            <a:ext cx="914400" cy="914400"/>
          </a:xfrm>
          <a:prstGeom prst="rect">
            <a:avLst/>
          </a:prstGeom>
        </p:spPr>
      </p:pic>
      <p:sp>
        <p:nvSpPr>
          <p:cNvPr id="26" name="TextBox 25">
            <a:extLst>
              <a:ext uri="{FF2B5EF4-FFF2-40B4-BE49-F238E27FC236}">
                <a16:creationId xmlns:a16="http://schemas.microsoft.com/office/drawing/2014/main" id="{87FB1527-62DB-F5B4-D907-BB6AF7195A0B}"/>
              </a:ext>
            </a:extLst>
          </p:cNvPr>
          <p:cNvSpPr txBox="1"/>
          <p:nvPr/>
        </p:nvSpPr>
        <p:spPr>
          <a:xfrm>
            <a:off x="6182168" y="856185"/>
            <a:ext cx="630301" cy="261610"/>
          </a:xfrm>
          <a:prstGeom prst="rect">
            <a:avLst/>
          </a:prstGeom>
          <a:noFill/>
        </p:spPr>
        <p:txBody>
          <a:bodyPr wrap="none" rtlCol="0">
            <a:spAutoFit/>
          </a:bodyPr>
          <a:lstStyle/>
          <a:p>
            <a:r>
              <a:rPr lang="en-US" sz="1050" dirty="0">
                <a:latin typeface="Consolas" panose="020B0609020204030204" pitchFamily="49" charset="0"/>
              </a:rPr>
              <a:t>II</a:t>
            </a:r>
            <a:r>
              <a:rPr lang="en-US" sz="1050" dirty="0"/>
              <a:t>=Red</a:t>
            </a:r>
            <a:endParaRPr lang="en-GB" sz="1050" dirty="0"/>
          </a:p>
        </p:txBody>
      </p:sp>
      <p:sp>
        <p:nvSpPr>
          <p:cNvPr id="27" name="TextBox 26">
            <a:extLst>
              <a:ext uri="{FF2B5EF4-FFF2-40B4-BE49-F238E27FC236}">
                <a16:creationId xmlns:a16="http://schemas.microsoft.com/office/drawing/2014/main" id="{4701845C-2043-3E42-CD2A-D2CDA2E69F35}"/>
              </a:ext>
            </a:extLst>
          </p:cNvPr>
          <p:cNvSpPr txBox="1"/>
          <p:nvPr/>
        </p:nvSpPr>
        <p:spPr>
          <a:xfrm>
            <a:off x="7269669" y="4106263"/>
            <a:ext cx="995785" cy="253916"/>
          </a:xfrm>
          <a:prstGeom prst="rect">
            <a:avLst/>
          </a:prstGeom>
          <a:noFill/>
        </p:spPr>
        <p:txBody>
          <a:bodyPr wrap="none" rtlCol="0">
            <a:spAutoFit/>
          </a:bodyPr>
          <a:lstStyle/>
          <a:p>
            <a:r>
              <a:rPr lang="en-US" sz="1050" b="1" dirty="0">
                <a:solidFill>
                  <a:srgbClr val="FF33CC"/>
                </a:solidFill>
                <a:latin typeface="Consolas" panose="020B0609020204030204" pitchFamily="49" charset="0"/>
              </a:rPr>
              <a:t>S-124 Sheep</a:t>
            </a:r>
            <a:endParaRPr lang="en-GB" sz="1050" b="1" dirty="0">
              <a:solidFill>
                <a:srgbClr val="FF33CC"/>
              </a:solidFill>
            </a:endParaRPr>
          </a:p>
        </p:txBody>
      </p:sp>
      <p:sp>
        <p:nvSpPr>
          <p:cNvPr id="29" name="TextBox 28">
            <a:extLst>
              <a:ext uri="{FF2B5EF4-FFF2-40B4-BE49-F238E27FC236}">
                <a16:creationId xmlns:a16="http://schemas.microsoft.com/office/drawing/2014/main" id="{45FD0B88-E3F7-6288-DA18-17A4F5BA4C2D}"/>
              </a:ext>
            </a:extLst>
          </p:cNvPr>
          <p:cNvSpPr txBox="1"/>
          <p:nvPr/>
        </p:nvSpPr>
        <p:spPr>
          <a:xfrm>
            <a:off x="5990468" y="3068407"/>
            <a:ext cx="630301" cy="261610"/>
          </a:xfrm>
          <a:prstGeom prst="rect">
            <a:avLst/>
          </a:prstGeom>
          <a:noFill/>
        </p:spPr>
        <p:txBody>
          <a:bodyPr wrap="none" rtlCol="0">
            <a:spAutoFit/>
          </a:bodyPr>
          <a:lstStyle/>
          <a:p>
            <a:r>
              <a:rPr lang="en-US" sz="1050" dirty="0">
                <a:latin typeface="Consolas" panose="020B0609020204030204" pitchFamily="49" charset="0"/>
              </a:rPr>
              <a:t>II</a:t>
            </a:r>
            <a:r>
              <a:rPr lang="en-US" sz="1050" dirty="0"/>
              <a:t>=Red</a:t>
            </a:r>
            <a:endParaRPr lang="en-GB" sz="1050" dirty="0"/>
          </a:p>
        </p:txBody>
      </p:sp>
      <p:sp>
        <p:nvSpPr>
          <p:cNvPr id="31" name="TextBox 30">
            <a:extLst>
              <a:ext uri="{FF2B5EF4-FFF2-40B4-BE49-F238E27FC236}">
                <a16:creationId xmlns:a16="http://schemas.microsoft.com/office/drawing/2014/main" id="{7400D641-EF73-3E61-2990-8043D037635B}"/>
              </a:ext>
            </a:extLst>
          </p:cNvPr>
          <p:cNvSpPr txBox="1"/>
          <p:nvPr/>
        </p:nvSpPr>
        <p:spPr>
          <a:xfrm>
            <a:off x="2914248" y="3777973"/>
            <a:ext cx="641522"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=Blue</a:t>
            </a:r>
            <a:endParaRPr lang="en-GB" sz="1050" dirty="0"/>
          </a:p>
        </p:txBody>
      </p:sp>
      <p:sp>
        <p:nvSpPr>
          <p:cNvPr id="32" name="TextBox 31">
            <a:extLst>
              <a:ext uri="{FF2B5EF4-FFF2-40B4-BE49-F238E27FC236}">
                <a16:creationId xmlns:a16="http://schemas.microsoft.com/office/drawing/2014/main" id="{42472E55-22AB-EECC-87A9-9E0EB991E629}"/>
              </a:ext>
            </a:extLst>
          </p:cNvPr>
          <p:cNvSpPr txBox="1"/>
          <p:nvPr/>
        </p:nvSpPr>
        <p:spPr>
          <a:xfrm>
            <a:off x="2157659" y="4527420"/>
            <a:ext cx="641522"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=Blue</a:t>
            </a:r>
            <a:endParaRPr lang="en-GB" sz="1050" dirty="0"/>
          </a:p>
        </p:txBody>
      </p:sp>
      <p:sp>
        <p:nvSpPr>
          <p:cNvPr id="33" name="TextBox 32">
            <a:extLst>
              <a:ext uri="{FF2B5EF4-FFF2-40B4-BE49-F238E27FC236}">
                <a16:creationId xmlns:a16="http://schemas.microsoft.com/office/drawing/2014/main" id="{8293C340-A2FE-5708-3C82-62FBA2E64A50}"/>
              </a:ext>
            </a:extLst>
          </p:cNvPr>
          <p:cNvSpPr txBox="1"/>
          <p:nvPr/>
        </p:nvSpPr>
        <p:spPr>
          <a:xfrm>
            <a:off x="864269" y="3368616"/>
            <a:ext cx="641522"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=Blue</a:t>
            </a:r>
            <a:endParaRPr lang="en-GB" sz="1050" dirty="0"/>
          </a:p>
        </p:txBody>
      </p:sp>
      <p:sp>
        <p:nvSpPr>
          <p:cNvPr id="35" name="Rectangle 34">
            <a:extLst>
              <a:ext uri="{FF2B5EF4-FFF2-40B4-BE49-F238E27FC236}">
                <a16:creationId xmlns:a16="http://schemas.microsoft.com/office/drawing/2014/main" id="{19A40149-E8D7-E19A-0543-30AF6A5CB66C}"/>
              </a:ext>
            </a:extLst>
          </p:cNvPr>
          <p:cNvSpPr/>
          <p:nvPr/>
        </p:nvSpPr>
        <p:spPr>
          <a:xfrm>
            <a:off x="7188283" y="3330016"/>
            <a:ext cx="1137067" cy="1197403"/>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ACD5A9B-9E70-2209-BC0E-0B9FFF58CB81}"/>
              </a:ext>
            </a:extLst>
          </p:cNvPr>
          <p:cNvSpPr>
            <a:spLocks noGrp="1"/>
          </p:cNvSpPr>
          <p:nvPr>
            <p:ph type="title"/>
          </p:nvPr>
        </p:nvSpPr>
        <p:spPr>
          <a:xfrm>
            <a:off x="126521" y="5951830"/>
            <a:ext cx="10515600" cy="827233"/>
          </a:xfrm>
        </p:spPr>
        <p:txBody>
          <a:bodyPr/>
          <a:lstStyle/>
          <a:p>
            <a:r>
              <a:rPr lang="en-US" dirty="0">
                <a:latin typeface="Consolas" panose="020B0609020204030204" pitchFamily="49" charset="0"/>
              </a:rPr>
              <a:t>II</a:t>
            </a:r>
            <a:r>
              <a:rPr lang="en-US" dirty="0"/>
              <a:t> represent groups of features</a:t>
            </a:r>
            <a:endParaRPr lang="en-GB" dirty="0"/>
          </a:p>
        </p:txBody>
      </p:sp>
    </p:spTree>
    <p:extLst>
      <p:ext uri="{BB962C8B-B14F-4D97-AF65-F5344CB8AC3E}">
        <p14:creationId xmlns:p14="http://schemas.microsoft.com/office/powerpoint/2010/main" val="1442128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8F48E-9D55-B771-3C29-C318753FE2B8}"/>
            </a:ext>
          </a:extLst>
        </p:cNvPr>
        <p:cNvGrpSpPr/>
        <p:nvPr/>
      </p:nvGrpSpPr>
      <p:grpSpPr>
        <a:xfrm>
          <a:off x="0" y="0"/>
          <a:ext cx="0" cy="0"/>
          <a:chOff x="0" y="0"/>
          <a:chExt cx="0" cy="0"/>
        </a:xfrm>
      </p:grpSpPr>
      <p:pic>
        <p:nvPicPr>
          <p:cNvPr id="7" name="Graphic 6" descr="Sheep with solid fill">
            <a:extLst>
              <a:ext uri="{FF2B5EF4-FFF2-40B4-BE49-F238E27FC236}">
                <a16:creationId xmlns:a16="http://schemas.microsoft.com/office/drawing/2014/main" id="{AB2E4269-D686-8D1C-BCE2-DE468D6993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84321" y="1453551"/>
            <a:ext cx="914400" cy="914400"/>
          </a:xfrm>
          <a:prstGeom prst="rect">
            <a:avLst/>
          </a:prstGeom>
        </p:spPr>
      </p:pic>
      <p:pic>
        <p:nvPicPr>
          <p:cNvPr id="9" name="Graphic 8" descr="Ram with solid fill">
            <a:extLst>
              <a:ext uri="{FF2B5EF4-FFF2-40B4-BE49-F238E27FC236}">
                <a16:creationId xmlns:a16="http://schemas.microsoft.com/office/drawing/2014/main" id="{48F760F4-F76C-8EF3-05BD-1296A406326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9137" y="2224653"/>
            <a:ext cx="914400" cy="914400"/>
          </a:xfrm>
          <a:prstGeom prst="rect">
            <a:avLst/>
          </a:prstGeom>
        </p:spPr>
      </p:pic>
      <p:pic>
        <p:nvPicPr>
          <p:cNvPr id="12" name="Graphic 11" descr="Ram with solid fill">
            <a:extLst>
              <a:ext uri="{FF2B5EF4-FFF2-40B4-BE49-F238E27FC236}">
                <a16:creationId xmlns:a16="http://schemas.microsoft.com/office/drawing/2014/main" id="{52FBC085-FA86-751E-DC47-E4A31B134A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9620" y="2985216"/>
            <a:ext cx="914400" cy="914400"/>
          </a:xfrm>
          <a:prstGeom prst="rect">
            <a:avLst/>
          </a:prstGeom>
        </p:spPr>
      </p:pic>
      <p:pic>
        <p:nvPicPr>
          <p:cNvPr id="13" name="Graphic 12" descr="Ram with solid fill">
            <a:extLst>
              <a:ext uri="{FF2B5EF4-FFF2-40B4-BE49-F238E27FC236}">
                <a16:creationId xmlns:a16="http://schemas.microsoft.com/office/drawing/2014/main" id="{ED7A8783-994E-7863-14F1-802669FAA75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97669" y="1453551"/>
            <a:ext cx="914400" cy="914400"/>
          </a:xfrm>
          <a:prstGeom prst="rect">
            <a:avLst/>
          </a:prstGeom>
        </p:spPr>
      </p:pic>
      <p:pic>
        <p:nvPicPr>
          <p:cNvPr id="14" name="Graphic 13" descr="Ram with solid fill">
            <a:extLst>
              <a:ext uri="{FF2B5EF4-FFF2-40B4-BE49-F238E27FC236}">
                <a16:creationId xmlns:a16="http://schemas.microsoft.com/office/drawing/2014/main" id="{B889DDB2-ABA6-5769-3C91-D5F7B1D8D22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79069" y="767751"/>
            <a:ext cx="914400" cy="914400"/>
          </a:xfrm>
          <a:prstGeom prst="rect">
            <a:avLst/>
          </a:prstGeom>
        </p:spPr>
      </p:pic>
      <p:pic>
        <p:nvPicPr>
          <p:cNvPr id="15" name="Graphic 14" descr="Sheep with solid fill">
            <a:extLst>
              <a:ext uri="{FF2B5EF4-FFF2-40B4-BE49-F238E27FC236}">
                <a16:creationId xmlns:a16="http://schemas.microsoft.com/office/drawing/2014/main" id="{DFA03150-9EBD-6333-6876-2855FFEE99A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9669" y="1269521"/>
            <a:ext cx="914400" cy="914400"/>
          </a:xfrm>
          <a:prstGeom prst="rect">
            <a:avLst/>
          </a:prstGeom>
        </p:spPr>
      </p:pic>
      <p:pic>
        <p:nvPicPr>
          <p:cNvPr id="16" name="Graphic 15" descr="Sheep with solid fill">
            <a:extLst>
              <a:ext uri="{FF2B5EF4-FFF2-40B4-BE49-F238E27FC236}">
                <a16:creationId xmlns:a16="http://schemas.microsoft.com/office/drawing/2014/main" id="{EF18F09A-9957-C683-A856-79FCB5FF5AD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98069" y="2353663"/>
            <a:ext cx="914400" cy="914400"/>
          </a:xfrm>
          <a:prstGeom prst="rect">
            <a:avLst/>
          </a:prstGeom>
        </p:spPr>
      </p:pic>
      <p:pic>
        <p:nvPicPr>
          <p:cNvPr id="17" name="Graphic 16" descr="Sheep with solid fill">
            <a:extLst>
              <a:ext uri="{FF2B5EF4-FFF2-40B4-BE49-F238E27FC236}">
                <a16:creationId xmlns:a16="http://schemas.microsoft.com/office/drawing/2014/main" id="{489F0CA1-2CD2-5322-0F3F-44C6024827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2220" y="3368616"/>
            <a:ext cx="914400" cy="914400"/>
          </a:xfrm>
          <a:prstGeom prst="rect">
            <a:avLst/>
          </a:prstGeom>
        </p:spPr>
      </p:pic>
      <p:pic>
        <p:nvPicPr>
          <p:cNvPr id="18" name="Graphic 17" descr="Sheep with solid fill">
            <a:extLst>
              <a:ext uri="{FF2B5EF4-FFF2-40B4-BE49-F238E27FC236}">
                <a16:creationId xmlns:a16="http://schemas.microsoft.com/office/drawing/2014/main" id="{6169A546-D1A8-A606-4FDD-0FB2E630B0E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85259" y="2070816"/>
            <a:ext cx="914400" cy="914400"/>
          </a:xfrm>
          <a:prstGeom prst="rect">
            <a:avLst/>
          </a:prstGeom>
        </p:spPr>
      </p:pic>
      <p:pic>
        <p:nvPicPr>
          <p:cNvPr id="19" name="Graphic 18" descr="Sheep with solid fill">
            <a:extLst>
              <a:ext uri="{FF2B5EF4-FFF2-40B4-BE49-F238E27FC236}">
                <a16:creationId xmlns:a16="http://schemas.microsoft.com/office/drawing/2014/main" id="{DDBAF65B-F1D4-4261-BD97-EFEB48F8E7D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14503" y="3649063"/>
            <a:ext cx="914400" cy="914400"/>
          </a:xfrm>
          <a:prstGeom prst="rect">
            <a:avLst/>
          </a:prstGeom>
        </p:spPr>
      </p:pic>
      <p:pic>
        <p:nvPicPr>
          <p:cNvPr id="20" name="Graphic 19" descr="Sheep with solid fill">
            <a:extLst>
              <a:ext uri="{FF2B5EF4-FFF2-40B4-BE49-F238E27FC236}">
                <a16:creationId xmlns:a16="http://schemas.microsoft.com/office/drawing/2014/main" id="{055DD295-1D12-3586-AFF8-4478EB4E9DB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35895" y="1073270"/>
            <a:ext cx="914400" cy="914400"/>
          </a:xfrm>
          <a:prstGeom prst="rect">
            <a:avLst/>
          </a:prstGeom>
        </p:spPr>
      </p:pic>
      <p:pic>
        <p:nvPicPr>
          <p:cNvPr id="21" name="Graphic 20" descr="Sheep with solid fill">
            <a:extLst>
              <a:ext uri="{FF2B5EF4-FFF2-40B4-BE49-F238E27FC236}">
                <a16:creationId xmlns:a16="http://schemas.microsoft.com/office/drawing/2014/main" id="{492E1B89-2C66-019D-37E9-5F3CEEB1A11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06817" y="634716"/>
            <a:ext cx="914400" cy="914400"/>
          </a:xfrm>
          <a:prstGeom prst="rect">
            <a:avLst/>
          </a:prstGeom>
        </p:spPr>
      </p:pic>
      <p:pic>
        <p:nvPicPr>
          <p:cNvPr id="22" name="Graphic 21" descr="Sheep with solid fill">
            <a:extLst>
              <a:ext uri="{FF2B5EF4-FFF2-40B4-BE49-F238E27FC236}">
                <a16:creationId xmlns:a16="http://schemas.microsoft.com/office/drawing/2014/main" id="{9DE27AD9-ECB3-7F88-17F7-29F1F736E62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11531" y="2277463"/>
            <a:ext cx="914400" cy="914400"/>
          </a:xfrm>
          <a:prstGeom prst="rect">
            <a:avLst/>
          </a:prstGeom>
        </p:spPr>
      </p:pic>
      <p:pic>
        <p:nvPicPr>
          <p:cNvPr id="23" name="Graphic 22" descr="Sheep with solid fill">
            <a:extLst>
              <a:ext uri="{FF2B5EF4-FFF2-40B4-BE49-F238E27FC236}">
                <a16:creationId xmlns:a16="http://schemas.microsoft.com/office/drawing/2014/main" id="{ACBFCE9E-795B-70B3-4227-D327381BAAD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351054" y="3368616"/>
            <a:ext cx="914400" cy="914400"/>
          </a:xfrm>
          <a:prstGeom prst="rect">
            <a:avLst/>
          </a:prstGeom>
        </p:spPr>
      </p:pic>
      <p:pic>
        <p:nvPicPr>
          <p:cNvPr id="24" name="Graphic 23" descr="Sheep with solid fill">
            <a:extLst>
              <a:ext uri="{FF2B5EF4-FFF2-40B4-BE49-F238E27FC236}">
                <a16:creationId xmlns:a16="http://schemas.microsoft.com/office/drawing/2014/main" id="{165C78B4-CBCF-416F-8531-9752E71D4BE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13352" y="3825816"/>
            <a:ext cx="914400" cy="914400"/>
          </a:xfrm>
          <a:prstGeom prst="rect">
            <a:avLst/>
          </a:prstGeom>
        </p:spPr>
      </p:pic>
      <p:pic>
        <p:nvPicPr>
          <p:cNvPr id="25" name="Graphic 24" descr="Sheep with solid fill">
            <a:extLst>
              <a:ext uri="{FF2B5EF4-FFF2-40B4-BE49-F238E27FC236}">
                <a16:creationId xmlns:a16="http://schemas.microsoft.com/office/drawing/2014/main" id="{72E30643-80A8-A0DC-458C-A55F529778D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69379" y="3756318"/>
            <a:ext cx="914400" cy="914400"/>
          </a:xfrm>
          <a:prstGeom prst="rect">
            <a:avLst/>
          </a:prstGeom>
        </p:spPr>
      </p:pic>
      <p:sp>
        <p:nvSpPr>
          <p:cNvPr id="26" name="TextBox 25">
            <a:extLst>
              <a:ext uri="{FF2B5EF4-FFF2-40B4-BE49-F238E27FC236}">
                <a16:creationId xmlns:a16="http://schemas.microsoft.com/office/drawing/2014/main" id="{063E60C1-43B4-08DE-EF84-09D182159765}"/>
              </a:ext>
            </a:extLst>
          </p:cNvPr>
          <p:cNvSpPr txBox="1"/>
          <p:nvPr/>
        </p:nvSpPr>
        <p:spPr>
          <a:xfrm>
            <a:off x="6182168" y="856185"/>
            <a:ext cx="708848"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=Goat</a:t>
            </a:r>
            <a:r>
              <a:rPr lang="en-US" sz="1050" baseline="-25000" dirty="0"/>
              <a:t>2</a:t>
            </a:r>
            <a:endParaRPr lang="en-GB" sz="1050" dirty="0"/>
          </a:p>
        </p:txBody>
      </p:sp>
      <p:sp>
        <p:nvSpPr>
          <p:cNvPr id="27" name="TextBox 26">
            <a:extLst>
              <a:ext uri="{FF2B5EF4-FFF2-40B4-BE49-F238E27FC236}">
                <a16:creationId xmlns:a16="http://schemas.microsoft.com/office/drawing/2014/main" id="{D48F701F-FF74-042F-B6F5-4B55C7715079}"/>
              </a:ext>
            </a:extLst>
          </p:cNvPr>
          <p:cNvSpPr txBox="1"/>
          <p:nvPr/>
        </p:nvSpPr>
        <p:spPr>
          <a:xfrm>
            <a:off x="7269669" y="4106263"/>
            <a:ext cx="995785" cy="253916"/>
          </a:xfrm>
          <a:prstGeom prst="rect">
            <a:avLst/>
          </a:prstGeom>
          <a:noFill/>
        </p:spPr>
        <p:txBody>
          <a:bodyPr wrap="none" rtlCol="0">
            <a:spAutoFit/>
          </a:bodyPr>
          <a:lstStyle/>
          <a:p>
            <a:r>
              <a:rPr lang="en-US" sz="1050" b="1" dirty="0">
                <a:solidFill>
                  <a:srgbClr val="FF33CC"/>
                </a:solidFill>
                <a:latin typeface="Consolas" panose="020B0609020204030204" pitchFamily="49" charset="0"/>
              </a:rPr>
              <a:t>S-124 Sheep</a:t>
            </a:r>
            <a:endParaRPr lang="en-GB" sz="1050" b="1" dirty="0">
              <a:solidFill>
                <a:srgbClr val="FF33CC"/>
              </a:solidFill>
            </a:endParaRPr>
          </a:p>
        </p:txBody>
      </p:sp>
      <p:sp>
        <p:nvSpPr>
          <p:cNvPr id="29" name="TextBox 28">
            <a:extLst>
              <a:ext uri="{FF2B5EF4-FFF2-40B4-BE49-F238E27FC236}">
                <a16:creationId xmlns:a16="http://schemas.microsoft.com/office/drawing/2014/main" id="{9BC72D8D-FD78-83B9-9C28-72CE2BB2D80E}"/>
              </a:ext>
            </a:extLst>
          </p:cNvPr>
          <p:cNvSpPr txBox="1"/>
          <p:nvPr/>
        </p:nvSpPr>
        <p:spPr>
          <a:xfrm>
            <a:off x="5990468" y="3068407"/>
            <a:ext cx="782587"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=Sheep</a:t>
            </a:r>
            <a:r>
              <a:rPr lang="en-US" sz="1050" baseline="-25000" dirty="0"/>
              <a:t>3</a:t>
            </a:r>
            <a:endParaRPr lang="en-GB" sz="1050" dirty="0"/>
          </a:p>
        </p:txBody>
      </p:sp>
      <p:sp>
        <p:nvSpPr>
          <p:cNvPr id="31" name="TextBox 30">
            <a:extLst>
              <a:ext uri="{FF2B5EF4-FFF2-40B4-BE49-F238E27FC236}">
                <a16:creationId xmlns:a16="http://schemas.microsoft.com/office/drawing/2014/main" id="{2B3D5354-6440-2EE8-450A-DC614C90D3FE}"/>
              </a:ext>
            </a:extLst>
          </p:cNvPr>
          <p:cNvSpPr txBox="1"/>
          <p:nvPr/>
        </p:nvSpPr>
        <p:spPr>
          <a:xfrm>
            <a:off x="2914248" y="3777973"/>
            <a:ext cx="708848"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=Goat</a:t>
            </a:r>
            <a:r>
              <a:rPr lang="en-US" sz="1050" baseline="-25000" dirty="0"/>
              <a:t>1</a:t>
            </a:r>
            <a:endParaRPr lang="en-GB" sz="1050" dirty="0"/>
          </a:p>
        </p:txBody>
      </p:sp>
      <p:sp>
        <p:nvSpPr>
          <p:cNvPr id="32" name="TextBox 31">
            <a:extLst>
              <a:ext uri="{FF2B5EF4-FFF2-40B4-BE49-F238E27FC236}">
                <a16:creationId xmlns:a16="http://schemas.microsoft.com/office/drawing/2014/main" id="{C8C64E58-39A1-354B-C1C5-B5974A869B88}"/>
              </a:ext>
            </a:extLst>
          </p:cNvPr>
          <p:cNvSpPr txBox="1"/>
          <p:nvPr/>
        </p:nvSpPr>
        <p:spPr>
          <a:xfrm>
            <a:off x="2157659" y="4527420"/>
            <a:ext cx="782587"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=Sheep</a:t>
            </a:r>
            <a:r>
              <a:rPr lang="en-US" sz="1050" baseline="-25000" dirty="0"/>
              <a:t>2</a:t>
            </a:r>
            <a:endParaRPr lang="en-GB" sz="1050" dirty="0"/>
          </a:p>
        </p:txBody>
      </p:sp>
      <p:sp>
        <p:nvSpPr>
          <p:cNvPr id="33" name="TextBox 32">
            <a:extLst>
              <a:ext uri="{FF2B5EF4-FFF2-40B4-BE49-F238E27FC236}">
                <a16:creationId xmlns:a16="http://schemas.microsoft.com/office/drawing/2014/main" id="{1E33DA70-81CA-BA48-71D5-1AA176D67E5C}"/>
              </a:ext>
            </a:extLst>
          </p:cNvPr>
          <p:cNvSpPr txBox="1"/>
          <p:nvPr/>
        </p:nvSpPr>
        <p:spPr>
          <a:xfrm>
            <a:off x="864269" y="3368616"/>
            <a:ext cx="782587"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=Sheep</a:t>
            </a:r>
            <a:r>
              <a:rPr lang="en-US" sz="1050" baseline="-25000" dirty="0"/>
              <a:t>1</a:t>
            </a:r>
            <a:endParaRPr lang="en-GB" sz="1050" dirty="0"/>
          </a:p>
        </p:txBody>
      </p:sp>
      <p:sp>
        <p:nvSpPr>
          <p:cNvPr id="35" name="Rectangle 34">
            <a:extLst>
              <a:ext uri="{FF2B5EF4-FFF2-40B4-BE49-F238E27FC236}">
                <a16:creationId xmlns:a16="http://schemas.microsoft.com/office/drawing/2014/main" id="{09C2E1C3-05DF-A837-F128-897529CE1D1D}"/>
              </a:ext>
            </a:extLst>
          </p:cNvPr>
          <p:cNvSpPr/>
          <p:nvPr/>
        </p:nvSpPr>
        <p:spPr>
          <a:xfrm>
            <a:off x="7188283" y="3330016"/>
            <a:ext cx="1239144" cy="1197403"/>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E13468BC-C3C4-7636-B681-820E9BFCAB90}"/>
              </a:ext>
            </a:extLst>
          </p:cNvPr>
          <p:cNvSpPr txBox="1"/>
          <p:nvPr/>
        </p:nvSpPr>
        <p:spPr>
          <a:xfrm>
            <a:off x="7265335" y="4289844"/>
            <a:ext cx="1199367"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=Sheep</a:t>
            </a:r>
            <a:r>
              <a:rPr lang="en-US" sz="1050" baseline="-25000" dirty="0"/>
              <a:t>1</a:t>
            </a:r>
            <a:r>
              <a:rPr lang="en-US" sz="1050" dirty="0"/>
              <a:t>,Sheep</a:t>
            </a:r>
            <a:r>
              <a:rPr lang="en-US" sz="1050" baseline="-25000" dirty="0"/>
              <a:t>2</a:t>
            </a:r>
            <a:endParaRPr lang="en-GB" sz="1050" dirty="0"/>
          </a:p>
        </p:txBody>
      </p:sp>
      <p:sp>
        <p:nvSpPr>
          <p:cNvPr id="4" name="Freeform: Shape 3">
            <a:extLst>
              <a:ext uri="{FF2B5EF4-FFF2-40B4-BE49-F238E27FC236}">
                <a16:creationId xmlns:a16="http://schemas.microsoft.com/office/drawing/2014/main" id="{FCF4B99F-E860-7B1A-D20F-87E659EEF8C3}"/>
              </a:ext>
            </a:extLst>
          </p:cNvPr>
          <p:cNvSpPr/>
          <p:nvPr/>
        </p:nvSpPr>
        <p:spPr>
          <a:xfrm>
            <a:off x="575896" y="3156438"/>
            <a:ext cx="2558801" cy="2057400"/>
          </a:xfrm>
          <a:custGeom>
            <a:avLst/>
            <a:gdLst>
              <a:gd name="connsiteX0" fmla="*/ 114300 w 2558801"/>
              <a:gd name="connsiteY0" fmla="*/ 101112 h 2057400"/>
              <a:gd name="connsiteX1" fmla="*/ 96716 w 2558801"/>
              <a:gd name="connsiteY1" fmla="*/ 123093 h 2057400"/>
              <a:gd name="connsiteX2" fmla="*/ 8792 w 2558801"/>
              <a:gd name="connsiteY2" fmla="*/ 422031 h 2057400"/>
              <a:gd name="connsiteX3" fmla="*/ 0 w 2558801"/>
              <a:gd name="connsiteY3" fmla="*/ 514350 h 2057400"/>
              <a:gd name="connsiteX4" fmla="*/ 52754 w 2558801"/>
              <a:gd name="connsiteY4" fmla="*/ 795704 h 2057400"/>
              <a:gd name="connsiteX5" fmla="*/ 206619 w 2558801"/>
              <a:gd name="connsiteY5" fmla="*/ 1028700 h 2057400"/>
              <a:gd name="connsiteX6" fmla="*/ 290146 w 2558801"/>
              <a:gd name="connsiteY6" fmla="*/ 1151793 h 2057400"/>
              <a:gd name="connsiteX7" fmla="*/ 509954 w 2558801"/>
              <a:gd name="connsiteY7" fmla="*/ 1437543 h 2057400"/>
              <a:gd name="connsiteX8" fmla="*/ 624254 w 2558801"/>
              <a:gd name="connsiteY8" fmla="*/ 1613389 h 2057400"/>
              <a:gd name="connsiteX9" fmla="*/ 742950 w 2558801"/>
              <a:gd name="connsiteY9" fmla="*/ 1758462 h 2057400"/>
              <a:gd name="connsiteX10" fmla="*/ 1112227 w 2558801"/>
              <a:gd name="connsiteY10" fmla="*/ 1925516 h 2057400"/>
              <a:gd name="connsiteX11" fmla="*/ 1332035 w 2558801"/>
              <a:gd name="connsiteY11" fmla="*/ 2026627 h 2057400"/>
              <a:gd name="connsiteX12" fmla="*/ 1367204 w 2558801"/>
              <a:gd name="connsiteY12" fmla="*/ 2035420 h 2057400"/>
              <a:gd name="connsiteX13" fmla="*/ 1481504 w 2558801"/>
              <a:gd name="connsiteY13" fmla="*/ 2057400 h 2057400"/>
              <a:gd name="connsiteX14" fmla="*/ 1565031 w 2558801"/>
              <a:gd name="connsiteY14" fmla="*/ 2053004 h 2057400"/>
              <a:gd name="connsiteX15" fmla="*/ 1789235 w 2558801"/>
              <a:gd name="connsiteY15" fmla="*/ 2039816 h 2057400"/>
              <a:gd name="connsiteX16" fmla="*/ 2066192 w 2558801"/>
              <a:gd name="connsiteY16" fmla="*/ 2044212 h 2057400"/>
              <a:gd name="connsiteX17" fmla="*/ 2149719 w 2558801"/>
              <a:gd name="connsiteY17" fmla="*/ 2035420 h 2057400"/>
              <a:gd name="connsiteX18" fmla="*/ 2184889 w 2558801"/>
              <a:gd name="connsiteY18" fmla="*/ 2009043 h 2057400"/>
              <a:gd name="connsiteX19" fmla="*/ 2242039 w 2558801"/>
              <a:gd name="connsiteY19" fmla="*/ 1978270 h 2057400"/>
              <a:gd name="connsiteX20" fmla="*/ 2325566 w 2558801"/>
              <a:gd name="connsiteY20" fmla="*/ 1951893 h 2057400"/>
              <a:gd name="connsiteX21" fmla="*/ 2461846 w 2558801"/>
              <a:gd name="connsiteY21" fmla="*/ 1868366 h 2057400"/>
              <a:gd name="connsiteX22" fmla="*/ 2501412 w 2558801"/>
              <a:gd name="connsiteY22" fmla="*/ 1784839 h 2057400"/>
              <a:gd name="connsiteX23" fmla="*/ 2514600 w 2558801"/>
              <a:gd name="connsiteY23" fmla="*/ 1714500 h 2057400"/>
              <a:gd name="connsiteX24" fmla="*/ 2532185 w 2558801"/>
              <a:gd name="connsiteY24" fmla="*/ 1666143 h 2057400"/>
              <a:gd name="connsiteX25" fmla="*/ 2554166 w 2558801"/>
              <a:gd name="connsiteY25" fmla="*/ 1551843 h 2057400"/>
              <a:gd name="connsiteX26" fmla="*/ 2549769 w 2558801"/>
              <a:gd name="connsiteY26" fmla="*/ 1406770 h 2057400"/>
              <a:gd name="connsiteX27" fmla="*/ 2523392 w 2558801"/>
              <a:gd name="connsiteY27" fmla="*/ 1345224 h 2057400"/>
              <a:gd name="connsiteX28" fmla="*/ 2501412 w 2558801"/>
              <a:gd name="connsiteY28" fmla="*/ 1257300 h 2057400"/>
              <a:gd name="connsiteX29" fmla="*/ 2497016 w 2558801"/>
              <a:gd name="connsiteY29" fmla="*/ 1182566 h 2057400"/>
              <a:gd name="connsiteX30" fmla="*/ 2444262 w 2558801"/>
              <a:gd name="connsiteY30" fmla="*/ 1068266 h 2057400"/>
              <a:gd name="connsiteX31" fmla="*/ 2422281 w 2558801"/>
              <a:gd name="connsiteY31" fmla="*/ 993531 h 2057400"/>
              <a:gd name="connsiteX32" fmla="*/ 2413489 w 2558801"/>
              <a:gd name="connsiteY32" fmla="*/ 971550 h 2057400"/>
              <a:gd name="connsiteX33" fmla="*/ 2395904 w 2558801"/>
              <a:gd name="connsiteY33" fmla="*/ 927589 h 2057400"/>
              <a:gd name="connsiteX34" fmla="*/ 2387112 w 2558801"/>
              <a:gd name="connsiteY34" fmla="*/ 896816 h 2057400"/>
              <a:gd name="connsiteX35" fmla="*/ 2369527 w 2558801"/>
              <a:gd name="connsiteY35" fmla="*/ 822081 h 2057400"/>
              <a:gd name="connsiteX36" fmla="*/ 2334358 w 2558801"/>
              <a:gd name="connsiteY36" fmla="*/ 786912 h 2057400"/>
              <a:gd name="connsiteX37" fmla="*/ 2312377 w 2558801"/>
              <a:gd name="connsiteY37" fmla="*/ 756139 h 2057400"/>
              <a:gd name="connsiteX38" fmla="*/ 2242039 w 2558801"/>
              <a:gd name="connsiteY38" fmla="*/ 720970 h 2057400"/>
              <a:gd name="connsiteX39" fmla="*/ 2140927 w 2558801"/>
              <a:gd name="connsiteY39" fmla="*/ 677008 h 2057400"/>
              <a:gd name="connsiteX40" fmla="*/ 1863969 w 2558801"/>
              <a:gd name="connsiteY40" fmla="*/ 606670 h 2057400"/>
              <a:gd name="connsiteX41" fmla="*/ 1661746 w 2558801"/>
              <a:gd name="connsiteY41" fmla="*/ 509954 h 2057400"/>
              <a:gd name="connsiteX42" fmla="*/ 1578219 w 2558801"/>
              <a:gd name="connsiteY42" fmla="*/ 470389 h 2057400"/>
              <a:gd name="connsiteX43" fmla="*/ 1543050 w 2558801"/>
              <a:gd name="connsiteY43" fmla="*/ 452804 h 2057400"/>
              <a:gd name="connsiteX44" fmla="*/ 1402373 w 2558801"/>
              <a:gd name="connsiteY44" fmla="*/ 325316 h 2057400"/>
              <a:gd name="connsiteX45" fmla="*/ 1283677 w 2558801"/>
              <a:gd name="connsiteY45" fmla="*/ 298939 h 2057400"/>
              <a:gd name="connsiteX46" fmla="*/ 1160585 w 2558801"/>
              <a:gd name="connsiteY46" fmla="*/ 263770 h 2057400"/>
              <a:gd name="connsiteX47" fmla="*/ 1063869 w 2558801"/>
              <a:gd name="connsiteY47" fmla="*/ 232997 h 2057400"/>
              <a:gd name="connsiteX48" fmla="*/ 782516 w 2558801"/>
              <a:gd name="connsiteY48" fmla="*/ 123093 h 2057400"/>
              <a:gd name="connsiteX49" fmla="*/ 663819 w 2558801"/>
              <a:gd name="connsiteY49" fmla="*/ 79131 h 2057400"/>
              <a:gd name="connsiteX50" fmla="*/ 562708 w 2558801"/>
              <a:gd name="connsiteY50" fmla="*/ 35170 h 2057400"/>
              <a:gd name="connsiteX51" fmla="*/ 540727 w 2558801"/>
              <a:gd name="connsiteY51" fmla="*/ 30774 h 2057400"/>
              <a:gd name="connsiteX52" fmla="*/ 422031 w 2558801"/>
              <a:gd name="connsiteY52" fmla="*/ 0 h 2057400"/>
              <a:gd name="connsiteX53" fmla="*/ 373673 w 2558801"/>
              <a:gd name="connsiteY53" fmla="*/ 8793 h 2057400"/>
              <a:gd name="connsiteX54" fmla="*/ 307731 w 2558801"/>
              <a:gd name="connsiteY54" fmla="*/ 17585 h 2057400"/>
              <a:gd name="connsiteX55" fmla="*/ 290146 w 2558801"/>
              <a:gd name="connsiteY55" fmla="*/ 26377 h 2057400"/>
              <a:gd name="connsiteX56" fmla="*/ 250581 w 2558801"/>
              <a:gd name="connsiteY56" fmla="*/ 39566 h 2057400"/>
              <a:gd name="connsiteX57" fmla="*/ 224204 w 2558801"/>
              <a:gd name="connsiteY57" fmla="*/ 52754 h 2057400"/>
              <a:gd name="connsiteX58" fmla="*/ 211016 w 2558801"/>
              <a:gd name="connsiteY58" fmla="*/ 57150 h 2057400"/>
              <a:gd name="connsiteX59" fmla="*/ 189035 w 2558801"/>
              <a:gd name="connsiteY59" fmla="*/ 65943 h 2057400"/>
              <a:gd name="connsiteX60" fmla="*/ 114300 w 2558801"/>
              <a:gd name="connsiteY60" fmla="*/ 101112 h 205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58801" h="2057400">
                <a:moveTo>
                  <a:pt x="114300" y="101112"/>
                </a:moveTo>
                <a:cubicBezTo>
                  <a:pt x="98914" y="110637"/>
                  <a:pt x="100698" y="114597"/>
                  <a:pt x="96716" y="123093"/>
                </a:cubicBezTo>
                <a:cubicBezTo>
                  <a:pt x="34640" y="255523"/>
                  <a:pt x="43855" y="262302"/>
                  <a:pt x="8792" y="422031"/>
                </a:cubicBezTo>
                <a:cubicBezTo>
                  <a:pt x="5861" y="452804"/>
                  <a:pt x="0" y="483438"/>
                  <a:pt x="0" y="514350"/>
                </a:cubicBezTo>
                <a:cubicBezTo>
                  <a:pt x="0" y="602030"/>
                  <a:pt x="12694" y="717365"/>
                  <a:pt x="52754" y="795704"/>
                </a:cubicBezTo>
                <a:cubicBezTo>
                  <a:pt x="95129" y="878570"/>
                  <a:pt x="154992" y="951259"/>
                  <a:pt x="206619" y="1028700"/>
                </a:cubicBezTo>
                <a:cubicBezTo>
                  <a:pt x="234124" y="1069958"/>
                  <a:pt x="259913" y="1112490"/>
                  <a:pt x="290146" y="1151793"/>
                </a:cubicBezTo>
                <a:cubicBezTo>
                  <a:pt x="363415" y="1247043"/>
                  <a:pt x="444462" y="1336787"/>
                  <a:pt x="509954" y="1437543"/>
                </a:cubicBezTo>
                <a:cubicBezTo>
                  <a:pt x="548054" y="1496158"/>
                  <a:pt x="585475" y="1555221"/>
                  <a:pt x="624254" y="1613389"/>
                </a:cubicBezTo>
                <a:cubicBezTo>
                  <a:pt x="652077" y="1655123"/>
                  <a:pt x="707500" y="1730554"/>
                  <a:pt x="742950" y="1758462"/>
                </a:cubicBezTo>
                <a:cubicBezTo>
                  <a:pt x="886386" y="1871380"/>
                  <a:pt x="926844" y="1835634"/>
                  <a:pt x="1112227" y="1925516"/>
                </a:cubicBezTo>
                <a:cubicBezTo>
                  <a:pt x="1178638" y="1957715"/>
                  <a:pt x="1259192" y="2000403"/>
                  <a:pt x="1332035" y="2026627"/>
                </a:cubicBezTo>
                <a:cubicBezTo>
                  <a:pt x="1343405" y="2030720"/>
                  <a:pt x="1355388" y="2032888"/>
                  <a:pt x="1367204" y="2035420"/>
                </a:cubicBezTo>
                <a:cubicBezTo>
                  <a:pt x="1434857" y="2049917"/>
                  <a:pt x="1434298" y="2049533"/>
                  <a:pt x="1481504" y="2057400"/>
                </a:cubicBezTo>
                <a:lnTo>
                  <a:pt x="1565031" y="2053004"/>
                </a:lnTo>
                <a:cubicBezTo>
                  <a:pt x="1639773" y="2048733"/>
                  <a:pt x="1714383" y="2041129"/>
                  <a:pt x="1789235" y="2039816"/>
                </a:cubicBezTo>
                <a:lnTo>
                  <a:pt x="2066192" y="2044212"/>
                </a:lnTo>
                <a:cubicBezTo>
                  <a:pt x="2094034" y="2041281"/>
                  <a:pt x="2122876" y="2043373"/>
                  <a:pt x="2149719" y="2035420"/>
                </a:cubicBezTo>
                <a:cubicBezTo>
                  <a:pt x="2163769" y="2031257"/>
                  <a:pt x="2172429" y="2016756"/>
                  <a:pt x="2184889" y="2009043"/>
                </a:cubicBezTo>
                <a:cubicBezTo>
                  <a:pt x="2203285" y="1997655"/>
                  <a:pt x="2221994" y="1986413"/>
                  <a:pt x="2242039" y="1978270"/>
                </a:cubicBezTo>
                <a:cubicBezTo>
                  <a:pt x="2269090" y="1967281"/>
                  <a:pt x="2298515" y="1962882"/>
                  <a:pt x="2325566" y="1951893"/>
                </a:cubicBezTo>
                <a:cubicBezTo>
                  <a:pt x="2367444" y="1934880"/>
                  <a:pt x="2427985" y="1890940"/>
                  <a:pt x="2461846" y="1868366"/>
                </a:cubicBezTo>
                <a:cubicBezTo>
                  <a:pt x="2475035" y="1840524"/>
                  <a:pt x="2491420" y="1813982"/>
                  <a:pt x="2501412" y="1784839"/>
                </a:cubicBezTo>
                <a:cubicBezTo>
                  <a:pt x="2509149" y="1762274"/>
                  <a:pt x="2508613" y="1737591"/>
                  <a:pt x="2514600" y="1714500"/>
                </a:cubicBezTo>
                <a:cubicBezTo>
                  <a:pt x="2518904" y="1697897"/>
                  <a:pt x="2527560" y="1682659"/>
                  <a:pt x="2532185" y="1666143"/>
                </a:cubicBezTo>
                <a:cubicBezTo>
                  <a:pt x="2541474" y="1632970"/>
                  <a:pt x="2548410" y="1586373"/>
                  <a:pt x="2554166" y="1551843"/>
                </a:cubicBezTo>
                <a:cubicBezTo>
                  <a:pt x="2558172" y="1495756"/>
                  <a:pt x="2563961" y="1465311"/>
                  <a:pt x="2549769" y="1406770"/>
                </a:cubicBezTo>
                <a:cubicBezTo>
                  <a:pt x="2544510" y="1385078"/>
                  <a:pt x="2530262" y="1366460"/>
                  <a:pt x="2523392" y="1345224"/>
                </a:cubicBezTo>
                <a:cubicBezTo>
                  <a:pt x="2514093" y="1316481"/>
                  <a:pt x="2508739" y="1286608"/>
                  <a:pt x="2501412" y="1257300"/>
                </a:cubicBezTo>
                <a:cubicBezTo>
                  <a:pt x="2499947" y="1232389"/>
                  <a:pt x="2502349" y="1206944"/>
                  <a:pt x="2497016" y="1182566"/>
                </a:cubicBezTo>
                <a:cubicBezTo>
                  <a:pt x="2488934" y="1145618"/>
                  <a:pt x="2462497" y="1101697"/>
                  <a:pt x="2444262" y="1068266"/>
                </a:cubicBezTo>
                <a:cubicBezTo>
                  <a:pt x="2434562" y="1029470"/>
                  <a:pt x="2436454" y="1033217"/>
                  <a:pt x="2422281" y="993531"/>
                </a:cubicBezTo>
                <a:cubicBezTo>
                  <a:pt x="2419627" y="986099"/>
                  <a:pt x="2415757" y="979109"/>
                  <a:pt x="2413489" y="971550"/>
                </a:cubicBezTo>
                <a:cubicBezTo>
                  <a:pt x="2401345" y="931073"/>
                  <a:pt x="2419878" y="967548"/>
                  <a:pt x="2395904" y="927589"/>
                </a:cubicBezTo>
                <a:cubicBezTo>
                  <a:pt x="2392973" y="917331"/>
                  <a:pt x="2389204" y="907277"/>
                  <a:pt x="2387112" y="896816"/>
                </a:cubicBezTo>
                <a:cubicBezTo>
                  <a:pt x="2384241" y="882462"/>
                  <a:pt x="2384586" y="840152"/>
                  <a:pt x="2369527" y="822081"/>
                </a:cubicBezTo>
                <a:cubicBezTo>
                  <a:pt x="2358914" y="809345"/>
                  <a:pt x="2343994" y="800403"/>
                  <a:pt x="2334358" y="786912"/>
                </a:cubicBezTo>
                <a:cubicBezTo>
                  <a:pt x="2327031" y="776654"/>
                  <a:pt x="2322108" y="764153"/>
                  <a:pt x="2312377" y="756139"/>
                </a:cubicBezTo>
                <a:cubicBezTo>
                  <a:pt x="2240280" y="696765"/>
                  <a:pt x="2283565" y="737888"/>
                  <a:pt x="2242039" y="720970"/>
                </a:cubicBezTo>
                <a:cubicBezTo>
                  <a:pt x="2208003" y="707104"/>
                  <a:pt x="2176306" y="686958"/>
                  <a:pt x="2140927" y="677008"/>
                </a:cubicBezTo>
                <a:cubicBezTo>
                  <a:pt x="1945272" y="621980"/>
                  <a:pt x="2007983" y="670206"/>
                  <a:pt x="1863969" y="606670"/>
                </a:cubicBezTo>
                <a:cubicBezTo>
                  <a:pt x="1795606" y="576510"/>
                  <a:pt x="1729189" y="542119"/>
                  <a:pt x="1661746" y="509954"/>
                </a:cubicBezTo>
                <a:lnTo>
                  <a:pt x="1578219" y="470389"/>
                </a:lnTo>
                <a:cubicBezTo>
                  <a:pt x="1566410" y="464703"/>
                  <a:pt x="1543050" y="452804"/>
                  <a:pt x="1543050" y="452804"/>
                </a:cubicBezTo>
                <a:cubicBezTo>
                  <a:pt x="1504009" y="410214"/>
                  <a:pt x="1453366" y="349750"/>
                  <a:pt x="1402373" y="325316"/>
                </a:cubicBezTo>
                <a:cubicBezTo>
                  <a:pt x="1365822" y="307802"/>
                  <a:pt x="1323242" y="307731"/>
                  <a:pt x="1283677" y="298939"/>
                </a:cubicBezTo>
                <a:cubicBezTo>
                  <a:pt x="1134424" y="265771"/>
                  <a:pt x="1261593" y="298491"/>
                  <a:pt x="1160585" y="263770"/>
                </a:cubicBezTo>
                <a:cubicBezTo>
                  <a:pt x="1128591" y="252772"/>
                  <a:pt x="1095576" y="244795"/>
                  <a:pt x="1063869" y="232997"/>
                </a:cubicBezTo>
                <a:cubicBezTo>
                  <a:pt x="969504" y="197884"/>
                  <a:pt x="876490" y="159237"/>
                  <a:pt x="782516" y="123093"/>
                </a:cubicBezTo>
                <a:cubicBezTo>
                  <a:pt x="743136" y="107947"/>
                  <a:pt x="702512" y="95954"/>
                  <a:pt x="663819" y="79131"/>
                </a:cubicBezTo>
                <a:cubicBezTo>
                  <a:pt x="630115" y="64477"/>
                  <a:pt x="598746" y="42377"/>
                  <a:pt x="562708" y="35170"/>
                </a:cubicBezTo>
                <a:cubicBezTo>
                  <a:pt x="555381" y="33705"/>
                  <a:pt x="547900" y="32866"/>
                  <a:pt x="540727" y="30774"/>
                </a:cubicBezTo>
                <a:cubicBezTo>
                  <a:pt x="432211" y="-876"/>
                  <a:pt x="491725" y="8713"/>
                  <a:pt x="422031" y="0"/>
                </a:cubicBezTo>
                <a:lnTo>
                  <a:pt x="373673" y="8793"/>
                </a:lnTo>
                <a:cubicBezTo>
                  <a:pt x="355478" y="11826"/>
                  <a:pt x="325506" y="15363"/>
                  <a:pt x="307731" y="17585"/>
                </a:cubicBezTo>
                <a:cubicBezTo>
                  <a:pt x="301869" y="20516"/>
                  <a:pt x="296263" y="24024"/>
                  <a:pt x="290146" y="26377"/>
                </a:cubicBezTo>
                <a:cubicBezTo>
                  <a:pt x="277171" y="31367"/>
                  <a:pt x="263015" y="33349"/>
                  <a:pt x="250581" y="39566"/>
                </a:cubicBezTo>
                <a:cubicBezTo>
                  <a:pt x="241789" y="43962"/>
                  <a:pt x="233187" y="48762"/>
                  <a:pt x="224204" y="52754"/>
                </a:cubicBezTo>
                <a:cubicBezTo>
                  <a:pt x="219970" y="54636"/>
                  <a:pt x="215355" y="55523"/>
                  <a:pt x="211016" y="57150"/>
                </a:cubicBezTo>
                <a:cubicBezTo>
                  <a:pt x="203627" y="59921"/>
                  <a:pt x="196186" y="62606"/>
                  <a:pt x="189035" y="65943"/>
                </a:cubicBezTo>
                <a:cubicBezTo>
                  <a:pt x="140530" y="88579"/>
                  <a:pt x="129686" y="91587"/>
                  <a:pt x="114300" y="101112"/>
                </a:cubicBezTo>
                <a:close/>
              </a:path>
            </a:pathLst>
          </a:custGeom>
          <a:solidFill>
            <a:srgbClr val="FF33CC">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1">
            <a:extLst>
              <a:ext uri="{FF2B5EF4-FFF2-40B4-BE49-F238E27FC236}">
                <a16:creationId xmlns:a16="http://schemas.microsoft.com/office/drawing/2014/main" id="{AB495E77-8A47-AC3A-2F52-113A49C6AD76}"/>
              </a:ext>
            </a:extLst>
          </p:cNvPr>
          <p:cNvSpPr>
            <a:spLocks noGrp="1"/>
          </p:cNvSpPr>
          <p:nvPr>
            <p:ph type="title"/>
          </p:nvPr>
        </p:nvSpPr>
        <p:spPr>
          <a:xfrm>
            <a:off x="126521" y="5951830"/>
            <a:ext cx="10515600" cy="827233"/>
          </a:xfrm>
        </p:spPr>
        <p:txBody>
          <a:bodyPr>
            <a:normAutofit/>
          </a:bodyPr>
          <a:lstStyle/>
          <a:p>
            <a:pPr>
              <a:lnSpc>
                <a:spcPct val="100000"/>
              </a:lnSpc>
            </a:pPr>
            <a:r>
              <a:rPr lang="en-US" sz="1800" dirty="0">
                <a:latin typeface="Arial" panose="020B0604020202020204" pitchFamily="34" charset="0"/>
                <a:cs typeface="Arial" panose="020B0604020202020204" pitchFamily="34" charset="0"/>
              </a:rPr>
              <a:t>When </a:t>
            </a:r>
            <a:r>
              <a:rPr lang="en-US" sz="1800" dirty="0" err="1">
                <a:latin typeface="Arial" panose="020B0604020202020204" pitchFamily="34" charset="0"/>
                <a:cs typeface="Arial" panose="020B0604020202020204" pitchFamily="34" charset="0"/>
              </a:rPr>
              <a:t>interoperabilityIdentifier</a:t>
            </a:r>
            <a:r>
              <a:rPr lang="en-US" sz="1800" dirty="0">
                <a:latin typeface="Arial" panose="020B0604020202020204" pitchFamily="34" charset="0"/>
                <a:cs typeface="Arial" panose="020B0604020202020204" pitchFamily="34" charset="0"/>
              </a:rPr>
              <a:t> is an actual identifier then you just list in the S-124 which features you want to join it to. If S-124 has multiplicity &gt; 1, then you can join multiple features in pick report.</a:t>
            </a: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8376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4C8B1-012C-3381-7602-8150D54A45D0}"/>
            </a:ext>
          </a:extLst>
        </p:cNvPr>
        <p:cNvGrpSpPr/>
        <p:nvPr/>
      </p:nvGrpSpPr>
      <p:grpSpPr>
        <a:xfrm>
          <a:off x="0" y="0"/>
          <a:ext cx="0" cy="0"/>
          <a:chOff x="0" y="0"/>
          <a:chExt cx="0" cy="0"/>
        </a:xfrm>
      </p:grpSpPr>
      <p:pic>
        <p:nvPicPr>
          <p:cNvPr id="7" name="Graphic 6" descr="Sheep with solid fill">
            <a:extLst>
              <a:ext uri="{FF2B5EF4-FFF2-40B4-BE49-F238E27FC236}">
                <a16:creationId xmlns:a16="http://schemas.microsoft.com/office/drawing/2014/main" id="{FC8F4DF3-3B9B-926F-0D76-6FB01C53001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84321" y="1453551"/>
            <a:ext cx="914400" cy="914400"/>
          </a:xfrm>
          <a:prstGeom prst="rect">
            <a:avLst/>
          </a:prstGeom>
        </p:spPr>
      </p:pic>
      <p:pic>
        <p:nvPicPr>
          <p:cNvPr id="9" name="Graphic 8" descr="Ram with solid fill">
            <a:extLst>
              <a:ext uri="{FF2B5EF4-FFF2-40B4-BE49-F238E27FC236}">
                <a16:creationId xmlns:a16="http://schemas.microsoft.com/office/drawing/2014/main" id="{CC795F12-E9E1-9934-04B8-2C5613ACF3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9137" y="2224653"/>
            <a:ext cx="914400" cy="914400"/>
          </a:xfrm>
          <a:prstGeom prst="rect">
            <a:avLst/>
          </a:prstGeom>
        </p:spPr>
      </p:pic>
      <p:pic>
        <p:nvPicPr>
          <p:cNvPr id="12" name="Graphic 11" descr="Ram with solid fill">
            <a:extLst>
              <a:ext uri="{FF2B5EF4-FFF2-40B4-BE49-F238E27FC236}">
                <a16:creationId xmlns:a16="http://schemas.microsoft.com/office/drawing/2014/main" id="{446E2180-3401-6573-D7BD-A885405D90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9620" y="2985216"/>
            <a:ext cx="914400" cy="914400"/>
          </a:xfrm>
          <a:prstGeom prst="rect">
            <a:avLst/>
          </a:prstGeom>
        </p:spPr>
      </p:pic>
      <p:pic>
        <p:nvPicPr>
          <p:cNvPr id="13" name="Graphic 12" descr="Ram with solid fill">
            <a:extLst>
              <a:ext uri="{FF2B5EF4-FFF2-40B4-BE49-F238E27FC236}">
                <a16:creationId xmlns:a16="http://schemas.microsoft.com/office/drawing/2014/main" id="{D2510807-CA3E-478C-1A97-0108655EB02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97669" y="1453551"/>
            <a:ext cx="914400" cy="914400"/>
          </a:xfrm>
          <a:prstGeom prst="rect">
            <a:avLst/>
          </a:prstGeom>
        </p:spPr>
      </p:pic>
      <p:pic>
        <p:nvPicPr>
          <p:cNvPr id="14" name="Graphic 13" descr="Ram with solid fill">
            <a:extLst>
              <a:ext uri="{FF2B5EF4-FFF2-40B4-BE49-F238E27FC236}">
                <a16:creationId xmlns:a16="http://schemas.microsoft.com/office/drawing/2014/main" id="{9F455835-A84C-4FC0-794F-D1ED1540FFC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79069" y="767751"/>
            <a:ext cx="914400" cy="914400"/>
          </a:xfrm>
          <a:prstGeom prst="rect">
            <a:avLst/>
          </a:prstGeom>
        </p:spPr>
      </p:pic>
      <p:pic>
        <p:nvPicPr>
          <p:cNvPr id="15" name="Graphic 14" descr="Sheep with solid fill">
            <a:extLst>
              <a:ext uri="{FF2B5EF4-FFF2-40B4-BE49-F238E27FC236}">
                <a16:creationId xmlns:a16="http://schemas.microsoft.com/office/drawing/2014/main" id="{2DC4C8D0-6B81-93C6-69A6-4EB3C0435A5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9669" y="1269521"/>
            <a:ext cx="914400" cy="914400"/>
          </a:xfrm>
          <a:prstGeom prst="rect">
            <a:avLst/>
          </a:prstGeom>
        </p:spPr>
      </p:pic>
      <p:pic>
        <p:nvPicPr>
          <p:cNvPr id="16" name="Graphic 15" descr="Sheep with solid fill">
            <a:extLst>
              <a:ext uri="{FF2B5EF4-FFF2-40B4-BE49-F238E27FC236}">
                <a16:creationId xmlns:a16="http://schemas.microsoft.com/office/drawing/2014/main" id="{9E2DE68D-5B38-E24D-E9E0-39FEE6D069C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98069" y="2353663"/>
            <a:ext cx="914400" cy="914400"/>
          </a:xfrm>
          <a:prstGeom prst="rect">
            <a:avLst/>
          </a:prstGeom>
        </p:spPr>
      </p:pic>
      <p:pic>
        <p:nvPicPr>
          <p:cNvPr id="17" name="Graphic 16" descr="Sheep with solid fill">
            <a:extLst>
              <a:ext uri="{FF2B5EF4-FFF2-40B4-BE49-F238E27FC236}">
                <a16:creationId xmlns:a16="http://schemas.microsoft.com/office/drawing/2014/main" id="{DBC67FE0-3A11-FD92-F7AE-3128B68E9F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2220" y="3368616"/>
            <a:ext cx="914400" cy="914400"/>
          </a:xfrm>
          <a:prstGeom prst="rect">
            <a:avLst/>
          </a:prstGeom>
        </p:spPr>
      </p:pic>
      <p:pic>
        <p:nvPicPr>
          <p:cNvPr id="18" name="Graphic 17" descr="Sheep with solid fill">
            <a:extLst>
              <a:ext uri="{FF2B5EF4-FFF2-40B4-BE49-F238E27FC236}">
                <a16:creationId xmlns:a16="http://schemas.microsoft.com/office/drawing/2014/main" id="{EA9A8CDF-65C7-7E69-85A3-E0E32336171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85259" y="2070816"/>
            <a:ext cx="914400" cy="914400"/>
          </a:xfrm>
          <a:prstGeom prst="rect">
            <a:avLst/>
          </a:prstGeom>
        </p:spPr>
      </p:pic>
      <p:pic>
        <p:nvPicPr>
          <p:cNvPr id="19" name="Graphic 18" descr="Sheep with solid fill">
            <a:extLst>
              <a:ext uri="{FF2B5EF4-FFF2-40B4-BE49-F238E27FC236}">
                <a16:creationId xmlns:a16="http://schemas.microsoft.com/office/drawing/2014/main" id="{98ABB5E6-2F30-9872-BFE1-6BA923FAD93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14503" y="3649063"/>
            <a:ext cx="914400" cy="914400"/>
          </a:xfrm>
          <a:prstGeom prst="rect">
            <a:avLst/>
          </a:prstGeom>
        </p:spPr>
      </p:pic>
      <p:pic>
        <p:nvPicPr>
          <p:cNvPr id="20" name="Graphic 19" descr="Sheep with solid fill">
            <a:extLst>
              <a:ext uri="{FF2B5EF4-FFF2-40B4-BE49-F238E27FC236}">
                <a16:creationId xmlns:a16="http://schemas.microsoft.com/office/drawing/2014/main" id="{59457191-3DE2-EB31-0D5B-FACF3527C2A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35895" y="1073270"/>
            <a:ext cx="914400" cy="914400"/>
          </a:xfrm>
          <a:prstGeom prst="rect">
            <a:avLst/>
          </a:prstGeom>
        </p:spPr>
      </p:pic>
      <p:pic>
        <p:nvPicPr>
          <p:cNvPr id="21" name="Graphic 20" descr="Sheep with solid fill">
            <a:extLst>
              <a:ext uri="{FF2B5EF4-FFF2-40B4-BE49-F238E27FC236}">
                <a16:creationId xmlns:a16="http://schemas.microsoft.com/office/drawing/2014/main" id="{4AE238F2-54A8-77F7-8530-F34F202DDD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06817" y="634716"/>
            <a:ext cx="914400" cy="914400"/>
          </a:xfrm>
          <a:prstGeom prst="rect">
            <a:avLst/>
          </a:prstGeom>
        </p:spPr>
      </p:pic>
      <p:pic>
        <p:nvPicPr>
          <p:cNvPr id="22" name="Graphic 21" descr="Sheep with solid fill">
            <a:extLst>
              <a:ext uri="{FF2B5EF4-FFF2-40B4-BE49-F238E27FC236}">
                <a16:creationId xmlns:a16="http://schemas.microsoft.com/office/drawing/2014/main" id="{87A4049C-99BC-CCBA-8FF9-CEAA13A93B9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11531" y="2277463"/>
            <a:ext cx="914400" cy="914400"/>
          </a:xfrm>
          <a:prstGeom prst="rect">
            <a:avLst/>
          </a:prstGeom>
        </p:spPr>
      </p:pic>
      <p:pic>
        <p:nvPicPr>
          <p:cNvPr id="24" name="Graphic 23" descr="Sheep with solid fill">
            <a:extLst>
              <a:ext uri="{FF2B5EF4-FFF2-40B4-BE49-F238E27FC236}">
                <a16:creationId xmlns:a16="http://schemas.microsoft.com/office/drawing/2014/main" id="{600176FF-A8DB-8630-E7EF-07DAF927CB0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13352" y="3825816"/>
            <a:ext cx="914400" cy="914400"/>
          </a:xfrm>
          <a:prstGeom prst="rect">
            <a:avLst/>
          </a:prstGeom>
        </p:spPr>
      </p:pic>
      <p:pic>
        <p:nvPicPr>
          <p:cNvPr id="25" name="Graphic 24" descr="Sheep with solid fill">
            <a:extLst>
              <a:ext uri="{FF2B5EF4-FFF2-40B4-BE49-F238E27FC236}">
                <a16:creationId xmlns:a16="http://schemas.microsoft.com/office/drawing/2014/main" id="{880F32E3-AE3B-7D4F-B2BC-1E042D7779E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69379" y="3756318"/>
            <a:ext cx="914400" cy="914400"/>
          </a:xfrm>
          <a:prstGeom prst="rect">
            <a:avLst/>
          </a:prstGeom>
        </p:spPr>
      </p:pic>
      <p:sp>
        <p:nvSpPr>
          <p:cNvPr id="26" name="TextBox 25">
            <a:extLst>
              <a:ext uri="{FF2B5EF4-FFF2-40B4-BE49-F238E27FC236}">
                <a16:creationId xmlns:a16="http://schemas.microsoft.com/office/drawing/2014/main" id="{8F819BF4-62FB-8623-CDD1-88A593A229C1}"/>
              </a:ext>
            </a:extLst>
          </p:cNvPr>
          <p:cNvSpPr txBox="1"/>
          <p:nvPr/>
        </p:nvSpPr>
        <p:spPr>
          <a:xfrm>
            <a:off x="6279069" y="655081"/>
            <a:ext cx="909223"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a:t>
            </a:r>
            <a:r>
              <a:rPr lang="en-US" sz="1050" dirty="0" err="1"/>
              <a:t>Red,Goat</a:t>
            </a:r>
            <a:endParaRPr lang="en-GB" sz="1050" dirty="0"/>
          </a:p>
        </p:txBody>
      </p:sp>
      <p:sp>
        <p:nvSpPr>
          <p:cNvPr id="27" name="TextBox 26">
            <a:extLst>
              <a:ext uri="{FF2B5EF4-FFF2-40B4-BE49-F238E27FC236}">
                <a16:creationId xmlns:a16="http://schemas.microsoft.com/office/drawing/2014/main" id="{563E6987-69B6-75F9-91E3-061329DAB293}"/>
              </a:ext>
            </a:extLst>
          </p:cNvPr>
          <p:cNvSpPr txBox="1"/>
          <p:nvPr/>
        </p:nvSpPr>
        <p:spPr>
          <a:xfrm>
            <a:off x="8033798" y="2224653"/>
            <a:ext cx="982961"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a:t>
            </a:r>
            <a:r>
              <a:rPr lang="en-US" sz="1050" dirty="0" err="1"/>
              <a:t>Red,Sheep</a:t>
            </a:r>
            <a:endParaRPr lang="en-GB" sz="1050" dirty="0"/>
          </a:p>
        </p:txBody>
      </p:sp>
      <p:sp>
        <p:nvSpPr>
          <p:cNvPr id="29" name="TextBox 28">
            <a:extLst>
              <a:ext uri="{FF2B5EF4-FFF2-40B4-BE49-F238E27FC236}">
                <a16:creationId xmlns:a16="http://schemas.microsoft.com/office/drawing/2014/main" id="{C53F91EC-30ED-983D-F57E-4C57AC33E321}"/>
              </a:ext>
            </a:extLst>
          </p:cNvPr>
          <p:cNvSpPr txBox="1"/>
          <p:nvPr/>
        </p:nvSpPr>
        <p:spPr>
          <a:xfrm>
            <a:off x="5990468" y="3068407"/>
            <a:ext cx="982961"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a:t>
            </a:r>
            <a:r>
              <a:rPr lang="en-US" sz="1050" dirty="0" err="1"/>
              <a:t>Red,Sheep</a:t>
            </a:r>
            <a:endParaRPr lang="en-GB" sz="1050" dirty="0"/>
          </a:p>
        </p:txBody>
      </p:sp>
      <p:sp>
        <p:nvSpPr>
          <p:cNvPr id="31" name="TextBox 30">
            <a:extLst>
              <a:ext uri="{FF2B5EF4-FFF2-40B4-BE49-F238E27FC236}">
                <a16:creationId xmlns:a16="http://schemas.microsoft.com/office/drawing/2014/main" id="{0542A994-465A-7784-E39F-21F9FBC40480}"/>
              </a:ext>
            </a:extLst>
          </p:cNvPr>
          <p:cNvSpPr txBox="1"/>
          <p:nvPr/>
        </p:nvSpPr>
        <p:spPr>
          <a:xfrm>
            <a:off x="2914248" y="3777973"/>
            <a:ext cx="939681"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a:t>
            </a:r>
            <a:r>
              <a:rPr lang="en-US" sz="1050" dirty="0" err="1"/>
              <a:t>Blue,Goat</a:t>
            </a:r>
            <a:endParaRPr lang="en-GB" sz="1050" dirty="0"/>
          </a:p>
        </p:txBody>
      </p:sp>
      <p:sp>
        <p:nvSpPr>
          <p:cNvPr id="32" name="TextBox 31">
            <a:extLst>
              <a:ext uri="{FF2B5EF4-FFF2-40B4-BE49-F238E27FC236}">
                <a16:creationId xmlns:a16="http://schemas.microsoft.com/office/drawing/2014/main" id="{BD146033-63D6-3DB6-E01F-3C9287CABCE0}"/>
              </a:ext>
            </a:extLst>
          </p:cNvPr>
          <p:cNvSpPr txBox="1"/>
          <p:nvPr/>
        </p:nvSpPr>
        <p:spPr>
          <a:xfrm>
            <a:off x="2122759" y="4543760"/>
            <a:ext cx="1013419"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a:t>
            </a:r>
            <a:r>
              <a:rPr lang="en-US" sz="1050" dirty="0" err="1"/>
              <a:t>Blue,Sheep</a:t>
            </a:r>
            <a:endParaRPr lang="en-GB" sz="1050" dirty="0"/>
          </a:p>
        </p:txBody>
      </p:sp>
      <p:sp>
        <p:nvSpPr>
          <p:cNvPr id="33" name="TextBox 32">
            <a:extLst>
              <a:ext uri="{FF2B5EF4-FFF2-40B4-BE49-F238E27FC236}">
                <a16:creationId xmlns:a16="http://schemas.microsoft.com/office/drawing/2014/main" id="{AB48BBC1-B5F7-AB02-8753-46BF016B2DFB}"/>
              </a:ext>
            </a:extLst>
          </p:cNvPr>
          <p:cNvSpPr txBox="1"/>
          <p:nvPr/>
        </p:nvSpPr>
        <p:spPr>
          <a:xfrm>
            <a:off x="864269" y="3368616"/>
            <a:ext cx="1013419"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a:t>
            </a:r>
            <a:r>
              <a:rPr lang="en-US" sz="1050" dirty="0" err="1"/>
              <a:t>Blue,Sheep</a:t>
            </a:r>
            <a:endParaRPr lang="en-GB" sz="1050" dirty="0"/>
          </a:p>
        </p:txBody>
      </p:sp>
      <p:pic>
        <p:nvPicPr>
          <p:cNvPr id="2" name="Graphic 1" descr="Sheep with solid fill">
            <a:extLst>
              <a:ext uri="{FF2B5EF4-FFF2-40B4-BE49-F238E27FC236}">
                <a16:creationId xmlns:a16="http://schemas.microsoft.com/office/drawing/2014/main" id="{0DE44904-64A1-8277-16EC-8D355F53C16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351054" y="3368616"/>
            <a:ext cx="914400" cy="914400"/>
          </a:xfrm>
          <a:prstGeom prst="rect">
            <a:avLst/>
          </a:prstGeom>
        </p:spPr>
      </p:pic>
      <p:sp>
        <p:nvSpPr>
          <p:cNvPr id="3" name="TextBox 2">
            <a:extLst>
              <a:ext uri="{FF2B5EF4-FFF2-40B4-BE49-F238E27FC236}">
                <a16:creationId xmlns:a16="http://schemas.microsoft.com/office/drawing/2014/main" id="{A7CE1C37-8D5E-AD03-AC6C-5FF0BB958727}"/>
              </a:ext>
            </a:extLst>
          </p:cNvPr>
          <p:cNvSpPr txBox="1"/>
          <p:nvPr/>
        </p:nvSpPr>
        <p:spPr>
          <a:xfrm>
            <a:off x="7269669" y="4106263"/>
            <a:ext cx="995785" cy="253916"/>
          </a:xfrm>
          <a:prstGeom prst="rect">
            <a:avLst/>
          </a:prstGeom>
          <a:noFill/>
        </p:spPr>
        <p:txBody>
          <a:bodyPr wrap="none" rtlCol="0">
            <a:spAutoFit/>
          </a:bodyPr>
          <a:lstStyle/>
          <a:p>
            <a:r>
              <a:rPr lang="en-US" sz="1050" b="1" dirty="0">
                <a:solidFill>
                  <a:srgbClr val="FF33CC"/>
                </a:solidFill>
                <a:latin typeface="Consolas" panose="020B0609020204030204" pitchFamily="49" charset="0"/>
              </a:rPr>
              <a:t>S-124 Sheep</a:t>
            </a:r>
            <a:endParaRPr lang="en-GB" sz="1050" b="1" dirty="0">
              <a:solidFill>
                <a:srgbClr val="FF33CC"/>
              </a:solidFill>
            </a:endParaRPr>
          </a:p>
        </p:txBody>
      </p:sp>
      <p:sp>
        <p:nvSpPr>
          <p:cNvPr id="4" name="Rectangle 3">
            <a:extLst>
              <a:ext uri="{FF2B5EF4-FFF2-40B4-BE49-F238E27FC236}">
                <a16:creationId xmlns:a16="http://schemas.microsoft.com/office/drawing/2014/main" id="{4624D747-00BC-87AB-5E65-FF77F07D0ECC}"/>
              </a:ext>
            </a:extLst>
          </p:cNvPr>
          <p:cNvSpPr/>
          <p:nvPr/>
        </p:nvSpPr>
        <p:spPr>
          <a:xfrm>
            <a:off x="7188283" y="3330016"/>
            <a:ext cx="1137067" cy="1197403"/>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A5C81D7-1A2B-168C-15C7-281390AA2CB9}"/>
              </a:ext>
            </a:extLst>
          </p:cNvPr>
          <p:cNvSpPr txBox="1"/>
          <p:nvPr/>
        </p:nvSpPr>
        <p:spPr>
          <a:xfrm>
            <a:off x="7265335" y="4289844"/>
            <a:ext cx="611065"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=Red</a:t>
            </a:r>
            <a:endParaRPr lang="en-GB" sz="1050" dirty="0"/>
          </a:p>
        </p:txBody>
      </p:sp>
      <p:sp>
        <p:nvSpPr>
          <p:cNvPr id="6" name="Freeform: Shape 5">
            <a:extLst>
              <a:ext uri="{FF2B5EF4-FFF2-40B4-BE49-F238E27FC236}">
                <a16:creationId xmlns:a16="http://schemas.microsoft.com/office/drawing/2014/main" id="{2B92FF64-103F-DB25-6804-2B7C3909260E}"/>
              </a:ext>
            </a:extLst>
          </p:cNvPr>
          <p:cNvSpPr/>
          <p:nvPr/>
        </p:nvSpPr>
        <p:spPr>
          <a:xfrm>
            <a:off x="1159786" y="158262"/>
            <a:ext cx="8349258" cy="4958861"/>
          </a:xfrm>
          <a:custGeom>
            <a:avLst/>
            <a:gdLst>
              <a:gd name="connsiteX0" fmla="*/ 1135006 w 8349258"/>
              <a:gd name="connsiteY0" fmla="*/ 778119 h 4958861"/>
              <a:gd name="connsiteX1" fmla="*/ 1108629 w 8349258"/>
              <a:gd name="connsiteY1" fmla="*/ 782515 h 4958861"/>
              <a:gd name="connsiteX2" fmla="*/ 989933 w 8349258"/>
              <a:gd name="connsiteY2" fmla="*/ 808892 h 4958861"/>
              <a:gd name="connsiteX3" fmla="*/ 765729 w 8349258"/>
              <a:gd name="connsiteY3" fmla="*/ 813288 h 4958861"/>
              <a:gd name="connsiteX4" fmla="*/ 638241 w 8349258"/>
              <a:gd name="connsiteY4" fmla="*/ 817684 h 4958861"/>
              <a:gd name="connsiteX5" fmla="*/ 559110 w 8349258"/>
              <a:gd name="connsiteY5" fmla="*/ 826476 h 4958861"/>
              <a:gd name="connsiteX6" fmla="*/ 515149 w 8349258"/>
              <a:gd name="connsiteY6" fmla="*/ 848457 h 4958861"/>
              <a:gd name="connsiteX7" fmla="*/ 457999 w 8349258"/>
              <a:gd name="connsiteY7" fmla="*/ 866042 h 4958861"/>
              <a:gd name="connsiteX8" fmla="*/ 374472 w 8349258"/>
              <a:gd name="connsiteY8" fmla="*/ 888023 h 4958861"/>
              <a:gd name="connsiteX9" fmla="*/ 198626 w 8349258"/>
              <a:gd name="connsiteY9" fmla="*/ 936380 h 4958861"/>
              <a:gd name="connsiteX10" fmla="*/ 128287 w 8349258"/>
              <a:gd name="connsiteY10" fmla="*/ 975946 h 4958861"/>
              <a:gd name="connsiteX11" fmla="*/ 31572 w 8349258"/>
              <a:gd name="connsiteY11" fmla="*/ 1116623 h 4958861"/>
              <a:gd name="connsiteX12" fmla="*/ 5195 w 8349258"/>
              <a:gd name="connsiteY12" fmla="*/ 1208942 h 4958861"/>
              <a:gd name="connsiteX13" fmla="*/ 22779 w 8349258"/>
              <a:gd name="connsiteY13" fmla="*/ 1512276 h 4958861"/>
              <a:gd name="connsiteX14" fmla="*/ 189833 w 8349258"/>
              <a:gd name="connsiteY14" fmla="*/ 1740876 h 4958861"/>
              <a:gd name="connsiteX15" fmla="*/ 268964 w 8349258"/>
              <a:gd name="connsiteY15" fmla="*/ 1820007 h 4958861"/>
              <a:gd name="connsiteX16" fmla="*/ 339302 w 8349258"/>
              <a:gd name="connsiteY16" fmla="*/ 1863969 h 4958861"/>
              <a:gd name="connsiteX17" fmla="*/ 567902 w 8349258"/>
              <a:gd name="connsiteY17" fmla="*/ 1987061 h 4958861"/>
              <a:gd name="connsiteX18" fmla="*/ 589883 w 8349258"/>
              <a:gd name="connsiteY18" fmla="*/ 1995853 h 4958861"/>
              <a:gd name="connsiteX19" fmla="*/ 633845 w 8349258"/>
              <a:gd name="connsiteY19" fmla="*/ 2022230 h 4958861"/>
              <a:gd name="connsiteX20" fmla="*/ 875633 w 8349258"/>
              <a:gd name="connsiteY20" fmla="*/ 2110153 h 4958861"/>
              <a:gd name="connsiteX21" fmla="*/ 1051479 w 8349258"/>
              <a:gd name="connsiteY21" fmla="*/ 2149719 h 4958861"/>
              <a:gd name="connsiteX22" fmla="*/ 1205345 w 8349258"/>
              <a:gd name="connsiteY22" fmla="*/ 2180492 h 4958861"/>
              <a:gd name="connsiteX23" fmla="*/ 1381191 w 8349258"/>
              <a:gd name="connsiteY23" fmla="*/ 2242038 h 4958861"/>
              <a:gd name="connsiteX24" fmla="*/ 1644960 w 8349258"/>
              <a:gd name="connsiteY24" fmla="*/ 2294792 h 4958861"/>
              <a:gd name="connsiteX25" fmla="*/ 1768052 w 8349258"/>
              <a:gd name="connsiteY25" fmla="*/ 2299188 h 4958861"/>
              <a:gd name="connsiteX26" fmla="*/ 1873560 w 8349258"/>
              <a:gd name="connsiteY26" fmla="*/ 2312376 h 4958861"/>
              <a:gd name="connsiteX27" fmla="*/ 2014237 w 8349258"/>
              <a:gd name="connsiteY27" fmla="*/ 2347546 h 4958861"/>
              <a:gd name="connsiteX28" fmla="*/ 2119745 w 8349258"/>
              <a:gd name="connsiteY28" fmla="*/ 2369526 h 4958861"/>
              <a:gd name="connsiteX29" fmla="*/ 2176895 w 8349258"/>
              <a:gd name="connsiteY29" fmla="*/ 2387111 h 4958861"/>
              <a:gd name="connsiteX30" fmla="*/ 2484626 w 8349258"/>
              <a:gd name="connsiteY30" fmla="*/ 2470638 h 4958861"/>
              <a:gd name="connsiteX31" fmla="*/ 2519795 w 8349258"/>
              <a:gd name="connsiteY31" fmla="*/ 2488223 h 4958861"/>
              <a:gd name="connsiteX32" fmla="*/ 2634095 w 8349258"/>
              <a:gd name="connsiteY32" fmla="*/ 2580542 h 4958861"/>
              <a:gd name="connsiteX33" fmla="*/ 2673660 w 8349258"/>
              <a:gd name="connsiteY33" fmla="*/ 2620107 h 4958861"/>
              <a:gd name="connsiteX34" fmla="*/ 2809941 w 8349258"/>
              <a:gd name="connsiteY34" fmla="*/ 2730011 h 4958861"/>
              <a:gd name="connsiteX35" fmla="*/ 2875883 w 8349258"/>
              <a:gd name="connsiteY35" fmla="*/ 2861896 h 4958861"/>
              <a:gd name="connsiteX36" fmla="*/ 2902260 w 8349258"/>
              <a:gd name="connsiteY36" fmla="*/ 2936630 h 4958861"/>
              <a:gd name="connsiteX37" fmla="*/ 2893468 w 8349258"/>
              <a:gd name="connsiteY37" fmla="*/ 3472961 h 4958861"/>
              <a:gd name="connsiteX38" fmla="*/ 2814337 w 8349258"/>
              <a:gd name="connsiteY38" fmla="*/ 3644411 h 4958861"/>
              <a:gd name="connsiteX39" fmla="*/ 2787960 w 8349258"/>
              <a:gd name="connsiteY39" fmla="*/ 3692769 h 4958861"/>
              <a:gd name="connsiteX40" fmla="*/ 2779168 w 8349258"/>
              <a:gd name="connsiteY40" fmla="*/ 3741126 h 4958861"/>
              <a:gd name="connsiteX41" fmla="*/ 2757187 w 8349258"/>
              <a:gd name="connsiteY41" fmla="*/ 3815861 h 4958861"/>
              <a:gd name="connsiteX42" fmla="*/ 2726414 w 8349258"/>
              <a:gd name="connsiteY42" fmla="*/ 3908180 h 4958861"/>
              <a:gd name="connsiteX43" fmla="*/ 2691245 w 8349258"/>
              <a:gd name="connsiteY43" fmla="*/ 3991707 h 4958861"/>
              <a:gd name="connsiteX44" fmla="*/ 2673660 w 8349258"/>
              <a:gd name="connsiteY44" fmla="*/ 4136780 h 4958861"/>
              <a:gd name="connsiteX45" fmla="*/ 2669264 w 8349258"/>
              <a:gd name="connsiteY45" fmla="*/ 4176346 h 4958861"/>
              <a:gd name="connsiteX46" fmla="*/ 2664868 w 8349258"/>
              <a:gd name="connsiteY46" fmla="*/ 4189534 h 4958861"/>
              <a:gd name="connsiteX47" fmla="*/ 2642887 w 8349258"/>
              <a:gd name="connsiteY47" fmla="*/ 4277457 h 4958861"/>
              <a:gd name="connsiteX48" fmla="*/ 2647283 w 8349258"/>
              <a:gd name="connsiteY48" fmla="*/ 4431323 h 4958861"/>
              <a:gd name="connsiteX49" fmla="*/ 2673660 w 8349258"/>
              <a:gd name="connsiteY49" fmla="*/ 4466492 h 4958861"/>
              <a:gd name="connsiteX50" fmla="*/ 2774772 w 8349258"/>
              <a:gd name="connsiteY50" fmla="*/ 4585188 h 4958861"/>
              <a:gd name="connsiteX51" fmla="*/ 3051729 w 8349258"/>
              <a:gd name="connsiteY51" fmla="*/ 4747846 h 4958861"/>
              <a:gd name="connsiteX52" fmla="*/ 3289122 w 8349258"/>
              <a:gd name="connsiteY52" fmla="*/ 4818184 h 4958861"/>
              <a:gd name="connsiteX53" fmla="*/ 3508929 w 8349258"/>
              <a:gd name="connsiteY53" fmla="*/ 4853353 h 4958861"/>
              <a:gd name="connsiteX54" fmla="*/ 3601249 w 8349258"/>
              <a:gd name="connsiteY54" fmla="*/ 4875334 h 4958861"/>
              <a:gd name="connsiteX55" fmla="*/ 3724341 w 8349258"/>
              <a:gd name="connsiteY55" fmla="*/ 4910503 h 4958861"/>
              <a:gd name="connsiteX56" fmla="*/ 3807868 w 8349258"/>
              <a:gd name="connsiteY56" fmla="*/ 4923692 h 4958861"/>
              <a:gd name="connsiteX57" fmla="*/ 3917772 w 8349258"/>
              <a:gd name="connsiteY57" fmla="*/ 4945673 h 4958861"/>
              <a:gd name="connsiteX58" fmla="*/ 3974922 w 8349258"/>
              <a:gd name="connsiteY58" fmla="*/ 4954465 h 4958861"/>
              <a:gd name="connsiteX59" fmla="*/ 4282652 w 8349258"/>
              <a:gd name="connsiteY59" fmla="*/ 4958861 h 4958861"/>
              <a:gd name="connsiteX60" fmla="*/ 4673910 w 8349258"/>
              <a:gd name="connsiteY60" fmla="*/ 4892919 h 4958861"/>
              <a:gd name="connsiteX61" fmla="*/ 4731060 w 8349258"/>
              <a:gd name="connsiteY61" fmla="*/ 4840165 h 4958861"/>
              <a:gd name="connsiteX62" fmla="*/ 4867341 w 8349258"/>
              <a:gd name="connsiteY62" fmla="*/ 4633546 h 4958861"/>
              <a:gd name="connsiteX63" fmla="*/ 4972849 w 8349258"/>
              <a:gd name="connsiteY63" fmla="*/ 4545623 h 4958861"/>
              <a:gd name="connsiteX64" fmla="*/ 5153091 w 8349258"/>
              <a:gd name="connsiteY64" fmla="*/ 4365380 h 4958861"/>
              <a:gd name="connsiteX65" fmla="*/ 5175072 w 8349258"/>
              <a:gd name="connsiteY65" fmla="*/ 4347796 h 4958861"/>
              <a:gd name="connsiteX66" fmla="*/ 5320145 w 8349258"/>
              <a:gd name="connsiteY66" fmla="*/ 4141176 h 4958861"/>
              <a:gd name="connsiteX67" fmla="*/ 5425652 w 8349258"/>
              <a:gd name="connsiteY67" fmla="*/ 3987311 h 4958861"/>
              <a:gd name="connsiteX68" fmla="*/ 5482802 w 8349258"/>
              <a:gd name="connsiteY68" fmla="*/ 3868615 h 4958861"/>
              <a:gd name="connsiteX69" fmla="*/ 5522368 w 8349258"/>
              <a:gd name="connsiteY69" fmla="*/ 3793880 h 4958861"/>
              <a:gd name="connsiteX70" fmla="*/ 5553141 w 8349258"/>
              <a:gd name="connsiteY70" fmla="*/ 3745523 h 4958861"/>
              <a:gd name="connsiteX71" fmla="*/ 5614687 w 8349258"/>
              <a:gd name="connsiteY71" fmla="*/ 3613638 h 4958861"/>
              <a:gd name="connsiteX72" fmla="*/ 5702610 w 8349258"/>
              <a:gd name="connsiteY72" fmla="*/ 3477357 h 4958861"/>
              <a:gd name="connsiteX73" fmla="*/ 5750968 w 8349258"/>
              <a:gd name="connsiteY73" fmla="*/ 3398226 h 4958861"/>
              <a:gd name="connsiteX74" fmla="*/ 5803722 w 8349258"/>
              <a:gd name="connsiteY74" fmla="*/ 3323492 h 4958861"/>
              <a:gd name="connsiteX75" fmla="*/ 5874060 w 8349258"/>
              <a:gd name="connsiteY75" fmla="*/ 3169626 h 4958861"/>
              <a:gd name="connsiteX76" fmla="*/ 5887249 w 8349258"/>
              <a:gd name="connsiteY76" fmla="*/ 3152042 h 4958861"/>
              <a:gd name="connsiteX77" fmla="*/ 5948795 w 8349258"/>
              <a:gd name="connsiteY77" fmla="*/ 3094892 h 4958861"/>
              <a:gd name="connsiteX78" fmla="*/ 6001549 w 8349258"/>
              <a:gd name="connsiteY78" fmla="*/ 3050930 h 4958861"/>
              <a:gd name="connsiteX79" fmla="*/ 6265318 w 8349258"/>
              <a:gd name="connsiteY79" fmla="*/ 2967403 h 4958861"/>
              <a:gd name="connsiteX80" fmla="*/ 6397202 w 8349258"/>
              <a:gd name="connsiteY80" fmla="*/ 2954215 h 4958861"/>
              <a:gd name="connsiteX81" fmla="*/ 6858799 w 8349258"/>
              <a:gd name="connsiteY81" fmla="*/ 2967403 h 4958861"/>
              <a:gd name="connsiteX82" fmla="*/ 7021456 w 8349258"/>
              <a:gd name="connsiteY82" fmla="*/ 3002573 h 4958861"/>
              <a:gd name="connsiteX83" fmla="*/ 7135756 w 8349258"/>
              <a:gd name="connsiteY83" fmla="*/ 3024553 h 4958861"/>
              <a:gd name="connsiteX84" fmla="*/ 7408318 w 8349258"/>
              <a:gd name="connsiteY84" fmla="*/ 3055326 h 4958861"/>
              <a:gd name="connsiteX85" fmla="*/ 7812764 w 8349258"/>
              <a:gd name="connsiteY85" fmla="*/ 3116873 h 4958861"/>
              <a:gd name="connsiteX86" fmla="*/ 8080929 w 8349258"/>
              <a:gd name="connsiteY86" fmla="*/ 3059723 h 4958861"/>
              <a:gd name="connsiteX87" fmla="*/ 8168852 w 8349258"/>
              <a:gd name="connsiteY87" fmla="*/ 2993780 h 4958861"/>
              <a:gd name="connsiteX88" fmla="*/ 8217210 w 8349258"/>
              <a:gd name="connsiteY88" fmla="*/ 2919046 h 4958861"/>
              <a:gd name="connsiteX89" fmla="*/ 8287549 w 8349258"/>
              <a:gd name="connsiteY89" fmla="*/ 2791557 h 4958861"/>
              <a:gd name="connsiteX90" fmla="*/ 8327114 w 8349258"/>
              <a:gd name="connsiteY90" fmla="*/ 2637692 h 4958861"/>
              <a:gd name="connsiteX91" fmla="*/ 8349095 w 8349258"/>
              <a:gd name="connsiteY91" fmla="*/ 2501411 h 4958861"/>
              <a:gd name="connsiteX92" fmla="*/ 8313926 w 8349258"/>
              <a:gd name="connsiteY92" fmla="*/ 2162907 h 4958861"/>
              <a:gd name="connsiteX93" fmla="*/ 8177645 w 8349258"/>
              <a:gd name="connsiteY93" fmla="*/ 1978269 h 4958861"/>
              <a:gd name="connsiteX94" fmla="*/ 8028176 w 8349258"/>
              <a:gd name="connsiteY94" fmla="*/ 1890346 h 4958861"/>
              <a:gd name="connsiteX95" fmla="*/ 7685276 w 8349258"/>
              <a:gd name="connsiteY95" fmla="*/ 1762857 h 4958861"/>
              <a:gd name="connsiteX96" fmla="*/ 7201699 w 8349258"/>
              <a:gd name="connsiteY96" fmla="*/ 1674934 h 4958861"/>
              <a:gd name="connsiteX97" fmla="*/ 6999476 w 8349258"/>
              <a:gd name="connsiteY97" fmla="*/ 1683726 h 4958861"/>
              <a:gd name="connsiteX98" fmla="*/ 6819233 w 8349258"/>
              <a:gd name="connsiteY98" fmla="*/ 1754065 h 4958861"/>
              <a:gd name="connsiteX99" fmla="*/ 6577445 w 8349258"/>
              <a:gd name="connsiteY99" fmla="*/ 1877157 h 4958861"/>
              <a:gd name="connsiteX100" fmla="*/ 6529087 w 8349258"/>
              <a:gd name="connsiteY100" fmla="*/ 1907930 h 4958861"/>
              <a:gd name="connsiteX101" fmla="*/ 6449956 w 8349258"/>
              <a:gd name="connsiteY101" fmla="*/ 1973873 h 4958861"/>
              <a:gd name="connsiteX102" fmla="*/ 6379618 w 8349258"/>
              <a:gd name="connsiteY102" fmla="*/ 2013438 h 4958861"/>
              <a:gd name="connsiteX103" fmla="*/ 6291695 w 8349258"/>
              <a:gd name="connsiteY103" fmla="*/ 2035419 h 4958861"/>
              <a:gd name="connsiteX104" fmla="*/ 6172999 w 8349258"/>
              <a:gd name="connsiteY104" fmla="*/ 2017834 h 4958861"/>
              <a:gd name="connsiteX105" fmla="*/ 6133433 w 8349258"/>
              <a:gd name="connsiteY105" fmla="*/ 1982665 h 4958861"/>
              <a:gd name="connsiteX106" fmla="*/ 6041114 w 8349258"/>
              <a:gd name="connsiteY106" fmla="*/ 1881553 h 4958861"/>
              <a:gd name="connsiteX107" fmla="*/ 6023529 w 8349258"/>
              <a:gd name="connsiteY107" fmla="*/ 1754065 h 4958861"/>
              <a:gd name="connsiteX108" fmla="*/ 6014737 w 8349258"/>
              <a:gd name="connsiteY108" fmla="*/ 1666142 h 4958861"/>
              <a:gd name="connsiteX109" fmla="*/ 6032322 w 8349258"/>
              <a:gd name="connsiteY109" fmla="*/ 1490296 h 4958861"/>
              <a:gd name="connsiteX110" fmla="*/ 6089472 w 8349258"/>
              <a:gd name="connsiteY110" fmla="*/ 1397976 h 4958861"/>
              <a:gd name="connsiteX111" fmla="*/ 6107056 w 8349258"/>
              <a:gd name="connsiteY111" fmla="*/ 1367203 h 4958861"/>
              <a:gd name="connsiteX112" fmla="*/ 6142226 w 8349258"/>
              <a:gd name="connsiteY112" fmla="*/ 1314450 h 4958861"/>
              <a:gd name="connsiteX113" fmla="*/ 6212564 w 8349258"/>
              <a:gd name="connsiteY113" fmla="*/ 1178169 h 4958861"/>
              <a:gd name="connsiteX114" fmla="*/ 6256526 w 8349258"/>
              <a:gd name="connsiteY114" fmla="*/ 984738 h 4958861"/>
              <a:gd name="connsiteX115" fmla="*/ 6238941 w 8349258"/>
              <a:gd name="connsiteY115" fmla="*/ 782515 h 4958861"/>
              <a:gd name="connsiteX116" fmla="*/ 6107056 w 8349258"/>
              <a:gd name="connsiteY116" fmla="*/ 439615 h 4958861"/>
              <a:gd name="connsiteX117" fmla="*/ 5790533 w 8349258"/>
              <a:gd name="connsiteY117" fmla="*/ 202223 h 4958861"/>
              <a:gd name="connsiteX118" fmla="*/ 5403672 w 8349258"/>
              <a:gd name="connsiteY118" fmla="*/ 43961 h 4958861"/>
              <a:gd name="connsiteX119" fmla="*/ 5241014 w 8349258"/>
              <a:gd name="connsiteY119" fmla="*/ 4396 h 4958861"/>
              <a:gd name="connsiteX120" fmla="*/ 5157487 w 8349258"/>
              <a:gd name="connsiteY120" fmla="*/ 0 h 4958861"/>
              <a:gd name="connsiteX121" fmla="*/ 5069564 w 8349258"/>
              <a:gd name="connsiteY121" fmla="*/ 26376 h 4958861"/>
              <a:gd name="connsiteX122" fmla="*/ 4950868 w 8349258"/>
              <a:gd name="connsiteY122" fmla="*/ 92319 h 4958861"/>
              <a:gd name="connsiteX123" fmla="*/ 4779418 w 8349258"/>
              <a:gd name="connsiteY123" fmla="*/ 202223 h 4958861"/>
              <a:gd name="connsiteX124" fmla="*/ 4757437 w 8349258"/>
              <a:gd name="connsiteY124" fmla="*/ 272561 h 4958861"/>
              <a:gd name="connsiteX125" fmla="*/ 4753041 w 8349258"/>
              <a:gd name="connsiteY125" fmla="*/ 320919 h 4958861"/>
              <a:gd name="connsiteX126" fmla="*/ 4761833 w 8349258"/>
              <a:gd name="connsiteY126" fmla="*/ 826476 h 4958861"/>
              <a:gd name="connsiteX127" fmla="*/ 4814587 w 8349258"/>
              <a:gd name="connsiteY127" fmla="*/ 1002323 h 4958861"/>
              <a:gd name="connsiteX128" fmla="*/ 4893718 w 8349258"/>
              <a:gd name="connsiteY128" fmla="*/ 1156188 h 4958861"/>
              <a:gd name="connsiteX129" fmla="*/ 4915699 w 8349258"/>
              <a:gd name="connsiteY129" fmla="*/ 1195753 h 4958861"/>
              <a:gd name="connsiteX130" fmla="*/ 4937679 w 8349258"/>
              <a:gd name="connsiteY130" fmla="*/ 1226526 h 4958861"/>
              <a:gd name="connsiteX131" fmla="*/ 4977245 w 8349258"/>
              <a:gd name="connsiteY131" fmla="*/ 1266092 h 4958861"/>
              <a:gd name="connsiteX132" fmla="*/ 5016810 w 8349258"/>
              <a:gd name="connsiteY132" fmla="*/ 1314450 h 4958861"/>
              <a:gd name="connsiteX133" fmla="*/ 5135506 w 8349258"/>
              <a:gd name="connsiteY133" fmla="*/ 1446334 h 4958861"/>
              <a:gd name="connsiteX134" fmla="*/ 5219033 w 8349258"/>
              <a:gd name="connsiteY134" fmla="*/ 1648557 h 4958861"/>
              <a:gd name="connsiteX135" fmla="*/ 5201449 w 8349258"/>
              <a:gd name="connsiteY135" fmla="*/ 1868365 h 4958861"/>
              <a:gd name="connsiteX136" fmla="*/ 5161883 w 8349258"/>
              <a:gd name="connsiteY136" fmla="*/ 1982665 h 4958861"/>
              <a:gd name="connsiteX137" fmla="*/ 5144299 w 8349258"/>
              <a:gd name="connsiteY137" fmla="*/ 2026626 h 4958861"/>
              <a:gd name="connsiteX138" fmla="*/ 5122318 w 8349258"/>
              <a:gd name="connsiteY138" fmla="*/ 2048607 h 4958861"/>
              <a:gd name="connsiteX139" fmla="*/ 5047583 w 8349258"/>
              <a:gd name="connsiteY139" fmla="*/ 2127738 h 4958861"/>
              <a:gd name="connsiteX140" fmla="*/ 4871737 w 8349258"/>
              <a:gd name="connsiteY140" fmla="*/ 2237642 h 4958861"/>
              <a:gd name="connsiteX141" fmla="*/ 4849756 w 8349258"/>
              <a:gd name="connsiteY141" fmla="*/ 2250830 h 4958861"/>
              <a:gd name="connsiteX142" fmla="*/ 4810191 w 8349258"/>
              <a:gd name="connsiteY142" fmla="*/ 2264019 h 4958861"/>
              <a:gd name="connsiteX143" fmla="*/ 4634345 w 8349258"/>
              <a:gd name="connsiteY143" fmla="*/ 2259623 h 4958861"/>
              <a:gd name="connsiteX144" fmla="*/ 4599176 w 8349258"/>
              <a:gd name="connsiteY144" fmla="*/ 2250830 h 4958861"/>
              <a:gd name="connsiteX145" fmla="*/ 4344199 w 8349258"/>
              <a:gd name="connsiteY145" fmla="*/ 2132134 h 4958861"/>
              <a:gd name="connsiteX146" fmla="*/ 4225502 w 8349258"/>
              <a:gd name="connsiteY146" fmla="*/ 2070588 h 4958861"/>
              <a:gd name="connsiteX147" fmla="*/ 4058449 w 8349258"/>
              <a:gd name="connsiteY147" fmla="*/ 1973873 h 4958861"/>
              <a:gd name="connsiteX148" fmla="*/ 3882602 w 8349258"/>
              <a:gd name="connsiteY148" fmla="*/ 1846384 h 4958861"/>
              <a:gd name="connsiteX149" fmla="*/ 3838641 w 8349258"/>
              <a:gd name="connsiteY149" fmla="*/ 1815611 h 4958861"/>
              <a:gd name="connsiteX150" fmla="*/ 3737529 w 8349258"/>
              <a:gd name="connsiteY150" fmla="*/ 1749669 h 4958861"/>
              <a:gd name="connsiteX151" fmla="*/ 3390233 w 8349258"/>
              <a:gd name="connsiteY151" fmla="*/ 1556238 h 4958861"/>
              <a:gd name="connsiteX152" fmla="*/ 3249556 w 8349258"/>
              <a:gd name="connsiteY152" fmla="*/ 1485900 h 4958861"/>
              <a:gd name="connsiteX153" fmla="*/ 3113276 w 8349258"/>
              <a:gd name="connsiteY153" fmla="*/ 1411165 h 4958861"/>
              <a:gd name="connsiteX154" fmla="*/ 2867091 w 8349258"/>
              <a:gd name="connsiteY154" fmla="*/ 1310053 h 4958861"/>
              <a:gd name="connsiteX155" fmla="*/ 2673660 w 8349258"/>
              <a:gd name="connsiteY155" fmla="*/ 1252903 h 4958861"/>
              <a:gd name="connsiteX156" fmla="*/ 2097764 w 8349258"/>
              <a:gd name="connsiteY156" fmla="*/ 984738 h 4958861"/>
              <a:gd name="connsiteX157" fmla="*/ 2049406 w 8349258"/>
              <a:gd name="connsiteY157" fmla="*/ 962757 h 4958861"/>
              <a:gd name="connsiteX158" fmla="*/ 1908729 w 8349258"/>
              <a:gd name="connsiteY158" fmla="*/ 896815 h 4958861"/>
              <a:gd name="connsiteX159" fmla="*/ 1644960 w 8349258"/>
              <a:gd name="connsiteY159" fmla="*/ 822080 h 4958861"/>
              <a:gd name="connsiteX160" fmla="*/ 1574622 w 8349258"/>
              <a:gd name="connsiteY160" fmla="*/ 813288 h 4958861"/>
              <a:gd name="connsiteX161" fmla="*/ 1517472 w 8349258"/>
              <a:gd name="connsiteY161" fmla="*/ 804496 h 4958861"/>
              <a:gd name="connsiteX162" fmla="*/ 1394379 w 8349258"/>
              <a:gd name="connsiteY162" fmla="*/ 800100 h 4958861"/>
              <a:gd name="connsiteX163" fmla="*/ 1302060 w 8349258"/>
              <a:gd name="connsiteY163" fmla="*/ 791307 h 4958861"/>
              <a:gd name="connsiteX164" fmla="*/ 1253702 w 8349258"/>
              <a:gd name="connsiteY164" fmla="*/ 786911 h 4958861"/>
              <a:gd name="connsiteX165" fmla="*/ 1135006 w 8349258"/>
              <a:gd name="connsiteY165" fmla="*/ 778119 h 495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8349258" h="4958861">
                <a:moveTo>
                  <a:pt x="1135006" y="778119"/>
                </a:moveTo>
                <a:cubicBezTo>
                  <a:pt x="1110827" y="777386"/>
                  <a:pt x="1117349" y="780665"/>
                  <a:pt x="1108629" y="782515"/>
                </a:cubicBezTo>
                <a:cubicBezTo>
                  <a:pt x="1068981" y="790925"/>
                  <a:pt x="1030301" y="805269"/>
                  <a:pt x="989933" y="808892"/>
                </a:cubicBezTo>
                <a:cubicBezTo>
                  <a:pt x="915483" y="815573"/>
                  <a:pt x="840455" y="811420"/>
                  <a:pt x="765729" y="813288"/>
                </a:cubicBezTo>
                <a:lnTo>
                  <a:pt x="638241" y="817684"/>
                </a:lnTo>
                <a:cubicBezTo>
                  <a:pt x="611864" y="820615"/>
                  <a:pt x="584857" y="820039"/>
                  <a:pt x="559110" y="826476"/>
                </a:cubicBezTo>
                <a:cubicBezTo>
                  <a:pt x="543216" y="830450"/>
                  <a:pt x="530406" y="842487"/>
                  <a:pt x="515149" y="848457"/>
                </a:cubicBezTo>
                <a:cubicBezTo>
                  <a:pt x="496588" y="855720"/>
                  <a:pt x="477186" y="860646"/>
                  <a:pt x="457999" y="866042"/>
                </a:cubicBezTo>
                <a:cubicBezTo>
                  <a:pt x="430284" y="873837"/>
                  <a:pt x="402155" y="880114"/>
                  <a:pt x="374472" y="888023"/>
                </a:cubicBezTo>
                <a:cubicBezTo>
                  <a:pt x="202473" y="937166"/>
                  <a:pt x="341362" y="902796"/>
                  <a:pt x="198626" y="936380"/>
                </a:cubicBezTo>
                <a:cubicBezTo>
                  <a:pt x="175180" y="949569"/>
                  <a:pt x="149609" y="959544"/>
                  <a:pt x="128287" y="975946"/>
                </a:cubicBezTo>
                <a:cubicBezTo>
                  <a:pt x="89393" y="1005865"/>
                  <a:pt x="48100" y="1078058"/>
                  <a:pt x="31572" y="1116623"/>
                </a:cubicBezTo>
                <a:cubicBezTo>
                  <a:pt x="18965" y="1146040"/>
                  <a:pt x="13987" y="1178169"/>
                  <a:pt x="5195" y="1208942"/>
                </a:cubicBezTo>
                <a:cubicBezTo>
                  <a:pt x="-269" y="1318234"/>
                  <a:pt x="-8417" y="1392418"/>
                  <a:pt x="22779" y="1512276"/>
                </a:cubicBezTo>
                <a:cubicBezTo>
                  <a:pt x="40199" y="1579206"/>
                  <a:pt x="152537" y="1700028"/>
                  <a:pt x="189833" y="1740876"/>
                </a:cubicBezTo>
                <a:cubicBezTo>
                  <a:pt x="214985" y="1768424"/>
                  <a:pt x="240169" y="1796293"/>
                  <a:pt x="268964" y="1820007"/>
                </a:cubicBezTo>
                <a:cubicBezTo>
                  <a:pt x="290307" y="1837584"/>
                  <a:pt x="315166" y="1850481"/>
                  <a:pt x="339302" y="1863969"/>
                </a:cubicBezTo>
                <a:cubicBezTo>
                  <a:pt x="414850" y="1906187"/>
                  <a:pt x="487547" y="1954920"/>
                  <a:pt x="567902" y="1987061"/>
                </a:cubicBezTo>
                <a:cubicBezTo>
                  <a:pt x="575229" y="1989992"/>
                  <a:pt x="582920" y="1992139"/>
                  <a:pt x="589883" y="1995853"/>
                </a:cubicBezTo>
                <a:cubicBezTo>
                  <a:pt x="604962" y="2003895"/>
                  <a:pt x="618560" y="2014587"/>
                  <a:pt x="633845" y="2022230"/>
                </a:cubicBezTo>
                <a:cubicBezTo>
                  <a:pt x="703786" y="2057201"/>
                  <a:pt x="806521" y="2094603"/>
                  <a:pt x="875633" y="2110153"/>
                </a:cubicBezTo>
                <a:cubicBezTo>
                  <a:pt x="934248" y="2123342"/>
                  <a:pt x="992002" y="2141223"/>
                  <a:pt x="1051479" y="2149719"/>
                </a:cubicBezTo>
                <a:cubicBezTo>
                  <a:pt x="1128252" y="2160686"/>
                  <a:pt x="1117424" y="2157219"/>
                  <a:pt x="1205345" y="2180492"/>
                </a:cubicBezTo>
                <a:cubicBezTo>
                  <a:pt x="1292360" y="2203525"/>
                  <a:pt x="1265950" y="2205884"/>
                  <a:pt x="1381191" y="2242038"/>
                </a:cubicBezTo>
                <a:cubicBezTo>
                  <a:pt x="1452629" y="2264450"/>
                  <a:pt x="1577747" y="2287441"/>
                  <a:pt x="1644960" y="2294792"/>
                </a:cubicBezTo>
                <a:cubicBezTo>
                  <a:pt x="1685773" y="2299256"/>
                  <a:pt x="1727021" y="2297723"/>
                  <a:pt x="1768052" y="2299188"/>
                </a:cubicBezTo>
                <a:cubicBezTo>
                  <a:pt x="1803221" y="2303584"/>
                  <a:pt x="1838782" y="2305544"/>
                  <a:pt x="1873560" y="2312376"/>
                </a:cubicBezTo>
                <a:cubicBezTo>
                  <a:pt x="1920989" y="2321692"/>
                  <a:pt x="1967153" y="2336616"/>
                  <a:pt x="2014237" y="2347546"/>
                </a:cubicBezTo>
                <a:cubicBezTo>
                  <a:pt x="2049231" y="2355670"/>
                  <a:pt x="2084838" y="2361035"/>
                  <a:pt x="2119745" y="2369526"/>
                </a:cubicBezTo>
                <a:cubicBezTo>
                  <a:pt x="2139112" y="2374237"/>
                  <a:pt x="2157500" y="2382517"/>
                  <a:pt x="2176895" y="2387111"/>
                </a:cubicBezTo>
                <a:cubicBezTo>
                  <a:pt x="2288712" y="2413594"/>
                  <a:pt x="2372767" y="2414707"/>
                  <a:pt x="2484626" y="2470638"/>
                </a:cubicBezTo>
                <a:cubicBezTo>
                  <a:pt x="2496349" y="2476500"/>
                  <a:pt x="2508889" y="2480953"/>
                  <a:pt x="2519795" y="2488223"/>
                </a:cubicBezTo>
                <a:cubicBezTo>
                  <a:pt x="2563852" y="2517594"/>
                  <a:pt x="2596638" y="2545056"/>
                  <a:pt x="2634095" y="2580542"/>
                </a:cubicBezTo>
                <a:cubicBezTo>
                  <a:pt x="2647635" y="2593369"/>
                  <a:pt x="2659934" y="2607479"/>
                  <a:pt x="2673660" y="2620107"/>
                </a:cubicBezTo>
                <a:cubicBezTo>
                  <a:pt x="2742608" y="2683538"/>
                  <a:pt x="2738041" y="2677284"/>
                  <a:pt x="2809941" y="2730011"/>
                </a:cubicBezTo>
                <a:cubicBezTo>
                  <a:pt x="2840863" y="2781550"/>
                  <a:pt x="2834519" y="2769436"/>
                  <a:pt x="2875883" y="2861896"/>
                </a:cubicBezTo>
                <a:cubicBezTo>
                  <a:pt x="2895042" y="2904722"/>
                  <a:pt x="2894391" y="2905154"/>
                  <a:pt x="2902260" y="2936630"/>
                </a:cubicBezTo>
                <a:cubicBezTo>
                  <a:pt x="2899329" y="3115407"/>
                  <a:pt x="2901407" y="3294336"/>
                  <a:pt x="2893468" y="3472961"/>
                </a:cubicBezTo>
                <a:cubicBezTo>
                  <a:pt x="2891424" y="3518941"/>
                  <a:pt x="2823962" y="3626604"/>
                  <a:pt x="2814337" y="3644411"/>
                </a:cubicBezTo>
                <a:cubicBezTo>
                  <a:pt x="2805606" y="3660564"/>
                  <a:pt x="2787960" y="3692769"/>
                  <a:pt x="2787960" y="3692769"/>
                </a:cubicBezTo>
                <a:cubicBezTo>
                  <a:pt x="2785029" y="3708888"/>
                  <a:pt x="2781120" y="3724859"/>
                  <a:pt x="2779168" y="3741126"/>
                </a:cubicBezTo>
                <a:cubicBezTo>
                  <a:pt x="2770575" y="3812737"/>
                  <a:pt x="2792536" y="3789351"/>
                  <a:pt x="2757187" y="3815861"/>
                </a:cubicBezTo>
                <a:cubicBezTo>
                  <a:pt x="2747031" y="3849717"/>
                  <a:pt x="2740304" y="3875193"/>
                  <a:pt x="2726414" y="3908180"/>
                </a:cubicBezTo>
                <a:cubicBezTo>
                  <a:pt x="2675914" y="4028116"/>
                  <a:pt x="2746343" y="3840184"/>
                  <a:pt x="2691245" y="3991707"/>
                </a:cubicBezTo>
                <a:cubicBezTo>
                  <a:pt x="2683528" y="4092032"/>
                  <a:pt x="2691309" y="4008826"/>
                  <a:pt x="2673660" y="4136780"/>
                </a:cubicBezTo>
                <a:cubicBezTo>
                  <a:pt x="2671847" y="4149925"/>
                  <a:pt x="2671445" y="4163257"/>
                  <a:pt x="2669264" y="4176346"/>
                </a:cubicBezTo>
                <a:cubicBezTo>
                  <a:pt x="2668502" y="4180917"/>
                  <a:pt x="2666141" y="4185079"/>
                  <a:pt x="2664868" y="4189534"/>
                </a:cubicBezTo>
                <a:cubicBezTo>
                  <a:pt x="2650914" y="4238373"/>
                  <a:pt x="2653048" y="4231732"/>
                  <a:pt x="2642887" y="4277457"/>
                </a:cubicBezTo>
                <a:cubicBezTo>
                  <a:pt x="2644352" y="4328746"/>
                  <a:pt x="2639039" y="4380680"/>
                  <a:pt x="2647283" y="4431323"/>
                </a:cubicBezTo>
                <a:cubicBezTo>
                  <a:pt x="2649637" y="4445786"/>
                  <a:pt x="2664311" y="4455208"/>
                  <a:pt x="2673660" y="4466492"/>
                </a:cubicBezTo>
                <a:cubicBezTo>
                  <a:pt x="2706821" y="4506514"/>
                  <a:pt x="2739651" y="4546875"/>
                  <a:pt x="2774772" y="4585188"/>
                </a:cubicBezTo>
                <a:cubicBezTo>
                  <a:pt x="2844921" y="4661714"/>
                  <a:pt x="2975516" y="4712671"/>
                  <a:pt x="3051729" y="4747846"/>
                </a:cubicBezTo>
                <a:cubicBezTo>
                  <a:pt x="3153132" y="4794648"/>
                  <a:pt x="3123562" y="4785436"/>
                  <a:pt x="3289122" y="4818184"/>
                </a:cubicBezTo>
                <a:cubicBezTo>
                  <a:pt x="3361913" y="4832582"/>
                  <a:pt x="3436746" y="4836167"/>
                  <a:pt x="3508929" y="4853353"/>
                </a:cubicBezTo>
                <a:cubicBezTo>
                  <a:pt x="3539702" y="4860680"/>
                  <a:pt x="3570673" y="4867222"/>
                  <a:pt x="3601249" y="4875334"/>
                </a:cubicBezTo>
                <a:cubicBezTo>
                  <a:pt x="3642495" y="4886277"/>
                  <a:pt x="3682791" y="4900779"/>
                  <a:pt x="3724341" y="4910503"/>
                </a:cubicBezTo>
                <a:cubicBezTo>
                  <a:pt x="3751787" y="4916926"/>
                  <a:pt x="3780135" y="4918650"/>
                  <a:pt x="3807868" y="4923692"/>
                </a:cubicBezTo>
                <a:cubicBezTo>
                  <a:pt x="3844626" y="4930375"/>
                  <a:pt x="3881030" y="4938905"/>
                  <a:pt x="3917772" y="4945673"/>
                </a:cubicBezTo>
                <a:cubicBezTo>
                  <a:pt x="3936727" y="4949165"/>
                  <a:pt x="3955660" y="4953769"/>
                  <a:pt x="3974922" y="4954465"/>
                </a:cubicBezTo>
                <a:cubicBezTo>
                  <a:pt x="4077442" y="4958170"/>
                  <a:pt x="4180075" y="4957396"/>
                  <a:pt x="4282652" y="4958861"/>
                </a:cubicBezTo>
                <a:cubicBezTo>
                  <a:pt x="4419939" y="4946380"/>
                  <a:pt x="4542945" y="4944853"/>
                  <a:pt x="4673910" y="4892919"/>
                </a:cubicBezTo>
                <a:cubicBezTo>
                  <a:pt x="4698010" y="4883362"/>
                  <a:pt x="4715312" y="4860759"/>
                  <a:pt x="4731060" y="4840165"/>
                </a:cubicBezTo>
                <a:cubicBezTo>
                  <a:pt x="4829008" y="4712079"/>
                  <a:pt x="4744832" y="4764806"/>
                  <a:pt x="4867341" y="4633546"/>
                </a:cubicBezTo>
                <a:cubicBezTo>
                  <a:pt x="4898578" y="4600078"/>
                  <a:pt x="4938633" y="4576038"/>
                  <a:pt x="4972849" y="4545623"/>
                </a:cubicBezTo>
                <a:cubicBezTo>
                  <a:pt x="5228981" y="4317949"/>
                  <a:pt x="5021899" y="4504769"/>
                  <a:pt x="5153091" y="4365380"/>
                </a:cubicBezTo>
                <a:cubicBezTo>
                  <a:pt x="5159522" y="4358547"/>
                  <a:pt x="5168838" y="4354809"/>
                  <a:pt x="5175072" y="4347796"/>
                </a:cubicBezTo>
                <a:cubicBezTo>
                  <a:pt x="5228163" y="4288069"/>
                  <a:pt x="5278398" y="4202104"/>
                  <a:pt x="5320145" y="4141176"/>
                </a:cubicBezTo>
                <a:cubicBezTo>
                  <a:pt x="5341118" y="4110567"/>
                  <a:pt x="5403781" y="4028071"/>
                  <a:pt x="5425652" y="3987311"/>
                </a:cubicBezTo>
                <a:cubicBezTo>
                  <a:pt x="5446415" y="3948617"/>
                  <a:pt x="5463164" y="3907892"/>
                  <a:pt x="5482802" y="3868615"/>
                </a:cubicBezTo>
                <a:cubicBezTo>
                  <a:pt x="5495408" y="3843403"/>
                  <a:pt x="5507235" y="3817661"/>
                  <a:pt x="5522368" y="3793880"/>
                </a:cubicBezTo>
                <a:cubicBezTo>
                  <a:pt x="5532626" y="3777761"/>
                  <a:pt x="5544363" y="3762493"/>
                  <a:pt x="5553141" y="3745523"/>
                </a:cubicBezTo>
                <a:cubicBezTo>
                  <a:pt x="5573756" y="3705667"/>
                  <a:pt x="5590753" y="3653222"/>
                  <a:pt x="5614687" y="3613638"/>
                </a:cubicBezTo>
                <a:cubicBezTo>
                  <a:pt x="5642659" y="3567377"/>
                  <a:pt x="5673707" y="3523042"/>
                  <a:pt x="5702610" y="3477357"/>
                </a:cubicBezTo>
                <a:cubicBezTo>
                  <a:pt x="5719137" y="3451234"/>
                  <a:pt x="5733141" y="3423480"/>
                  <a:pt x="5750968" y="3398226"/>
                </a:cubicBezTo>
                <a:cubicBezTo>
                  <a:pt x="5768553" y="3373315"/>
                  <a:pt x="5789266" y="3350340"/>
                  <a:pt x="5803722" y="3323492"/>
                </a:cubicBezTo>
                <a:cubicBezTo>
                  <a:pt x="5830458" y="3273839"/>
                  <a:pt x="5840222" y="3214740"/>
                  <a:pt x="5874060" y="3169626"/>
                </a:cubicBezTo>
                <a:cubicBezTo>
                  <a:pt x="5878456" y="3163765"/>
                  <a:pt x="5882068" y="3157223"/>
                  <a:pt x="5887249" y="3152042"/>
                </a:cubicBezTo>
                <a:cubicBezTo>
                  <a:pt x="5907045" y="3132246"/>
                  <a:pt x="5927826" y="3113442"/>
                  <a:pt x="5948795" y="3094892"/>
                </a:cubicBezTo>
                <a:cubicBezTo>
                  <a:pt x="5965940" y="3079726"/>
                  <a:pt x="5982211" y="3063177"/>
                  <a:pt x="6001549" y="3050930"/>
                </a:cubicBezTo>
                <a:cubicBezTo>
                  <a:pt x="6079854" y="3001336"/>
                  <a:pt x="6174686" y="2979603"/>
                  <a:pt x="6265318" y="2967403"/>
                </a:cubicBezTo>
                <a:cubicBezTo>
                  <a:pt x="6309104" y="2961509"/>
                  <a:pt x="6353241" y="2958611"/>
                  <a:pt x="6397202" y="2954215"/>
                </a:cubicBezTo>
                <a:cubicBezTo>
                  <a:pt x="6551068" y="2958611"/>
                  <a:pt x="6705330" y="2955515"/>
                  <a:pt x="6858799" y="2967403"/>
                </a:cubicBezTo>
                <a:cubicBezTo>
                  <a:pt x="6914105" y="2971687"/>
                  <a:pt x="6967129" y="2991363"/>
                  <a:pt x="7021456" y="3002573"/>
                </a:cubicBezTo>
                <a:cubicBezTo>
                  <a:pt x="7059454" y="3010414"/>
                  <a:pt x="7097314" y="3019311"/>
                  <a:pt x="7135756" y="3024553"/>
                </a:cubicBezTo>
                <a:cubicBezTo>
                  <a:pt x="7226349" y="3036906"/>
                  <a:pt x="7318386" y="3038838"/>
                  <a:pt x="7408318" y="3055326"/>
                </a:cubicBezTo>
                <a:cubicBezTo>
                  <a:pt x="7718413" y="3112177"/>
                  <a:pt x="7583089" y="3095340"/>
                  <a:pt x="7812764" y="3116873"/>
                </a:cubicBezTo>
                <a:cubicBezTo>
                  <a:pt x="7902152" y="3097823"/>
                  <a:pt x="7994549" y="3089583"/>
                  <a:pt x="8080929" y="3059723"/>
                </a:cubicBezTo>
                <a:cubicBezTo>
                  <a:pt x="8115553" y="3047754"/>
                  <a:pt x="8143362" y="3020093"/>
                  <a:pt x="8168852" y="2993780"/>
                </a:cubicBezTo>
                <a:cubicBezTo>
                  <a:pt x="8189497" y="2972469"/>
                  <a:pt x="8201944" y="2944489"/>
                  <a:pt x="8217210" y="2919046"/>
                </a:cubicBezTo>
                <a:cubicBezTo>
                  <a:pt x="8268577" y="2833435"/>
                  <a:pt x="8245312" y="2876031"/>
                  <a:pt x="8287549" y="2791557"/>
                </a:cubicBezTo>
                <a:cubicBezTo>
                  <a:pt x="8309807" y="2658004"/>
                  <a:pt x="8275984" y="2846858"/>
                  <a:pt x="8327114" y="2637692"/>
                </a:cubicBezTo>
                <a:cubicBezTo>
                  <a:pt x="8341344" y="2579477"/>
                  <a:pt x="8343400" y="2552664"/>
                  <a:pt x="8349095" y="2501411"/>
                </a:cubicBezTo>
                <a:cubicBezTo>
                  <a:pt x="8345947" y="2344015"/>
                  <a:pt x="8361938" y="2294940"/>
                  <a:pt x="8313926" y="2162907"/>
                </a:cubicBezTo>
                <a:cubicBezTo>
                  <a:pt x="8290524" y="2098552"/>
                  <a:pt x="8225466" y="2016697"/>
                  <a:pt x="8177645" y="1978269"/>
                </a:cubicBezTo>
                <a:cubicBezTo>
                  <a:pt x="8132587" y="1942061"/>
                  <a:pt x="8079070" y="1917751"/>
                  <a:pt x="8028176" y="1890346"/>
                </a:cubicBezTo>
                <a:cubicBezTo>
                  <a:pt x="7890748" y="1816346"/>
                  <a:pt x="7849777" y="1805710"/>
                  <a:pt x="7685276" y="1762857"/>
                </a:cubicBezTo>
                <a:cubicBezTo>
                  <a:pt x="7364223" y="1679222"/>
                  <a:pt x="7451148" y="1694628"/>
                  <a:pt x="7201699" y="1674934"/>
                </a:cubicBezTo>
                <a:cubicBezTo>
                  <a:pt x="7134291" y="1677865"/>
                  <a:pt x="7065981" y="1672350"/>
                  <a:pt x="6999476" y="1683726"/>
                </a:cubicBezTo>
                <a:cubicBezTo>
                  <a:pt x="6932139" y="1695244"/>
                  <a:pt x="6879523" y="1728944"/>
                  <a:pt x="6819233" y="1754065"/>
                </a:cubicBezTo>
                <a:cubicBezTo>
                  <a:pt x="6702495" y="1802706"/>
                  <a:pt x="6759685" y="1761187"/>
                  <a:pt x="6577445" y="1877157"/>
                </a:cubicBezTo>
                <a:cubicBezTo>
                  <a:pt x="6561326" y="1887415"/>
                  <a:pt x="6544372" y="1896466"/>
                  <a:pt x="6529087" y="1907930"/>
                </a:cubicBezTo>
                <a:cubicBezTo>
                  <a:pt x="6482060" y="1943201"/>
                  <a:pt x="6498692" y="1942682"/>
                  <a:pt x="6449956" y="1973873"/>
                </a:cubicBezTo>
                <a:cubicBezTo>
                  <a:pt x="6427298" y="1988374"/>
                  <a:pt x="6406085" y="2008626"/>
                  <a:pt x="6379618" y="2013438"/>
                </a:cubicBezTo>
                <a:cubicBezTo>
                  <a:pt x="6317582" y="2024717"/>
                  <a:pt x="6346803" y="2017049"/>
                  <a:pt x="6291695" y="2035419"/>
                </a:cubicBezTo>
                <a:cubicBezTo>
                  <a:pt x="6252130" y="2029557"/>
                  <a:pt x="6210944" y="2030482"/>
                  <a:pt x="6172999" y="2017834"/>
                </a:cubicBezTo>
                <a:cubicBezTo>
                  <a:pt x="6156259" y="2012254"/>
                  <a:pt x="6146185" y="1994862"/>
                  <a:pt x="6133433" y="1982665"/>
                </a:cubicBezTo>
                <a:cubicBezTo>
                  <a:pt x="6069763" y="1921763"/>
                  <a:pt x="6084119" y="1936846"/>
                  <a:pt x="6041114" y="1881553"/>
                </a:cubicBezTo>
                <a:cubicBezTo>
                  <a:pt x="6028402" y="1830705"/>
                  <a:pt x="6033573" y="1854508"/>
                  <a:pt x="6023529" y="1754065"/>
                </a:cubicBezTo>
                <a:lnTo>
                  <a:pt x="6014737" y="1666142"/>
                </a:lnTo>
                <a:cubicBezTo>
                  <a:pt x="6020599" y="1607527"/>
                  <a:pt x="6020351" y="1547974"/>
                  <a:pt x="6032322" y="1490296"/>
                </a:cubicBezTo>
                <a:cubicBezTo>
                  <a:pt x="6039301" y="1456671"/>
                  <a:pt x="6070935" y="1425783"/>
                  <a:pt x="6089472" y="1397976"/>
                </a:cubicBezTo>
                <a:cubicBezTo>
                  <a:pt x="6096025" y="1388146"/>
                  <a:pt x="6100747" y="1377192"/>
                  <a:pt x="6107056" y="1367203"/>
                </a:cubicBezTo>
                <a:cubicBezTo>
                  <a:pt x="6118342" y="1349335"/>
                  <a:pt x="6131150" y="1332449"/>
                  <a:pt x="6142226" y="1314450"/>
                </a:cubicBezTo>
                <a:cubicBezTo>
                  <a:pt x="6166800" y="1274518"/>
                  <a:pt x="6195595" y="1221245"/>
                  <a:pt x="6212564" y="1178169"/>
                </a:cubicBezTo>
                <a:cubicBezTo>
                  <a:pt x="6237080" y="1115937"/>
                  <a:pt x="6246435" y="1050324"/>
                  <a:pt x="6256526" y="984738"/>
                </a:cubicBezTo>
                <a:cubicBezTo>
                  <a:pt x="6250664" y="917330"/>
                  <a:pt x="6249230" y="849390"/>
                  <a:pt x="6238941" y="782515"/>
                </a:cubicBezTo>
                <a:cubicBezTo>
                  <a:pt x="6221676" y="670290"/>
                  <a:pt x="6168936" y="529401"/>
                  <a:pt x="6107056" y="439615"/>
                </a:cubicBezTo>
                <a:cubicBezTo>
                  <a:pt x="6035601" y="335935"/>
                  <a:pt x="5894237" y="259134"/>
                  <a:pt x="5790533" y="202223"/>
                </a:cubicBezTo>
                <a:cubicBezTo>
                  <a:pt x="5652400" y="126419"/>
                  <a:pt x="5557624" y="90505"/>
                  <a:pt x="5403672" y="43961"/>
                </a:cubicBezTo>
                <a:cubicBezTo>
                  <a:pt x="5350259" y="27813"/>
                  <a:pt x="5295945" y="14205"/>
                  <a:pt x="5241014" y="4396"/>
                </a:cubicBezTo>
                <a:cubicBezTo>
                  <a:pt x="5213567" y="-505"/>
                  <a:pt x="5185329" y="1465"/>
                  <a:pt x="5157487" y="0"/>
                </a:cubicBezTo>
                <a:cubicBezTo>
                  <a:pt x="5128179" y="8792"/>
                  <a:pt x="5097500" y="13894"/>
                  <a:pt x="5069564" y="26376"/>
                </a:cubicBezTo>
                <a:cubicBezTo>
                  <a:pt x="5028240" y="44840"/>
                  <a:pt x="4989915" y="69429"/>
                  <a:pt x="4950868" y="92319"/>
                </a:cubicBezTo>
                <a:cubicBezTo>
                  <a:pt x="4826338" y="165320"/>
                  <a:pt x="4850543" y="148879"/>
                  <a:pt x="4779418" y="202223"/>
                </a:cubicBezTo>
                <a:cubicBezTo>
                  <a:pt x="4773970" y="218569"/>
                  <a:pt x="4759784" y="260241"/>
                  <a:pt x="4757437" y="272561"/>
                </a:cubicBezTo>
                <a:cubicBezTo>
                  <a:pt x="4754408" y="288461"/>
                  <a:pt x="4754506" y="304800"/>
                  <a:pt x="4753041" y="320919"/>
                </a:cubicBezTo>
                <a:cubicBezTo>
                  <a:pt x="4755972" y="489438"/>
                  <a:pt x="4754121" y="658108"/>
                  <a:pt x="4761833" y="826476"/>
                </a:cubicBezTo>
                <a:cubicBezTo>
                  <a:pt x="4763141" y="855045"/>
                  <a:pt x="4810534" y="993127"/>
                  <a:pt x="4814587" y="1002323"/>
                </a:cubicBezTo>
                <a:cubicBezTo>
                  <a:pt x="4837844" y="1055099"/>
                  <a:pt x="4865709" y="1105772"/>
                  <a:pt x="4893718" y="1156188"/>
                </a:cubicBezTo>
                <a:cubicBezTo>
                  <a:pt x="4901045" y="1169376"/>
                  <a:pt x="4907703" y="1182959"/>
                  <a:pt x="4915699" y="1195753"/>
                </a:cubicBezTo>
                <a:cubicBezTo>
                  <a:pt x="4922380" y="1206442"/>
                  <a:pt x="4929378" y="1217039"/>
                  <a:pt x="4937679" y="1226526"/>
                </a:cubicBezTo>
                <a:cubicBezTo>
                  <a:pt x="4949961" y="1240563"/>
                  <a:pt x="4964768" y="1252228"/>
                  <a:pt x="4977245" y="1266092"/>
                </a:cubicBezTo>
                <a:cubicBezTo>
                  <a:pt x="4991177" y="1281573"/>
                  <a:pt x="5003095" y="1298776"/>
                  <a:pt x="5016810" y="1314450"/>
                </a:cubicBezTo>
                <a:cubicBezTo>
                  <a:pt x="5030744" y="1330375"/>
                  <a:pt x="5131034" y="1436271"/>
                  <a:pt x="5135506" y="1446334"/>
                </a:cubicBezTo>
                <a:cubicBezTo>
                  <a:pt x="5212058" y="1618576"/>
                  <a:pt x="5189257" y="1549301"/>
                  <a:pt x="5219033" y="1648557"/>
                </a:cubicBezTo>
                <a:cubicBezTo>
                  <a:pt x="5213172" y="1721826"/>
                  <a:pt x="5213842" y="1795914"/>
                  <a:pt x="5201449" y="1868365"/>
                </a:cubicBezTo>
                <a:cubicBezTo>
                  <a:pt x="5194651" y="1908106"/>
                  <a:pt x="5176856" y="1945230"/>
                  <a:pt x="5161883" y="1982665"/>
                </a:cubicBezTo>
                <a:cubicBezTo>
                  <a:pt x="5156022" y="1997319"/>
                  <a:pt x="5152419" y="2013093"/>
                  <a:pt x="5144299" y="2026626"/>
                </a:cubicBezTo>
                <a:cubicBezTo>
                  <a:pt x="5138968" y="2035511"/>
                  <a:pt x="5128952" y="2040647"/>
                  <a:pt x="5122318" y="2048607"/>
                </a:cubicBezTo>
                <a:cubicBezTo>
                  <a:pt x="5086840" y="2091180"/>
                  <a:pt x="5108931" y="2085266"/>
                  <a:pt x="5047583" y="2127738"/>
                </a:cubicBezTo>
                <a:cubicBezTo>
                  <a:pt x="4990751" y="2167083"/>
                  <a:pt x="4930426" y="2201125"/>
                  <a:pt x="4871737" y="2237642"/>
                </a:cubicBezTo>
                <a:cubicBezTo>
                  <a:pt x="4864482" y="2242156"/>
                  <a:pt x="4857862" y="2248128"/>
                  <a:pt x="4849756" y="2250830"/>
                </a:cubicBezTo>
                <a:lnTo>
                  <a:pt x="4810191" y="2264019"/>
                </a:lnTo>
                <a:cubicBezTo>
                  <a:pt x="4751576" y="2262554"/>
                  <a:pt x="4692864" y="2263281"/>
                  <a:pt x="4634345" y="2259623"/>
                </a:cubicBezTo>
                <a:cubicBezTo>
                  <a:pt x="4622285" y="2258869"/>
                  <a:pt x="4610379" y="2255359"/>
                  <a:pt x="4599176" y="2250830"/>
                </a:cubicBezTo>
                <a:cubicBezTo>
                  <a:pt x="4435566" y="2184690"/>
                  <a:pt x="4464382" y="2194451"/>
                  <a:pt x="4344199" y="2132134"/>
                </a:cubicBezTo>
                <a:cubicBezTo>
                  <a:pt x="4285932" y="2101922"/>
                  <a:pt x="4308517" y="2117193"/>
                  <a:pt x="4225502" y="2070588"/>
                </a:cubicBezTo>
                <a:cubicBezTo>
                  <a:pt x="4169396" y="2039090"/>
                  <a:pt x="4110542" y="2011640"/>
                  <a:pt x="4058449" y="1973873"/>
                </a:cubicBezTo>
                <a:lnTo>
                  <a:pt x="3882602" y="1846384"/>
                </a:lnTo>
                <a:cubicBezTo>
                  <a:pt x="3868086" y="1835932"/>
                  <a:pt x="3853524" y="1825533"/>
                  <a:pt x="3838641" y="1815611"/>
                </a:cubicBezTo>
                <a:cubicBezTo>
                  <a:pt x="3805161" y="1793291"/>
                  <a:pt x="3772682" y="1769248"/>
                  <a:pt x="3737529" y="1749669"/>
                </a:cubicBezTo>
                <a:lnTo>
                  <a:pt x="3390233" y="1556238"/>
                </a:lnTo>
                <a:cubicBezTo>
                  <a:pt x="3344112" y="1531308"/>
                  <a:pt x="3295998" y="1510227"/>
                  <a:pt x="3249556" y="1485900"/>
                </a:cubicBezTo>
                <a:cubicBezTo>
                  <a:pt x="3203662" y="1461860"/>
                  <a:pt x="3161200" y="1430848"/>
                  <a:pt x="3113276" y="1411165"/>
                </a:cubicBezTo>
                <a:cubicBezTo>
                  <a:pt x="3031214" y="1377461"/>
                  <a:pt x="2952169" y="1335190"/>
                  <a:pt x="2867091" y="1310053"/>
                </a:cubicBezTo>
                <a:cubicBezTo>
                  <a:pt x="2802614" y="1291003"/>
                  <a:pt x="2736149" y="1277708"/>
                  <a:pt x="2673660" y="1252903"/>
                </a:cubicBezTo>
                <a:cubicBezTo>
                  <a:pt x="2410588" y="1148478"/>
                  <a:pt x="2320613" y="1094136"/>
                  <a:pt x="2097764" y="984738"/>
                </a:cubicBezTo>
                <a:cubicBezTo>
                  <a:pt x="2081869" y="976935"/>
                  <a:pt x="2065461" y="970224"/>
                  <a:pt x="2049406" y="962757"/>
                </a:cubicBezTo>
                <a:cubicBezTo>
                  <a:pt x="2002448" y="940916"/>
                  <a:pt x="1958556" y="910933"/>
                  <a:pt x="1908729" y="896815"/>
                </a:cubicBezTo>
                <a:cubicBezTo>
                  <a:pt x="1820806" y="871903"/>
                  <a:pt x="1735638" y="833414"/>
                  <a:pt x="1644960" y="822080"/>
                </a:cubicBezTo>
                <a:lnTo>
                  <a:pt x="1574622" y="813288"/>
                </a:lnTo>
                <a:cubicBezTo>
                  <a:pt x="1555529" y="810655"/>
                  <a:pt x="1536695" y="805902"/>
                  <a:pt x="1517472" y="804496"/>
                </a:cubicBezTo>
                <a:cubicBezTo>
                  <a:pt x="1476524" y="801500"/>
                  <a:pt x="1435410" y="801565"/>
                  <a:pt x="1394379" y="800100"/>
                </a:cubicBezTo>
                <a:cubicBezTo>
                  <a:pt x="1277719" y="790376"/>
                  <a:pt x="1397279" y="800828"/>
                  <a:pt x="1302060" y="791307"/>
                </a:cubicBezTo>
                <a:cubicBezTo>
                  <a:pt x="1285955" y="789697"/>
                  <a:pt x="1269789" y="788698"/>
                  <a:pt x="1253702" y="786911"/>
                </a:cubicBezTo>
                <a:cubicBezTo>
                  <a:pt x="1131863" y="773374"/>
                  <a:pt x="1159185" y="778852"/>
                  <a:pt x="1135006" y="778119"/>
                </a:cubicBezTo>
                <a:close/>
              </a:path>
            </a:pathLst>
          </a:custGeom>
          <a:solidFill>
            <a:srgbClr val="FF33CC">
              <a:alpha val="27000"/>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12926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2D67C-E1E6-F9F5-5F90-89C53A36BB1B}"/>
            </a:ext>
          </a:extLst>
        </p:cNvPr>
        <p:cNvGrpSpPr/>
        <p:nvPr/>
      </p:nvGrpSpPr>
      <p:grpSpPr>
        <a:xfrm>
          <a:off x="0" y="0"/>
          <a:ext cx="0" cy="0"/>
          <a:chOff x="0" y="0"/>
          <a:chExt cx="0" cy="0"/>
        </a:xfrm>
      </p:grpSpPr>
      <p:pic>
        <p:nvPicPr>
          <p:cNvPr id="7" name="Graphic 6" descr="Sheep with solid fill">
            <a:extLst>
              <a:ext uri="{FF2B5EF4-FFF2-40B4-BE49-F238E27FC236}">
                <a16:creationId xmlns:a16="http://schemas.microsoft.com/office/drawing/2014/main" id="{9230DC84-4485-C558-D193-0089D8DCC90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84321" y="1453551"/>
            <a:ext cx="914400" cy="914400"/>
          </a:xfrm>
          <a:prstGeom prst="rect">
            <a:avLst/>
          </a:prstGeom>
        </p:spPr>
      </p:pic>
      <p:pic>
        <p:nvPicPr>
          <p:cNvPr id="9" name="Graphic 8" descr="Ram with solid fill">
            <a:extLst>
              <a:ext uri="{FF2B5EF4-FFF2-40B4-BE49-F238E27FC236}">
                <a16:creationId xmlns:a16="http://schemas.microsoft.com/office/drawing/2014/main" id="{63C9348E-7B12-E70A-F3F2-09AB9B54CF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9137" y="2224653"/>
            <a:ext cx="914400" cy="914400"/>
          </a:xfrm>
          <a:prstGeom prst="rect">
            <a:avLst/>
          </a:prstGeom>
        </p:spPr>
      </p:pic>
      <p:pic>
        <p:nvPicPr>
          <p:cNvPr id="12" name="Graphic 11" descr="Ram with solid fill">
            <a:extLst>
              <a:ext uri="{FF2B5EF4-FFF2-40B4-BE49-F238E27FC236}">
                <a16:creationId xmlns:a16="http://schemas.microsoft.com/office/drawing/2014/main" id="{50A47106-0ADE-2673-2A42-E529AF49497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9620" y="2985216"/>
            <a:ext cx="914400" cy="914400"/>
          </a:xfrm>
          <a:prstGeom prst="rect">
            <a:avLst/>
          </a:prstGeom>
        </p:spPr>
      </p:pic>
      <p:pic>
        <p:nvPicPr>
          <p:cNvPr id="13" name="Graphic 12" descr="Ram with solid fill">
            <a:extLst>
              <a:ext uri="{FF2B5EF4-FFF2-40B4-BE49-F238E27FC236}">
                <a16:creationId xmlns:a16="http://schemas.microsoft.com/office/drawing/2014/main" id="{793BFFC8-88EF-14A5-FBF2-6405195BF9C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36178" y="197881"/>
            <a:ext cx="914400" cy="914400"/>
          </a:xfrm>
          <a:prstGeom prst="rect">
            <a:avLst/>
          </a:prstGeom>
        </p:spPr>
      </p:pic>
      <p:pic>
        <p:nvPicPr>
          <p:cNvPr id="14" name="Graphic 13" descr="Ram with solid fill">
            <a:extLst>
              <a:ext uri="{FF2B5EF4-FFF2-40B4-BE49-F238E27FC236}">
                <a16:creationId xmlns:a16="http://schemas.microsoft.com/office/drawing/2014/main" id="{4EAAB9A0-C5DA-DAF3-F06F-768AD60E931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98721" y="634716"/>
            <a:ext cx="914400" cy="914400"/>
          </a:xfrm>
          <a:prstGeom prst="rect">
            <a:avLst/>
          </a:prstGeom>
        </p:spPr>
      </p:pic>
      <p:pic>
        <p:nvPicPr>
          <p:cNvPr id="15" name="Graphic 14" descr="Sheep with solid fill">
            <a:extLst>
              <a:ext uri="{FF2B5EF4-FFF2-40B4-BE49-F238E27FC236}">
                <a16:creationId xmlns:a16="http://schemas.microsoft.com/office/drawing/2014/main" id="{33308989-1711-4BD3-6054-D130F57219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9669" y="1269521"/>
            <a:ext cx="914400" cy="914400"/>
          </a:xfrm>
          <a:prstGeom prst="rect">
            <a:avLst/>
          </a:prstGeom>
        </p:spPr>
      </p:pic>
      <p:pic>
        <p:nvPicPr>
          <p:cNvPr id="16" name="Graphic 15" descr="Sheep with solid fill">
            <a:extLst>
              <a:ext uri="{FF2B5EF4-FFF2-40B4-BE49-F238E27FC236}">
                <a16:creationId xmlns:a16="http://schemas.microsoft.com/office/drawing/2014/main" id="{15B1E367-CEAA-BC06-0496-C4F7AAB4DE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98069" y="2353663"/>
            <a:ext cx="914400" cy="914400"/>
          </a:xfrm>
          <a:prstGeom prst="rect">
            <a:avLst/>
          </a:prstGeom>
        </p:spPr>
      </p:pic>
      <p:pic>
        <p:nvPicPr>
          <p:cNvPr id="17" name="Graphic 16" descr="Sheep with solid fill">
            <a:extLst>
              <a:ext uri="{FF2B5EF4-FFF2-40B4-BE49-F238E27FC236}">
                <a16:creationId xmlns:a16="http://schemas.microsoft.com/office/drawing/2014/main" id="{9D4BD87E-F9C8-4CDF-5B88-B1015F14EA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2220" y="3368616"/>
            <a:ext cx="914400" cy="914400"/>
          </a:xfrm>
          <a:prstGeom prst="rect">
            <a:avLst/>
          </a:prstGeom>
        </p:spPr>
      </p:pic>
      <p:pic>
        <p:nvPicPr>
          <p:cNvPr id="18" name="Graphic 17" descr="Sheep with solid fill">
            <a:extLst>
              <a:ext uri="{FF2B5EF4-FFF2-40B4-BE49-F238E27FC236}">
                <a16:creationId xmlns:a16="http://schemas.microsoft.com/office/drawing/2014/main" id="{29DCB3D1-931A-98D0-51F0-1DA7B662BF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85259" y="2070816"/>
            <a:ext cx="914400" cy="914400"/>
          </a:xfrm>
          <a:prstGeom prst="rect">
            <a:avLst/>
          </a:prstGeom>
        </p:spPr>
      </p:pic>
      <p:pic>
        <p:nvPicPr>
          <p:cNvPr id="19" name="Graphic 18" descr="Sheep with solid fill">
            <a:extLst>
              <a:ext uri="{FF2B5EF4-FFF2-40B4-BE49-F238E27FC236}">
                <a16:creationId xmlns:a16="http://schemas.microsoft.com/office/drawing/2014/main" id="{4B2220D2-0C52-DA71-178C-FC0C0665F38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14503" y="3649063"/>
            <a:ext cx="914400" cy="914400"/>
          </a:xfrm>
          <a:prstGeom prst="rect">
            <a:avLst/>
          </a:prstGeom>
        </p:spPr>
      </p:pic>
      <p:pic>
        <p:nvPicPr>
          <p:cNvPr id="20" name="Graphic 19" descr="Sheep with solid fill">
            <a:extLst>
              <a:ext uri="{FF2B5EF4-FFF2-40B4-BE49-F238E27FC236}">
                <a16:creationId xmlns:a16="http://schemas.microsoft.com/office/drawing/2014/main" id="{DB764201-56AB-A680-2CE0-868C84EF986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35895" y="1073270"/>
            <a:ext cx="914400" cy="914400"/>
          </a:xfrm>
          <a:prstGeom prst="rect">
            <a:avLst/>
          </a:prstGeom>
        </p:spPr>
      </p:pic>
      <p:pic>
        <p:nvPicPr>
          <p:cNvPr id="21" name="Graphic 20" descr="Sheep with solid fill">
            <a:extLst>
              <a:ext uri="{FF2B5EF4-FFF2-40B4-BE49-F238E27FC236}">
                <a16:creationId xmlns:a16="http://schemas.microsoft.com/office/drawing/2014/main" id="{69F2D8E6-8947-CBF3-3C22-CD322D1626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06817" y="634716"/>
            <a:ext cx="914400" cy="914400"/>
          </a:xfrm>
          <a:prstGeom prst="rect">
            <a:avLst/>
          </a:prstGeom>
        </p:spPr>
      </p:pic>
      <p:pic>
        <p:nvPicPr>
          <p:cNvPr id="22" name="Graphic 21" descr="Sheep with solid fill">
            <a:extLst>
              <a:ext uri="{FF2B5EF4-FFF2-40B4-BE49-F238E27FC236}">
                <a16:creationId xmlns:a16="http://schemas.microsoft.com/office/drawing/2014/main" id="{B1650B7C-71EF-9EDB-4D4F-6110A1AF8E1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11531" y="2277463"/>
            <a:ext cx="914400" cy="914400"/>
          </a:xfrm>
          <a:prstGeom prst="rect">
            <a:avLst/>
          </a:prstGeom>
        </p:spPr>
      </p:pic>
      <p:pic>
        <p:nvPicPr>
          <p:cNvPr id="24" name="Graphic 23" descr="Sheep with solid fill">
            <a:extLst>
              <a:ext uri="{FF2B5EF4-FFF2-40B4-BE49-F238E27FC236}">
                <a16:creationId xmlns:a16="http://schemas.microsoft.com/office/drawing/2014/main" id="{7CB63E18-E201-D97C-5255-73BFC041528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13352" y="3825816"/>
            <a:ext cx="914400" cy="914400"/>
          </a:xfrm>
          <a:prstGeom prst="rect">
            <a:avLst/>
          </a:prstGeom>
        </p:spPr>
      </p:pic>
      <p:pic>
        <p:nvPicPr>
          <p:cNvPr id="25" name="Graphic 24" descr="Sheep with solid fill">
            <a:extLst>
              <a:ext uri="{FF2B5EF4-FFF2-40B4-BE49-F238E27FC236}">
                <a16:creationId xmlns:a16="http://schemas.microsoft.com/office/drawing/2014/main" id="{BEC6AF06-9D60-2E05-1EF1-9B91063056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69379" y="3756318"/>
            <a:ext cx="914400" cy="914400"/>
          </a:xfrm>
          <a:prstGeom prst="rect">
            <a:avLst/>
          </a:prstGeom>
        </p:spPr>
      </p:pic>
      <p:sp>
        <p:nvSpPr>
          <p:cNvPr id="26" name="TextBox 25">
            <a:extLst>
              <a:ext uri="{FF2B5EF4-FFF2-40B4-BE49-F238E27FC236}">
                <a16:creationId xmlns:a16="http://schemas.microsoft.com/office/drawing/2014/main" id="{09B13C17-0242-1455-8485-E70CC2B16004}"/>
              </a:ext>
            </a:extLst>
          </p:cNvPr>
          <p:cNvSpPr txBox="1"/>
          <p:nvPr/>
        </p:nvSpPr>
        <p:spPr>
          <a:xfrm>
            <a:off x="6298721" y="522046"/>
            <a:ext cx="909223"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a:t>
            </a:r>
            <a:r>
              <a:rPr lang="en-US" sz="1050" dirty="0" err="1"/>
              <a:t>Red,Goat</a:t>
            </a:r>
            <a:endParaRPr lang="en-GB" sz="1050" dirty="0"/>
          </a:p>
        </p:txBody>
      </p:sp>
      <p:sp>
        <p:nvSpPr>
          <p:cNvPr id="27" name="TextBox 26">
            <a:extLst>
              <a:ext uri="{FF2B5EF4-FFF2-40B4-BE49-F238E27FC236}">
                <a16:creationId xmlns:a16="http://schemas.microsoft.com/office/drawing/2014/main" id="{7D4FC506-C757-5FF3-4971-FD5E4637D12C}"/>
              </a:ext>
            </a:extLst>
          </p:cNvPr>
          <p:cNvSpPr txBox="1"/>
          <p:nvPr/>
        </p:nvSpPr>
        <p:spPr>
          <a:xfrm>
            <a:off x="8033798" y="2224653"/>
            <a:ext cx="982961"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a:t>
            </a:r>
            <a:r>
              <a:rPr lang="en-US" sz="1050" dirty="0" err="1"/>
              <a:t>Red,Sheep</a:t>
            </a:r>
            <a:endParaRPr lang="en-GB" sz="1050" dirty="0"/>
          </a:p>
        </p:txBody>
      </p:sp>
      <p:sp>
        <p:nvSpPr>
          <p:cNvPr id="29" name="TextBox 28">
            <a:extLst>
              <a:ext uri="{FF2B5EF4-FFF2-40B4-BE49-F238E27FC236}">
                <a16:creationId xmlns:a16="http://schemas.microsoft.com/office/drawing/2014/main" id="{4881597A-4D5F-5B74-4BBA-7C9DF9205E56}"/>
              </a:ext>
            </a:extLst>
          </p:cNvPr>
          <p:cNvSpPr txBox="1"/>
          <p:nvPr/>
        </p:nvSpPr>
        <p:spPr>
          <a:xfrm>
            <a:off x="5990468" y="3068407"/>
            <a:ext cx="982961"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a:t>
            </a:r>
            <a:r>
              <a:rPr lang="en-US" sz="1050" dirty="0" err="1"/>
              <a:t>Red,Sheep</a:t>
            </a:r>
            <a:endParaRPr lang="en-GB" sz="1050" dirty="0"/>
          </a:p>
        </p:txBody>
      </p:sp>
      <p:sp>
        <p:nvSpPr>
          <p:cNvPr id="31" name="TextBox 30">
            <a:extLst>
              <a:ext uri="{FF2B5EF4-FFF2-40B4-BE49-F238E27FC236}">
                <a16:creationId xmlns:a16="http://schemas.microsoft.com/office/drawing/2014/main" id="{C7037894-C03C-BEE7-F51E-2F5C33FE2AAE}"/>
              </a:ext>
            </a:extLst>
          </p:cNvPr>
          <p:cNvSpPr txBox="1"/>
          <p:nvPr/>
        </p:nvSpPr>
        <p:spPr>
          <a:xfrm>
            <a:off x="2914248" y="3777973"/>
            <a:ext cx="939681"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a:t>
            </a:r>
            <a:r>
              <a:rPr lang="en-US" sz="1050" dirty="0" err="1"/>
              <a:t>Blue,Goat</a:t>
            </a:r>
            <a:endParaRPr lang="en-GB" sz="1050" dirty="0"/>
          </a:p>
        </p:txBody>
      </p:sp>
      <p:sp>
        <p:nvSpPr>
          <p:cNvPr id="32" name="TextBox 31">
            <a:extLst>
              <a:ext uri="{FF2B5EF4-FFF2-40B4-BE49-F238E27FC236}">
                <a16:creationId xmlns:a16="http://schemas.microsoft.com/office/drawing/2014/main" id="{0447F7CB-E613-B57D-859A-D19E0595C0F1}"/>
              </a:ext>
            </a:extLst>
          </p:cNvPr>
          <p:cNvSpPr txBox="1"/>
          <p:nvPr/>
        </p:nvSpPr>
        <p:spPr>
          <a:xfrm>
            <a:off x="2122759" y="4543760"/>
            <a:ext cx="1013419"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a:t>
            </a:r>
            <a:r>
              <a:rPr lang="en-US" sz="1050" dirty="0" err="1"/>
              <a:t>Blue,Sheep</a:t>
            </a:r>
            <a:endParaRPr lang="en-GB" sz="1050" dirty="0"/>
          </a:p>
        </p:txBody>
      </p:sp>
      <p:sp>
        <p:nvSpPr>
          <p:cNvPr id="33" name="TextBox 32">
            <a:extLst>
              <a:ext uri="{FF2B5EF4-FFF2-40B4-BE49-F238E27FC236}">
                <a16:creationId xmlns:a16="http://schemas.microsoft.com/office/drawing/2014/main" id="{8859B347-D6A2-5088-A751-CE7BED2CBCD8}"/>
              </a:ext>
            </a:extLst>
          </p:cNvPr>
          <p:cNvSpPr txBox="1"/>
          <p:nvPr/>
        </p:nvSpPr>
        <p:spPr>
          <a:xfrm>
            <a:off x="864269" y="3368616"/>
            <a:ext cx="1013419"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a:t>
            </a:r>
            <a:r>
              <a:rPr lang="en-US" sz="1050" dirty="0" err="1"/>
              <a:t>Blue,Sheep</a:t>
            </a:r>
            <a:endParaRPr lang="en-GB" sz="1050" dirty="0"/>
          </a:p>
        </p:txBody>
      </p:sp>
      <p:pic>
        <p:nvPicPr>
          <p:cNvPr id="2" name="Graphic 1" descr="Sheep with solid fill">
            <a:extLst>
              <a:ext uri="{FF2B5EF4-FFF2-40B4-BE49-F238E27FC236}">
                <a16:creationId xmlns:a16="http://schemas.microsoft.com/office/drawing/2014/main" id="{EA8FBC21-A8DD-351E-4896-56978CA27C8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351054" y="3368616"/>
            <a:ext cx="914400" cy="914400"/>
          </a:xfrm>
          <a:prstGeom prst="rect">
            <a:avLst/>
          </a:prstGeom>
        </p:spPr>
      </p:pic>
      <p:sp>
        <p:nvSpPr>
          <p:cNvPr id="3" name="TextBox 2">
            <a:extLst>
              <a:ext uri="{FF2B5EF4-FFF2-40B4-BE49-F238E27FC236}">
                <a16:creationId xmlns:a16="http://schemas.microsoft.com/office/drawing/2014/main" id="{361C8DAF-C636-43E2-F135-23F2E2FC4799}"/>
              </a:ext>
            </a:extLst>
          </p:cNvPr>
          <p:cNvSpPr txBox="1"/>
          <p:nvPr/>
        </p:nvSpPr>
        <p:spPr>
          <a:xfrm>
            <a:off x="7269669" y="4106263"/>
            <a:ext cx="995785" cy="253916"/>
          </a:xfrm>
          <a:prstGeom prst="rect">
            <a:avLst/>
          </a:prstGeom>
          <a:noFill/>
        </p:spPr>
        <p:txBody>
          <a:bodyPr wrap="none" rtlCol="0">
            <a:spAutoFit/>
          </a:bodyPr>
          <a:lstStyle/>
          <a:p>
            <a:r>
              <a:rPr lang="en-US" sz="1050" b="1" dirty="0">
                <a:solidFill>
                  <a:srgbClr val="FF33CC"/>
                </a:solidFill>
                <a:latin typeface="Consolas" panose="020B0609020204030204" pitchFamily="49" charset="0"/>
              </a:rPr>
              <a:t>S-124 Sheep</a:t>
            </a:r>
            <a:endParaRPr lang="en-GB" sz="1050" b="1" dirty="0">
              <a:solidFill>
                <a:srgbClr val="FF33CC"/>
              </a:solidFill>
            </a:endParaRPr>
          </a:p>
        </p:txBody>
      </p:sp>
      <p:sp>
        <p:nvSpPr>
          <p:cNvPr id="4" name="Rectangle 3">
            <a:extLst>
              <a:ext uri="{FF2B5EF4-FFF2-40B4-BE49-F238E27FC236}">
                <a16:creationId xmlns:a16="http://schemas.microsoft.com/office/drawing/2014/main" id="{0CFBEBF8-692B-F563-3E53-573EA3C0B654}"/>
              </a:ext>
            </a:extLst>
          </p:cNvPr>
          <p:cNvSpPr/>
          <p:nvPr/>
        </p:nvSpPr>
        <p:spPr>
          <a:xfrm>
            <a:off x="7188283" y="3330016"/>
            <a:ext cx="1137067" cy="1197403"/>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8DA54A62-4C48-6FE0-CA68-07C192797176}"/>
              </a:ext>
            </a:extLst>
          </p:cNvPr>
          <p:cNvSpPr txBox="1"/>
          <p:nvPr/>
        </p:nvSpPr>
        <p:spPr>
          <a:xfrm>
            <a:off x="7265335" y="4289844"/>
            <a:ext cx="737702" cy="253916"/>
          </a:xfrm>
          <a:prstGeom prst="rect">
            <a:avLst/>
          </a:prstGeom>
          <a:noFill/>
        </p:spPr>
        <p:txBody>
          <a:bodyPr wrap="none" rtlCol="0">
            <a:spAutoFit/>
          </a:bodyPr>
          <a:lstStyle/>
          <a:p>
            <a:r>
              <a:rPr lang="en-US" sz="1050" dirty="0">
                <a:latin typeface="Consolas" panose="020B0609020204030204" pitchFamily="49" charset="0"/>
              </a:rPr>
              <a:t>II</a:t>
            </a:r>
            <a:r>
              <a:rPr lang="en-US" sz="1050" dirty="0"/>
              <a:t>=Sheep</a:t>
            </a:r>
            <a:endParaRPr lang="en-GB" sz="1050" dirty="0"/>
          </a:p>
        </p:txBody>
      </p:sp>
      <p:sp>
        <p:nvSpPr>
          <p:cNvPr id="8" name="Freeform: Shape 7">
            <a:extLst>
              <a:ext uri="{FF2B5EF4-FFF2-40B4-BE49-F238E27FC236}">
                <a16:creationId xmlns:a16="http://schemas.microsoft.com/office/drawing/2014/main" id="{3E8FF723-4262-48B8-83E9-73C9C4CD5A94}"/>
              </a:ext>
            </a:extLst>
          </p:cNvPr>
          <p:cNvSpPr/>
          <p:nvPr/>
        </p:nvSpPr>
        <p:spPr>
          <a:xfrm>
            <a:off x="361474" y="565030"/>
            <a:ext cx="8824427" cy="5460521"/>
          </a:xfrm>
          <a:custGeom>
            <a:avLst/>
            <a:gdLst>
              <a:gd name="connsiteX0" fmla="*/ 1100703 w 8824427"/>
              <a:gd name="connsiteY0" fmla="*/ 543464 h 5460521"/>
              <a:gd name="connsiteX1" fmla="*/ 1079137 w 8824427"/>
              <a:gd name="connsiteY1" fmla="*/ 569344 h 5460521"/>
              <a:gd name="connsiteX2" fmla="*/ 966994 w 8824427"/>
              <a:gd name="connsiteY2" fmla="*/ 823823 h 5460521"/>
              <a:gd name="connsiteX3" fmla="*/ 949741 w 8824427"/>
              <a:gd name="connsiteY3" fmla="*/ 897147 h 5460521"/>
              <a:gd name="connsiteX4" fmla="*/ 936801 w 8824427"/>
              <a:gd name="connsiteY4" fmla="*/ 974785 h 5460521"/>
              <a:gd name="connsiteX5" fmla="*/ 954054 w 8824427"/>
              <a:gd name="connsiteY5" fmla="*/ 1237891 h 5460521"/>
              <a:gd name="connsiteX6" fmla="*/ 979934 w 8824427"/>
              <a:gd name="connsiteY6" fmla="*/ 1276710 h 5460521"/>
              <a:gd name="connsiteX7" fmla="*/ 1087764 w 8824427"/>
              <a:gd name="connsiteY7" fmla="*/ 1388853 h 5460521"/>
              <a:gd name="connsiteX8" fmla="*/ 1217160 w 8824427"/>
              <a:gd name="connsiteY8" fmla="*/ 1470804 h 5460521"/>
              <a:gd name="connsiteX9" fmla="*/ 1268918 w 8824427"/>
              <a:gd name="connsiteY9" fmla="*/ 1496683 h 5460521"/>
              <a:gd name="connsiteX10" fmla="*/ 1458700 w 8824427"/>
              <a:gd name="connsiteY10" fmla="*/ 1561381 h 5460521"/>
              <a:gd name="connsiteX11" fmla="*/ 1739058 w 8824427"/>
              <a:gd name="connsiteY11" fmla="*/ 1639019 h 5460521"/>
              <a:gd name="connsiteX12" fmla="*/ 1812383 w 8824427"/>
              <a:gd name="connsiteY12" fmla="*/ 1686464 h 5460521"/>
              <a:gd name="connsiteX13" fmla="*/ 1911586 w 8824427"/>
              <a:gd name="connsiteY13" fmla="*/ 1768415 h 5460521"/>
              <a:gd name="connsiteX14" fmla="*/ 1954718 w 8824427"/>
              <a:gd name="connsiteY14" fmla="*/ 1841740 h 5460521"/>
              <a:gd name="connsiteX15" fmla="*/ 1967658 w 8824427"/>
              <a:gd name="connsiteY15" fmla="*/ 1858993 h 5460521"/>
              <a:gd name="connsiteX16" fmla="*/ 1984911 w 8824427"/>
              <a:gd name="connsiteY16" fmla="*/ 1962510 h 5460521"/>
              <a:gd name="connsiteX17" fmla="*/ 1993537 w 8824427"/>
              <a:gd name="connsiteY17" fmla="*/ 2044461 h 5460521"/>
              <a:gd name="connsiteX18" fmla="*/ 1963345 w 8824427"/>
              <a:gd name="connsiteY18" fmla="*/ 2268747 h 5460521"/>
              <a:gd name="connsiteX19" fmla="*/ 1907273 w 8824427"/>
              <a:gd name="connsiteY19" fmla="*/ 2398144 h 5460521"/>
              <a:gd name="connsiteX20" fmla="*/ 1864141 w 8824427"/>
              <a:gd name="connsiteY20" fmla="*/ 2462842 h 5460521"/>
              <a:gd name="connsiteX21" fmla="*/ 1812383 w 8824427"/>
              <a:gd name="connsiteY21" fmla="*/ 2549106 h 5460521"/>
              <a:gd name="connsiteX22" fmla="*/ 1687300 w 8824427"/>
              <a:gd name="connsiteY22" fmla="*/ 2643996 h 5460521"/>
              <a:gd name="connsiteX23" fmla="*/ 1648481 w 8824427"/>
              <a:gd name="connsiteY23" fmla="*/ 2669876 h 5460521"/>
              <a:gd name="connsiteX24" fmla="*/ 1527711 w 8824427"/>
              <a:gd name="connsiteY24" fmla="*/ 2695755 h 5460521"/>
              <a:gd name="connsiteX25" fmla="*/ 1402628 w 8824427"/>
              <a:gd name="connsiteY25" fmla="*/ 2721634 h 5460521"/>
              <a:gd name="connsiteX26" fmla="*/ 1299111 w 8824427"/>
              <a:gd name="connsiteY26" fmla="*/ 2734574 h 5460521"/>
              <a:gd name="connsiteX27" fmla="*/ 432156 w 8824427"/>
              <a:gd name="connsiteY27" fmla="*/ 2738887 h 5460521"/>
              <a:gd name="connsiteX28" fmla="*/ 363145 w 8824427"/>
              <a:gd name="connsiteY28" fmla="*/ 2760453 h 5460521"/>
              <a:gd name="connsiteX29" fmla="*/ 242375 w 8824427"/>
              <a:gd name="connsiteY29" fmla="*/ 2825151 h 5460521"/>
              <a:gd name="connsiteX30" fmla="*/ 138858 w 8824427"/>
              <a:gd name="connsiteY30" fmla="*/ 2894162 h 5460521"/>
              <a:gd name="connsiteX31" fmla="*/ 104352 w 8824427"/>
              <a:gd name="connsiteY31" fmla="*/ 2937295 h 5460521"/>
              <a:gd name="connsiteX32" fmla="*/ 82786 w 8824427"/>
              <a:gd name="connsiteY32" fmla="*/ 2958861 h 5460521"/>
              <a:gd name="connsiteX33" fmla="*/ 65534 w 8824427"/>
              <a:gd name="connsiteY33" fmla="*/ 2993366 h 5460521"/>
              <a:gd name="connsiteX34" fmla="*/ 18088 w 8824427"/>
              <a:gd name="connsiteY34" fmla="*/ 3083944 h 5460521"/>
              <a:gd name="connsiteX35" fmla="*/ 9462 w 8824427"/>
              <a:gd name="connsiteY35" fmla="*/ 3118449 h 5460521"/>
              <a:gd name="connsiteX36" fmla="*/ 835 w 8824427"/>
              <a:gd name="connsiteY36" fmla="*/ 3217653 h 5460521"/>
              <a:gd name="connsiteX37" fmla="*/ 13775 w 8824427"/>
              <a:gd name="connsiteY37" fmla="*/ 3334110 h 5460521"/>
              <a:gd name="connsiteX38" fmla="*/ 35341 w 8824427"/>
              <a:gd name="connsiteY38" fmla="*/ 3407434 h 5460521"/>
              <a:gd name="connsiteX39" fmla="*/ 48281 w 8824427"/>
              <a:gd name="connsiteY39" fmla="*/ 3476445 h 5460521"/>
              <a:gd name="connsiteX40" fmla="*/ 104352 w 8824427"/>
              <a:gd name="connsiteY40" fmla="*/ 3597215 h 5460521"/>
              <a:gd name="connsiteX41" fmla="*/ 125918 w 8824427"/>
              <a:gd name="connsiteY41" fmla="*/ 3648974 h 5460521"/>
              <a:gd name="connsiteX42" fmla="*/ 181990 w 8824427"/>
              <a:gd name="connsiteY42" fmla="*/ 3761117 h 5460521"/>
              <a:gd name="connsiteX43" fmla="*/ 246688 w 8824427"/>
              <a:gd name="connsiteY43" fmla="*/ 3877574 h 5460521"/>
              <a:gd name="connsiteX44" fmla="*/ 358832 w 8824427"/>
              <a:gd name="connsiteY44" fmla="*/ 4011283 h 5460521"/>
              <a:gd name="connsiteX45" fmla="*/ 458035 w 8824427"/>
              <a:gd name="connsiteY45" fmla="*/ 4123427 h 5460521"/>
              <a:gd name="connsiteX46" fmla="*/ 492541 w 8824427"/>
              <a:gd name="connsiteY46" fmla="*/ 4162245 h 5460521"/>
              <a:gd name="connsiteX47" fmla="*/ 772900 w 8824427"/>
              <a:gd name="connsiteY47" fmla="*/ 4377906 h 5460521"/>
              <a:gd name="connsiteX48" fmla="*/ 919549 w 8824427"/>
              <a:gd name="connsiteY48" fmla="*/ 4498676 h 5460521"/>
              <a:gd name="connsiteX49" fmla="*/ 1165401 w 8824427"/>
              <a:gd name="connsiteY49" fmla="*/ 4653951 h 5460521"/>
              <a:gd name="connsiteX50" fmla="*/ 1389688 w 8824427"/>
              <a:gd name="connsiteY50" fmla="*/ 4757468 h 5460521"/>
              <a:gd name="connsiteX51" fmla="*/ 1488892 w 8824427"/>
              <a:gd name="connsiteY51" fmla="*/ 4809227 h 5460521"/>
              <a:gd name="connsiteX52" fmla="*/ 1626915 w 8824427"/>
              <a:gd name="connsiteY52" fmla="*/ 4865298 h 5460521"/>
              <a:gd name="connsiteX53" fmla="*/ 1777877 w 8824427"/>
              <a:gd name="connsiteY53" fmla="*/ 4938623 h 5460521"/>
              <a:gd name="connsiteX54" fmla="*/ 2079801 w 8824427"/>
              <a:gd name="connsiteY54" fmla="*/ 5068019 h 5460521"/>
              <a:gd name="connsiteX55" fmla="*/ 2222137 w 8824427"/>
              <a:gd name="connsiteY55" fmla="*/ 5128404 h 5460521"/>
              <a:gd name="connsiteX56" fmla="*/ 2713843 w 8824427"/>
              <a:gd name="connsiteY56" fmla="*/ 5275053 h 5460521"/>
              <a:gd name="connsiteX57" fmla="*/ 3007141 w 8824427"/>
              <a:gd name="connsiteY57" fmla="*/ 5361317 h 5460521"/>
              <a:gd name="connsiteX58" fmla="*/ 3265934 w 8824427"/>
              <a:gd name="connsiteY58" fmla="*/ 5387196 h 5460521"/>
              <a:gd name="connsiteX59" fmla="*/ 3356511 w 8824427"/>
              <a:gd name="connsiteY59" fmla="*/ 5395823 h 5460521"/>
              <a:gd name="connsiteX60" fmla="*/ 3498847 w 8824427"/>
              <a:gd name="connsiteY60" fmla="*/ 5417389 h 5460521"/>
              <a:gd name="connsiteX61" fmla="*/ 3744700 w 8824427"/>
              <a:gd name="connsiteY61" fmla="*/ 5456208 h 5460521"/>
              <a:gd name="connsiteX62" fmla="*/ 3861156 w 8824427"/>
              <a:gd name="connsiteY62" fmla="*/ 5460521 h 5460521"/>
              <a:gd name="connsiteX63" fmla="*/ 4253658 w 8824427"/>
              <a:gd name="connsiteY63" fmla="*/ 5438955 h 5460521"/>
              <a:gd name="connsiteX64" fmla="*/ 4525390 w 8824427"/>
              <a:gd name="connsiteY64" fmla="*/ 5357004 h 5460521"/>
              <a:gd name="connsiteX65" fmla="*/ 4702232 w 8824427"/>
              <a:gd name="connsiteY65" fmla="*/ 5279366 h 5460521"/>
              <a:gd name="connsiteX66" fmla="*/ 4753990 w 8824427"/>
              <a:gd name="connsiteY66" fmla="*/ 5262113 h 5460521"/>
              <a:gd name="connsiteX67" fmla="*/ 4805749 w 8824427"/>
              <a:gd name="connsiteY67" fmla="*/ 5236234 h 5460521"/>
              <a:gd name="connsiteX68" fmla="*/ 4870447 w 8824427"/>
              <a:gd name="connsiteY68" fmla="*/ 5218981 h 5460521"/>
              <a:gd name="connsiteX69" fmla="*/ 4935145 w 8824427"/>
              <a:gd name="connsiteY69" fmla="*/ 5193102 h 5460521"/>
              <a:gd name="connsiteX70" fmla="*/ 5064541 w 8824427"/>
              <a:gd name="connsiteY70" fmla="*/ 5141344 h 5460521"/>
              <a:gd name="connsiteX71" fmla="*/ 5146492 w 8824427"/>
              <a:gd name="connsiteY71" fmla="*/ 5089585 h 5460521"/>
              <a:gd name="connsiteX72" fmla="*/ 5219817 w 8824427"/>
              <a:gd name="connsiteY72" fmla="*/ 5024887 h 5460521"/>
              <a:gd name="connsiteX73" fmla="*/ 5284515 w 8824427"/>
              <a:gd name="connsiteY73" fmla="*/ 4977442 h 5460521"/>
              <a:gd name="connsiteX74" fmla="*/ 5366466 w 8824427"/>
              <a:gd name="connsiteY74" fmla="*/ 4904117 h 5460521"/>
              <a:gd name="connsiteX75" fmla="*/ 5444103 w 8824427"/>
              <a:gd name="connsiteY75" fmla="*/ 4835106 h 5460521"/>
              <a:gd name="connsiteX76" fmla="*/ 5500175 w 8824427"/>
              <a:gd name="connsiteY76" fmla="*/ 4757468 h 5460521"/>
              <a:gd name="connsiteX77" fmla="*/ 5556247 w 8824427"/>
              <a:gd name="connsiteY77" fmla="*/ 4684144 h 5460521"/>
              <a:gd name="connsiteX78" fmla="*/ 5590752 w 8824427"/>
              <a:gd name="connsiteY78" fmla="*/ 4641012 h 5460521"/>
              <a:gd name="connsiteX79" fmla="*/ 5659764 w 8824427"/>
              <a:gd name="connsiteY79" fmla="*/ 4472796 h 5460521"/>
              <a:gd name="connsiteX80" fmla="*/ 5677017 w 8824427"/>
              <a:gd name="connsiteY80" fmla="*/ 4433978 h 5460521"/>
              <a:gd name="connsiteX81" fmla="*/ 5685643 w 8824427"/>
              <a:gd name="connsiteY81" fmla="*/ 4399472 h 5460521"/>
              <a:gd name="connsiteX82" fmla="*/ 5702896 w 8824427"/>
              <a:gd name="connsiteY82" fmla="*/ 4356340 h 5460521"/>
              <a:gd name="connsiteX83" fmla="*/ 5711522 w 8824427"/>
              <a:gd name="connsiteY83" fmla="*/ 4321834 h 5460521"/>
              <a:gd name="connsiteX84" fmla="*/ 5733088 w 8824427"/>
              <a:gd name="connsiteY84" fmla="*/ 4274389 h 5460521"/>
              <a:gd name="connsiteX85" fmla="*/ 5750341 w 8824427"/>
              <a:gd name="connsiteY85" fmla="*/ 4222630 h 5460521"/>
              <a:gd name="connsiteX86" fmla="*/ 5784847 w 8824427"/>
              <a:gd name="connsiteY86" fmla="*/ 4157932 h 5460521"/>
              <a:gd name="connsiteX87" fmla="*/ 5840918 w 8824427"/>
              <a:gd name="connsiteY87" fmla="*/ 4019910 h 5460521"/>
              <a:gd name="connsiteX88" fmla="*/ 5922869 w 8824427"/>
              <a:gd name="connsiteY88" fmla="*/ 3778370 h 5460521"/>
              <a:gd name="connsiteX89" fmla="*/ 5996194 w 8824427"/>
              <a:gd name="connsiteY89" fmla="*/ 3640347 h 5460521"/>
              <a:gd name="connsiteX90" fmla="*/ 6000507 w 8824427"/>
              <a:gd name="connsiteY90" fmla="*/ 3623095 h 5460521"/>
              <a:gd name="connsiteX91" fmla="*/ 6022073 w 8824427"/>
              <a:gd name="connsiteY91" fmla="*/ 3601528 h 5460521"/>
              <a:gd name="connsiteX92" fmla="*/ 6099711 w 8824427"/>
              <a:gd name="connsiteY92" fmla="*/ 3549770 h 5460521"/>
              <a:gd name="connsiteX93" fmla="*/ 6198915 w 8824427"/>
              <a:gd name="connsiteY93" fmla="*/ 3463506 h 5460521"/>
              <a:gd name="connsiteX94" fmla="*/ 6250673 w 8824427"/>
              <a:gd name="connsiteY94" fmla="*/ 3403121 h 5460521"/>
              <a:gd name="connsiteX95" fmla="*/ 6276552 w 8824427"/>
              <a:gd name="connsiteY95" fmla="*/ 3368615 h 5460521"/>
              <a:gd name="connsiteX96" fmla="*/ 6332624 w 8824427"/>
              <a:gd name="connsiteY96" fmla="*/ 3312544 h 5460521"/>
              <a:gd name="connsiteX97" fmla="*/ 6397322 w 8824427"/>
              <a:gd name="connsiteY97" fmla="*/ 3234906 h 5460521"/>
              <a:gd name="connsiteX98" fmla="*/ 6462020 w 8824427"/>
              <a:gd name="connsiteY98" fmla="*/ 3096883 h 5460521"/>
              <a:gd name="connsiteX99" fmla="*/ 6535345 w 8824427"/>
              <a:gd name="connsiteY99" fmla="*/ 2907102 h 5460521"/>
              <a:gd name="connsiteX100" fmla="*/ 6561224 w 8824427"/>
              <a:gd name="connsiteY100" fmla="*/ 2868283 h 5460521"/>
              <a:gd name="connsiteX101" fmla="*/ 6858835 w 8824427"/>
              <a:gd name="connsiteY101" fmla="*/ 2669876 h 5460521"/>
              <a:gd name="connsiteX102" fmla="*/ 7156447 w 8824427"/>
              <a:gd name="connsiteY102" fmla="*/ 2531853 h 5460521"/>
              <a:gd name="connsiteX103" fmla="*/ 7423866 w 8824427"/>
              <a:gd name="connsiteY103" fmla="*/ 2480095 h 5460521"/>
              <a:gd name="connsiteX104" fmla="*/ 8510794 w 8824427"/>
              <a:gd name="connsiteY104" fmla="*/ 2493034 h 5460521"/>
              <a:gd name="connsiteX105" fmla="*/ 8545300 w 8824427"/>
              <a:gd name="connsiteY105" fmla="*/ 2497347 h 5460521"/>
              <a:gd name="connsiteX106" fmla="*/ 8657443 w 8824427"/>
              <a:gd name="connsiteY106" fmla="*/ 2501661 h 5460521"/>
              <a:gd name="connsiteX107" fmla="*/ 8726454 w 8824427"/>
              <a:gd name="connsiteY107" fmla="*/ 2488721 h 5460521"/>
              <a:gd name="connsiteX108" fmla="*/ 8812718 w 8824427"/>
              <a:gd name="connsiteY108" fmla="*/ 2333445 h 5460521"/>
              <a:gd name="connsiteX109" fmla="*/ 8817032 w 8824427"/>
              <a:gd name="connsiteY109" fmla="*/ 2070340 h 5460521"/>
              <a:gd name="connsiteX110" fmla="*/ 8799779 w 8824427"/>
              <a:gd name="connsiteY110" fmla="*/ 2005642 h 5460521"/>
              <a:gd name="connsiteX111" fmla="*/ 8756647 w 8824427"/>
              <a:gd name="connsiteY111" fmla="*/ 1871932 h 5460521"/>
              <a:gd name="connsiteX112" fmla="*/ 8463349 w 8824427"/>
              <a:gd name="connsiteY112" fmla="*/ 1406106 h 5460521"/>
              <a:gd name="connsiteX113" fmla="*/ 8096726 w 8824427"/>
              <a:gd name="connsiteY113" fmla="*/ 996351 h 5460521"/>
              <a:gd name="connsiteX114" fmla="*/ 7751669 w 8824427"/>
              <a:gd name="connsiteY114" fmla="*/ 806570 h 5460521"/>
              <a:gd name="connsiteX115" fmla="*/ 7544635 w 8824427"/>
              <a:gd name="connsiteY115" fmla="*/ 711679 h 5460521"/>
              <a:gd name="connsiteX116" fmla="*/ 7350541 w 8824427"/>
              <a:gd name="connsiteY116" fmla="*/ 625415 h 5460521"/>
              <a:gd name="connsiteX117" fmla="*/ 7247024 w 8824427"/>
              <a:gd name="connsiteY117" fmla="*/ 582283 h 5460521"/>
              <a:gd name="connsiteX118" fmla="*/ 7182326 w 8824427"/>
              <a:gd name="connsiteY118" fmla="*/ 569344 h 5460521"/>
              <a:gd name="connsiteX119" fmla="*/ 7134881 w 8824427"/>
              <a:gd name="connsiteY119" fmla="*/ 590910 h 5460521"/>
              <a:gd name="connsiteX120" fmla="*/ 7078809 w 8824427"/>
              <a:gd name="connsiteY120" fmla="*/ 608162 h 5460521"/>
              <a:gd name="connsiteX121" fmla="*/ 6975292 w 8824427"/>
              <a:gd name="connsiteY121" fmla="*/ 646981 h 5460521"/>
              <a:gd name="connsiteX122" fmla="*/ 6854522 w 8824427"/>
              <a:gd name="connsiteY122" fmla="*/ 703053 h 5460521"/>
              <a:gd name="connsiteX123" fmla="*/ 6781198 w 8824427"/>
              <a:gd name="connsiteY123" fmla="*/ 733245 h 5460521"/>
              <a:gd name="connsiteX124" fmla="*/ 6612983 w 8824427"/>
              <a:gd name="connsiteY124" fmla="*/ 849702 h 5460521"/>
              <a:gd name="connsiteX125" fmla="*/ 6565537 w 8824427"/>
              <a:gd name="connsiteY125" fmla="*/ 884208 h 5460521"/>
              <a:gd name="connsiteX126" fmla="*/ 6401635 w 8824427"/>
              <a:gd name="connsiteY126" fmla="*/ 979098 h 5460521"/>
              <a:gd name="connsiteX127" fmla="*/ 6298118 w 8824427"/>
              <a:gd name="connsiteY127" fmla="*/ 1022230 h 5460521"/>
              <a:gd name="connsiteX128" fmla="*/ 6259300 w 8824427"/>
              <a:gd name="connsiteY128" fmla="*/ 1043796 h 5460521"/>
              <a:gd name="connsiteX129" fmla="*/ 6194601 w 8824427"/>
              <a:gd name="connsiteY129" fmla="*/ 1073989 h 5460521"/>
              <a:gd name="connsiteX130" fmla="*/ 6017760 w 8824427"/>
              <a:gd name="connsiteY130" fmla="*/ 1134374 h 5460521"/>
              <a:gd name="connsiteX131" fmla="*/ 5957375 w 8824427"/>
              <a:gd name="connsiteY131" fmla="*/ 1130061 h 5460521"/>
              <a:gd name="connsiteX132" fmla="*/ 5810726 w 8824427"/>
              <a:gd name="connsiteY132" fmla="*/ 1039483 h 5460521"/>
              <a:gd name="connsiteX133" fmla="*/ 5793473 w 8824427"/>
              <a:gd name="connsiteY133" fmla="*/ 1017917 h 5460521"/>
              <a:gd name="connsiteX134" fmla="*/ 5720149 w 8824427"/>
              <a:gd name="connsiteY134" fmla="*/ 866955 h 5460521"/>
              <a:gd name="connsiteX135" fmla="*/ 5625258 w 8824427"/>
              <a:gd name="connsiteY135" fmla="*/ 767751 h 5460521"/>
              <a:gd name="connsiteX136" fmla="*/ 5426851 w 8824427"/>
              <a:gd name="connsiteY136" fmla="*/ 595223 h 5460521"/>
              <a:gd name="connsiteX137" fmla="*/ 5353526 w 8824427"/>
              <a:gd name="connsiteY137" fmla="*/ 534838 h 5460521"/>
              <a:gd name="connsiteX138" fmla="*/ 5288828 w 8824427"/>
              <a:gd name="connsiteY138" fmla="*/ 474453 h 5460521"/>
              <a:gd name="connsiteX139" fmla="*/ 5189624 w 8824427"/>
              <a:gd name="connsiteY139" fmla="*/ 396815 h 5460521"/>
              <a:gd name="connsiteX140" fmla="*/ 5150805 w 8824427"/>
              <a:gd name="connsiteY140" fmla="*/ 362310 h 5460521"/>
              <a:gd name="connsiteX141" fmla="*/ 5090420 w 8824427"/>
              <a:gd name="connsiteY141" fmla="*/ 319178 h 5460521"/>
              <a:gd name="connsiteX142" fmla="*/ 4883386 w 8824427"/>
              <a:gd name="connsiteY142" fmla="*/ 189781 h 5460521"/>
              <a:gd name="connsiteX143" fmla="*/ 4792809 w 8824427"/>
              <a:gd name="connsiteY143" fmla="*/ 133710 h 5460521"/>
              <a:gd name="connsiteX144" fmla="*/ 4585775 w 8824427"/>
              <a:gd name="connsiteY144" fmla="*/ 47445 h 5460521"/>
              <a:gd name="connsiteX145" fmla="*/ 4439126 w 8824427"/>
              <a:gd name="connsiteY145" fmla="*/ 4313 h 5460521"/>
              <a:gd name="connsiteX146" fmla="*/ 4408934 w 8824427"/>
              <a:gd name="connsiteY146" fmla="*/ 0 h 5460521"/>
              <a:gd name="connsiteX147" fmla="*/ 4309730 w 8824427"/>
              <a:gd name="connsiteY147" fmla="*/ 4313 h 5460521"/>
              <a:gd name="connsiteX148" fmla="*/ 4232092 w 8824427"/>
              <a:gd name="connsiteY148" fmla="*/ 38819 h 5460521"/>
              <a:gd name="connsiteX149" fmla="*/ 4124262 w 8824427"/>
              <a:gd name="connsiteY149" fmla="*/ 116457 h 5460521"/>
              <a:gd name="connsiteX150" fmla="*/ 3973300 w 8824427"/>
              <a:gd name="connsiteY150" fmla="*/ 267419 h 5460521"/>
              <a:gd name="connsiteX151" fmla="*/ 3912915 w 8824427"/>
              <a:gd name="connsiteY151" fmla="*/ 353683 h 5460521"/>
              <a:gd name="connsiteX152" fmla="*/ 3887035 w 8824427"/>
              <a:gd name="connsiteY152" fmla="*/ 396815 h 5460521"/>
              <a:gd name="connsiteX153" fmla="*/ 3731760 w 8824427"/>
              <a:gd name="connsiteY153" fmla="*/ 595223 h 5460521"/>
              <a:gd name="connsiteX154" fmla="*/ 3723134 w 8824427"/>
              <a:gd name="connsiteY154" fmla="*/ 612476 h 5460521"/>
              <a:gd name="connsiteX155" fmla="*/ 3675688 w 8824427"/>
              <a:gd name="connsiteY155" fmla="*/ 681487 h 5460521"/>
              <a:gd name="connsiteX156" fmla="*/ 3632556 w 8824427"/>
              <a:gd name="connsiteY156" fmla="*/ 785004 h 5460521"/>
              <a:gd name="connsiteX157" fmla="*/ 3580798 w 8824427"/>
              <a:gd name="connsiteY157" fmla="*/ 892834 h 5460521"/>
              <a:gd name="connsiteX158" fmla="*/ 3554918 w 8824427"/>
              <a:gd name="connsiteY158" fmla="*/ 987725 h 5460521"/>
              <a:gd name="connsiteX159" fmla="*/ 3529039 w 8824427"/>
              <a:gd name="connsiteY159" fmla="*/ 1130061 h 5460521"/>
              <a:gd name="connsiteX160" fmla="*/ 3503160 w 8824427"/>
              <a:gd name="connsiteY160" fmla="*/ 1203385 h 5460521"/>
              <a:gd name="connsiteX161" fmla="*/ 3485907 w 8824427"/>
              <a:gd name="connsiteY161" fmla="*/ 1263770 h 5460521"/>
              <a:gd name="connsiteX162" fmla="*/ 3472968 w 8824427"/>
              <a:gd name="connsiteY162" fmla="*/ 1358661 h 5460521"/>
              <a:gd name="connsiteX163" fmla="*/ 3468654 w 8824427"/>
              <a:gd name="connsiteY163" fmla="*/ 1423359 h 5460521"/>
              <a:gd name="connsiteX164" fmla="*/ 3472968 w 8824427"/>
              <a:gd name="connsiteY164" fmla="*/ 1673525 h 5460521"/>
              <a:gd name="connsiteX165" fmla="*/ 3490220 w 8824427"/>
              <a:gd name="connsiteY165" fmla="*/ 1746849 h 5460521"/>
              <a:gd name="connsiteX166" fmla="*/ 3503160 w 8824427"/>
              <a:gd name="connsiteY166" fmla="*/ 1837427 h 5460521"/>
              <a:gd name="connsiteX167" fmla="*/ 3529039 w 8824427"/>
              <a:gd name="connsiteY167" fmla="*/ 2001328 h 5460521"/>
              <a:gd name="connsiteX168" fmla="*/ 3550605 w 8824427"/>
              <a:gd name="connsiteY168" fmla="*/ 2156604 h 5460521"/>
              <a:gd name="connsiteX169" fmla="*/ 3567858 w 8824427"/>
              <a:gd name="connsiteY169" fmla="*/ 2389517 h 5460521"/>
              <a:gd name="connsiteX170" fmla="*/ 3576484 w 8824427"/>
              <a:gd name="connsiteY170" fmla="*/ 2493034 h 5460521"/>
              <a:gd name="connsiteX171" fmla="*/ 3572171 w 8824427"/>
              <a:gd name="connsiteY171" fmla="*/ 3045125 h 5460521"/>
              <a:gd name="connsiteX172" fmla="*/ 3550605 w 8824427"/>
              <a:gd name="connsiteY172" fmla="*/ 3196087 h 5460521"/>
              <a:gd name="connsiteX173" fmla="*/ 3546292 w 8824427"/>
              <a:gd name="connsiteY173" fmla="*/ 3234906 h 5460521"/>
              <a:gd name="connsiteX174" fmla="*/ 3520413 w 8824427"/>
              <a:gd name="connsiteY174" fmla="*/ 3299604 h 5460521"/>
              <a:gd name="connsiteX175" fmla="*/ 3516100 w 8824427"/>
              <a:gd name="connsiteY175" fmla="*/ 3329796 h 5460521"/>
              <a:gd name="connsiteX176" fmla="*/ 3507473 w 8824427"/>
              <a:gd name="connsiteY176" fmla="*/ 3359989 h 5460521"/>
              <a:gd name="connsiteX177" fmla="*/ 3490220 w 8824427"/>
              <a:gd name="connsiteY177" fmla="*/ 3403121 h 5460521"/>
              <a:gd name="connsiteX178" fmla="*/ 3451401 w 8824427"/>
              <a:gd name="connsiteY178" fmla="*/ 3472132 h 5460521"/>
              <a:gd name="connsiteX179" fmla="*/ 3408269 w 8824427"/>
              <a:gd name="connsiteY179" fmla="*/ 3528204 h 5460521"/>
              <a:gd name="connsiteX180" fmla="*/ 3386703 w 8824427"/>
              <a:gd name="connsiteY180" fmla="*/ 3541144 h 5460521"/>
              <a:gd name="connsiteX181" fmla="*/ 3300439 w 8824427"/>
              <a:gd name="connsiteY181" fmla="*/ 3567023 h 5460521"/>
              <a:gd name="connsiteX182" fmla="*/ 3205549 w 8824427"/>
              <a:gd name="connsiteY182" fmla="*/ 3588589 h 5460521"/>
              <a:gd name="connsiteX183" fmla="*/ 3183983 w 8824427"/>
              <a:gd name="connsiteY183" fmla="*/ 3597215 h 5460521"/>
              <a:gd name="connsiteX184" fmla="*/ 3136537 w 8824427"/>
              <a:gd name="connsiteY184" fmla="*/ 3605842 h 5460521"/>
              <a:gd name="connsiteX185" fmla="*/ 2955383 w 8824427"/>
              <a:gd name="connsiteY185" fmla="*/ 3592902 h 5460521"/>
              <a:gd name="connsiteX186" fmla="*/ 2920877 w 8824427"/>
              <a:gd name="connsiteY186" fmla="*/ 3567023 h 5460521"/>
              <a:gd name="connsiteX187" fmla="*/ 2894998 w 8824427"/>
              <a:gd name="connsiteY187" fmla="*/ 3554083 h 5460521"/>
              <a:gd name="connsiteX188" fmla="*/ 2843239 w 8824427"/>
              <a:gd name="connsiteY188" fmla="*/ 3523891 h 5460521"/>
              <a:gd name="connsiteX189" fmla="*/ 2813047 w 8824427"/>
              <a:gd name="connsiteY189" fmla="*/ 3515264 h 5460521"/>
              <a:gd name="connsiteX190" fmla="*/ 2791481 w 8824427"/>
              <a:gd name="connsiteY190" fmla="*/ 3498012 h 5460521"/>
              <a:gd name="connsiteX191" fmla="*/ 2756975 w 8824427"/>
              <a:gd name="connsiteY191" fmla="*/ 3480759 h 5460521"/>
              <a:gd name="connsiteX192" fmla="*/ 2731096 w 8824427"/>
              <a:gd name="connsiteY192" fmla="*/ 3463506 h 5460521"/>
              <a:gd name="connsiteX193" fmla="*/ 2670711 w 8824427"/>
              <a:gd name="connsiteY193" fmla="*/ 3429000 h 5460521"/>
              <a:gd name="connsiteX194" fmla="*/ 2584447 w 8824427"/>
              <a:gd name="connsiteY194" fmla="*/ 3377242 h 5460521"/>
              <a:gd name="connsiteX195" fmla="*/ 2558568 w 8824427"/>
              <a:gd name="connsiteY195" fmla="*/ 3364302 h 5460521"/>
              <a:gd name="connsiteX196" fmla="*/ 2545628 w 8824427"/>
              <a:gd name="connsiteY196" fmla="*/ 3351362 h 5460521"/>
              <a:gd name="connsiteX197" fmla="*/ 2528375 w 8824427"/>
              <a:gd name="connsiteY197" fmla="*/ 3338423 h 5460521"/>
              <a:gd name="connsiteX198" fmla="*/ 2506809 w 8824427"/>
              <a:gd name="connsiteY198" fmla="*/ 3316857 h 5460521"/>
              <a:gd name="connsiteX199" fmla="*/ 2476617 w 8824427"/>
              <a:gd name="connsiteY199" fmla="*/ 3299604 h 5460521"/>
              <a:gd name="connsiteX200" fmla="*/ 2450737 w 8824427"/>
              <a:gd name="connsiteY200" fmla="*/ 3265098 h 5460521"/>
              <a:gd name="connsiteX201" fmla="*/ 2429171 w 8824427"/>
              <a:gd name="connsiteY201" fmla="*/ 3247845 h 5460521"/>
              <a:gd name="connsiteX202" fmla="*/ 2403292 w 8824427"/>
              <a:gd name="connsiteY202" fmla="*/ 3209027 h 5460521"/>
              <a:gd name="connsiteX203" fmla="*/ 2386039 w 8824427"/>
              <a:gd name="connsiteY203" fmla="*/ 3187461 h 5460521"/>
              <a:gd name="connsiteX204" fmla="*/ 2347220 w 8824427"/>
              <a:gd name="connsiteY204" fmla="*/ 3118449 h 5460521"/>
              <a:gd name="connsiteX205" fmla="*/ 2329968 w 8824427"/>
              <a:gd name="connsiteY205" fmla="*/ 3092570 h 5460521"/>
              <a:gd name="connsiteX206" fmla="*/ 2317028 w 8824427"/>
              <a:gd name="connsiteY206" fmla="*/ 3053751 h 5460521"/>
              <a:gd name="connsiteX207" fmla="*/ 2286835 w 8824427"/>
              <a:gd name="connsiteY207" fmla="*/ 2963174 h 5460521"/>
              <a:gd name="connsiteX208" fmla="*/ 2260956 w 8824427"/>
              <a:gd name="connsiteY208" fmla="*/ 2786332 h 5460521"/>
              <a:gd name="connsiteX209" fmla="*/ 2256643 w 8824427"/>
              <a:gd name="connsiteY209" fmla="*/ 2147978 h 5460521"/>
              <a:gd name="connsiteX210" fmla="*/ 2273896 w 8824427"/>
              <a:gd name="connsiteY210" fmla="*/ 1958196 h 5460521"/>
              <a:gd name="connsiteX211" fmla="*/ 2291149 w 8824427"/>
              <a:gd name="connsiteY211" fmla="*/ 1850366 h 5460521"/>
              <a:gd name="connsiteX212" fmla="*/ 2304088 w 8824427"/>
              <a:gd name="connsiteY212" fmla="*/ 1785668 h 5460521"/>
              <a:gd name="connsiteX213" fmla="*/ 2312715 w 8824427"/>
              <a:gd name="connsiteY213" fmla="*/ 1712344 h 5460521"/>
              <a:gd name="connsiteX214" fmla="*/ 2325654 w 8824427"/>
              <a:gd name="connsiteY214" fmla="*/ 1634706 h 5460521"/>
              <a:gd name="connsiteX215" fmla="*/ 2317028 w 8824427"/>
              <a:gd name="connsiteY215" fmla="*/ 750498 h 5460521"/>
              <a:gd name="connsiteX216" fmla="*/ 2291149 w 8824427"/>
              <a:gd name="connsiteY216" fmla="*/ 681487 h 5460521"/>
              <a:gd name="connsiteX217" fmla="*/ 2248017 w 8824427"/>
              <a:gd name="connsiteY217" fmla="*/ 616789 h 5460521"/>
              <a:gd name="connsiteX218" fmla="*/ 2118620 w 8824427"/>
              <a:gd name="connsiteY218" fmla="*/ 534838 h 5460521"/>
              <a:gd name="connsiteX219" fmla="*/ 1920213 w 8824427"/>
              <a:gd name="connsiteY219" fmla="*/ 465827 h 5460521"/>
              <a:gd name="connsiteX220" fmla="*/ 1682986 w 8824427"/>
              <a:gd name="connsiteY220" fmla="*/ 422695 h 5460521"/>
              <a:gd name="connsiteX221" fmla="*/ 1255979 w 8824427"/>
              <a:gd name="connsiteY221" fmla="*/ 444261 h 5460521"/>
              <a:gd name="connsiteX222" fmla="*/ 1217160 w 8824427"/>
              <a:gd name="connsiteY222" fmla="*/ 461513 h 5460521"/>
              <a:gd name="connsiteX223" fmla="*/ 1100703 w 8824427"/>
              <a:gd name="connsiteY223" fmla="*/ 543464 h 546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8824427" h="5460521">
                <a:moveTo>
                  <a:pt x="1100703" y="543464"/>
                </a:moveTo>
                <a:cubicBezTo>
                  <a:pt x="1077699" y="561436"/>
                  <a:pt x="1084318" y="559381"/>
                  <a:pt x="1079137" y="569344"/>
                </a:cubicBezTo>
                <a:cubicBezTo>
                  <a:pt x="1035243" y="653756"/>
                  <a:pt x="992411" y="733451"/>
                  <a:pt x="966994" y="823823"/>
                </a:cubicBezTo>
                <a:cubicBezTo>
                  <a:pt x="960196" y="847994"/>
                  <a:pt x="954665" y="872526"/>
                  <a:pt x="949741" y="897147"/>
                </a:cubicBezTo>
                <a:cubicBezTo>
                  <a:pt x="944596" y="922874"/>
                  <a:pt x="941114" y="948906"/>
                  <a:pt x="936801" y="974785"/>
                </a:cubicBezTo>
                <a:cubicBezTo>
                  <a:pt x="929694" y="1081399"/>
                  <a:pt x="925133" y="1093289"/>
                  <a:pt x="954054" y="1237891"/>
                </a:cubicBezTo>
                <a:cubicBezTo>
                  <a:pt x="957104" y="1253141"/>
                  <a:pt x="969623" y="1265068"/>
                  <a:pt x="979934" y="1276710"/>
                </a:cubicBezTo>
                <a:cubicBezTo>
                  <a:pt x="1014318" y="1315530"/>
                  <a:pt x="1045127" y="1359335"/>
                  <a:pt x="1087764" y="1388853"/>
                </a:cubicBezTo>
                <a:cubicBezTo>
                  <a:pt x="1147807" y="1430422"/>
                  <a:pt x="1148369" y="1432851"/>
                  <a:pt x="1217160" y="1470804"/>
                </a:cubicBezTo>
                <a:cubicBezTo>
                  <a:pt x="1234049" y="1480122"/>
                  <a:pt x="1251082" y="1489339"/>
                  <a:pt x="1268918" y="1496683"/>
                </a:cubicBezTo>
                <a:cubicBezTo>
                  <a:pt x="1309736" y="1513490"/>
                  <a:pt x="1415829" y="1549626"/>
                  <a:pt x="1458700" y="1561381"/>
                </a:cubicBezTo>
                <a:cubicBezTo>
                  <a:pt x="1556962" y="1588324"/>
                  <a:pt x="1645357" y="1602580"/>
                  <a:pt x="1739058" y="1639019"/>
                </a:cubicBezTo>
                <a:cubicBezTo>
                  <a:pt x="1786218" y="1657359"/>
                  <a:pt x="1778986" y="1661417"/>
                  <a:pt x="1812383" y="1686464"/>
                </a:cubicBezTo>
                <a:cubicBezTo>
                  <a:pt x="1866824" y="1727294"/>
                  <a:pt x="1870691" y="1721676"/>
                  <a:pt x="1911586" y="1768415"/>
                </a:cubicBezTo>
                <a:cubicBezTo>
                  <a:pt x="1937989" y="1798591"/>
                  <a:pt x="1933477" y="1804568"/>
                  <a:pt x="1954718" y="1841740"/>
                </a:cubicBezTo>
                <a:cubicBezTo>
                  <a:pt x="1958285" y="1847982"/>
                  <a:pt x="1963345" y="1853242"/>
                  <a:pt x="1967658" y="1858993"/>
                </a:cubicBezTo>
                <a:cubicBezTo>
                  <a:pt x="1981211" y="1899651"/>
                  <a:pt x="1974045" y="1875583"/>
                  <a:pt x="1984911" y="1962510"/>
                </a:cubicBezTo>
                <a:cubicBezTo>
                  <a:pt x="1988318" y="1989766"/>
                  <a:pt x="1990662" y="2017144"/>
                  <a:pt x="1993537" y="2044461"/>
                </a:cubicBezTo>
                <a:cubicBezTo>
                  <a:pt x="1988028" y="2270348"/>
                  <a:pt x="2017690" y="2160055"/>
                  <a:pt x="1963345" y="2268747"/>
                </a:cubicBezTo>
                <a:cubicBezTo>
                  <a:pt x="1877580" y="2440279"/>
                  <a:pt x="2007978" y="2188345"/>
                  <a:pt x="1907273" y="2398144"/>
                </a:cubicBezTo>
                <a:cubicBezTo>
                  <a:pt x="1894328" y="2425112"/>
                  <a:pt x="1879752" y="2438048"/>
                  <a:pt x="1864141" y="2462842"/>
                </a:cubicBezTo>
                <a:cubicBezTo>
                  <a:pt x="1846274" y="2491219"/>
                  <a:pt x="1837446" y="2526828"/>
                  <a:pt x="1812383" y="2549106"/>
                </a:cubicBezTo>
                <a:cubicBezTo>
                  <a:pt x="1693025" y="2655201"/>
                  <a:pt x="1779843" y="2588470"/>
                  <a:pt x="1687300" y="2643996"/>
                </a:cubicBezTo>
                <a:cubicBezTo>
                  <a:pt x="1673965" y="2651997"/>
                  <a:pt x="1662639" y="2663441"/>
                  <a:pt x="1648481" y="2669876"/>
                </a:cubicBezTo>
                <a:cubicBezTo>
                  <a:pt x="1599575" y="2692106"/>
                  <a:pt x="1580684" y="2686123"/>
                  <a:pt x="1527711" y="2695755"/>
                </a:cubicBezTo>
                <a:cubicBezTo>
                  <a:pt x="1485820" y="2703372"/>
                  <a:pt x="1444379" y="2713284"/>
                  <a:pt x="1402628" y="2721634"/>
                </a:cubicBezTo>
                <a:cubicBezTo>
                  <a:pt x="1364931" y="2729173"/>
                  <a:pt x="1338333" y="2734207"/>
                  <a:pt x="1299111" y="2734574"/>
                </a:cubicBezTo>
                <a:lnTo>
                  <a:pt x="432156" y="2738887"/>
                </a:lnTo>
                <a:cubicBezTo>
                  <a:pt x="417382" y="2743108"/>
                  <a:pt x="374711" y="2754826"/>
                  <a:pt x="363145" y="2760453"/>
                </a:cubicBezTo>
                <a:cubicBezTo>
                  <a:pt x="322078" y="2780432"/>
                  <a:pt x="280008" y="2799278"/>
                  <a:pt x="242375" y="2825151"/>
                </a:cubicBezTo>
                <a:cubicBezTo>
                  <a:pt x="162187" y="2880280"/>
                  <a:pt x="197036" y="2857801"/>
                  <a:pt x="138858" y="2894162"/>
                </a:cubicBezTo>
                <a:cubicBezTo>
                  <a:pt x="127356" y="2908540"/>
                  <a:pt x="116411" y="2923381"/>
                  <a:pt x="104352" y="2937295"/>
                </a:cubicBezTo>
                <a:cubicBezTo>
                  <a:pt x="97694" y="2944978"/>
                  <a:pt x="88573" y="2950502"/>
                  <a:pt x="82786" y="2958861"/>
                </a:cubicBezTo>
                <a:cubicBezTo>
                  <a:pt x="75466" y="2969434"/>
                  <a:pt x="71779" y="2982125"/>
                  <a:pt x="65534" y="2993366"/>
                </a:cubicBezTo>
                <a:cubicBezTo>
                  <a:pt x="41111" y="3037327"/>
                  <a:pt x="35822" y="3035809"/>
                  <a:pt x="18088" y="3083944"/>
                </a:cubicBezTo>
                <a:cubicBezTo>
                  <a:pt x="13990" y="3095069"/>
                  <a:pt x="12337" y="3106947"/>
                  <a:pt x="9462" y="3118449"/>
                </a:cubicBezTo>
                <a:cubicBezTo>
                  <a:pt x="6586" y="3151517"/>
                  <a:pt x="-2831" y="3184663"/>
                  <a:pt x="835" y="3217653"/>
                </a:cubicBezTo>
                <a:cubicBezTo>
                  <a:pt x="5148" y="3256472"/>
                  <a:pt x="6788" y="3295682"/>
                  <a:pt x="13775" y="3334110"/>
                </a:cubicBezTo>
                <a:cubicBezTo>
                  <a:pt x="18332" y="3359176"/>
                  <a:pt x="30646" y="3382394"/>
                  <a:pt x="35341" y="3407434"/>
                </a:cubicBezTo>
                <a:cubicBezTo>
                  <a:pt x="39654" y="3430438"/>
                  <a:pt x="42196" y="3453845"/>
                  <a:pt x="48281" y="3476445"/>
                </a:cubicBezTo>
                <a:cubicBezTo>
                  <a:pt x="56870" y="3508348"/>
                  <a:pt x="94874" y="3576905"/>
                  <a:pt x="104352" y="3597215"/>
                </a:cubicBezTo>
                <a:cubicBezTo>
                  <a:pt x="112256" y="3614152"/>
                  <a:pt x="117917" y="3632082"/>
                  <a:pt x="125918" y="3648974"/>
                </a:cubicBezTo>
                <a:cubicBezTo>
                  <a:pt x="143809" y="3686744"/>
                  <a:pt x="165016" y="3722926"/>
                  <a:pt x="181990" y="3761117"/>
                </a:cubicBezTo>
                <a:cubicBezTo>
                  <a:pt x="204442" y="3811634"/>
                  <a:pt x="207107" y="3822161"/>
                  <a:pt x="246688" y="3877574"/>
                </a:cubicBezTo>
                <a:cubicBezTo>
                  <a:pt x="324935" y="3987120"/>
                  <a:pt x="285622" y="3913664"/>
                  <a:pt x="358832" y="4011283"/>
                </a:cubicBezTo>
                <a:cubicBezTo>
                  <a:pt x="397901" y="4063378"/>
                  <a:pt x="364065" y="4019389"/>
                  <a:pt x="458035" y="4123427"/>
                </a:cubicBezTo>
                <a:cubicBezTo>
                  <a:pt x="469639" y="4136275"/>
                  <a:pt x="479325" y="4151062"/>
                  <a:pt x="492541" y="4162245"/>
                </a:cubicBezTo>
                <a:cubicBezTo>
                  <a:pt x="657378" y="4301723"/>
                  <a:pt x="564906" y="4228578"/>
                  <a:pt x="772900" y="4377906"/>
                </a:cubicBezTo>
                <a:cubicBezTo>
                  <a:pt x="852578" y="4508289"/>
                  <a:pt x="776564" y="4417323"/>
                  <a:pt x="919549" y="4498676"/>
                </a:cubicBezTo>
                <a:cubicBezTo>
                  <a:pt x="960708" y="4522094"/>
                  <a:pt x="1104403" y="4625798"/>
                  <a:pt x="1165401" y="4653951"/>
                </a:cubicBezTo>
                <a:cubicBezTo>
                  <a:pt x="1240163" y="4688457"/>
                  <a:pt x="1316686" y="4719380"/>
                  <a:pt x="1389688" y="4757468"/>
                </a:cubicBezTo>
                <a:cubicBezTo>
                  <a:pt x="1422756" y="4774721"/>
                  <a:pt x="1454937" y="4793793"/>
                  <a:pt x="1488892" y="4809227"/>
                </a:cubicBezTo>
                <a:cubicBezTo>
                  <a:pt x="1534100" y="4829776"/>
                  <a:pt x="1581592" y="4845004"/>
                  <a:pt x="1626915" y="4865298"/>
                </a:cubicBezTo>
                <a:cubicBezTo>
                  <a:pt x="1677973" y="4888160"/>
                  <a:pt x="1726816" y="4915767"/>
                  <a:pt x="1777877" y="4938623"/>
                </a:cubicBezTo>
                <a:cubicBezTo>
                  <a:pt x="1877816" y="4983358"/>
                  <a:pt x="1979109" y="5025005"/>
                  <a:pt x="2079801" y="5068019"/>
                </a:cubicBezTo>
                <a:cubicBezTo>
                  <a:pt x="2127196" y="5088265"/>
                  <a:pt x="2172248" y="5115470"/>
                  <a:pt x="2222137" y="5128404"/>
                </a:cubicBezTo>
                <a:cubicBezTo>
                  <a:pt x="2576300" y="5220224"/>
                  <a:pt x="2341290" y="5153659"/>
                  <a:pt x="2713843" y="5275053"/>
                </a:cubicBezTo>
                <a:cubicBezTo>
                  <a:pt x="2754099" y="5288170"/>
                  <a:pt x="2984365" y="5359365"/>
                  <a:pt x="3007141" y="5361317"/>
                </a:cubicBezTo>
                <a:cubicBezTo>
                  <a:pt x="3302537" y="5386637"/>
                  <a:pt x="3030283" y="5361582"/>
                  <a:pt x="3265934" y="5387196"/>
                </a:cubicBezTo>
                <a:cubicBezTo>
                  <a:pt x="3296085" y="5390473"/>
                  <a:pt x="3326434" y="5391924"/>
                  <a:pt x="3356511" y="5395823"/>
                </a:cubicBezTo>
                <a:cubicBezTo>
                  <a:pt x="3404100" y="5401992"/>
                  <a:pt x="3451513" y="5409500"/>
                  <a:pt x="3498847" y="5417389"/>
                </a:cubicBezTo>
                <a:cubicBezTo>
                  <a:pt x="3607100" y="5435431"/>
                  <a:pt x="3632372" y="5446355"/>
                  <a:pt x="3744700" y="5456208"/>
                </a:cubicBezTo>
                <a:cubicBezTo>
                  <a:pt x="3783397" y="5459602"/>
                  <a:pt x="3822337" y="5459083"/>
                  <a:pt x="3861156" y="5460521"/>
                </a:cubicBezTo>
                <a:cubicBezTo>
                  <a:pt x="3899019" y="5459356"/>
                  <a:pt x="4161366" y="5459144"/>
                  <a:pt x="4253658" y="5438955"/>
                </a:cubicBezTo>
                <a:cubicBezTo>
                  <a:pt x="4269970" y="5435387"/>
                  <a:pt x="4485371" y="5372769"/>
                  <a:pt x="4525390" y="5357004"/>
                </a:cubicBezTo>
                <a:cubicBezTo>
                  <a:pt x="4585288" y="5333408"/>
                  <a:pt x="4641158" y="5299724"/>
                  <a:pt x="4702232" y="5279366"/>
                </a:cubicBezTo>
                <a:cubicBezTo>
                  <a:pt x="4719485" y="5273615"/>
                  <a:pt x="4737203" y="5269108"/>
                  <a:pt x="4753990" y="5262113"/>
                </a:cubicBezTo>
                <a:cubicBezTo>
                  <a:pt x="4771796" y="5254694"/>
                  <a:pt x="4787660" y="5242933"/>
                  <a:pt x="4805749" y="5236234"/>
                </a:cubicBezTo>
                <a:cubicBezTo>
                  <a:pt x="4826679" y="5228482"/>
                  <a:pt x="4849273" y="5226039"/>
                  <a:pt x="4870447" y="5218981"/>
                </a:cubicBezTo>
                <a:cubicBezTo>
                  <a:pt x="4892482" y="5211636"/>
                  <a:pt x="4913271" y="5200914"/>
                  <a:pt x="4935145" y="5193102"/>
                </a:cubicBezTo>
                <a:cubicBezTo>
                  <a:pt x="5023124" y="5161681"/>
                  <a:pt x="4965111" y="5192773"/>
                  <a:pt x="5064541" y="5141344"/>
                </a:cubicBezTo>
                <a:cubicBezTo>
                  <a:pt x="5085678" y="5130411"/>
                  <a:pt x="5125622" y="5106976"/>
                  <a:pt x="5146492" y="5089585"/>
                </a:cubicBezTo>
                <a:cubicBezTo>
                  <a:pt x="5171533" y="5068718"/>
                  <a:pt x="5194519" y="5045442"/>
                  <a:pt x="5219817" y="5024887"/>
                </a:cubicBezTo>
                <a:cubicBezTo>
                  <a:pt x="5240573" y="5008023"/>
                  <a:pt x="5263242" y="4993650"/>
                  <a:pt x="5284515" y="4977442"/>
                </a:cubicBezTo>
                <a:cubicBezTo>
                  <a:pt x="5313317" y="4955497"/>
                  <a:pt x="5339785" y="4927463"/>
                  <a:pt x="5366466" y="4904117"/>
                </a:cubicBezTo>
                <a:cubicBezTo>
                  <a:pt x="5391055" y="4882601"/>
                  <a:pt x="5423054" y="4861418"/>
                  <a:pt x="5444103" y="4835106"/>
                </a:cubicBezTo>
                <a:cubicBezTo>
                  <a:pt x="5464045" y="4810178"/>
                  <a:pt x="5477602" y="4780041"/>
                  <a:pt x="5500175" y="4757468"/>
                </a:cubicBezTo>
                <a:cubicBezTo>
                  <a:pt x="5537531" y="4720112"/>
                  <a:pt x="5501537" y="4758164"/>
                  <a:pt x="5556247" y="4684144"/>
                </a:cubicBezTo>
                <a:cubicBezTo>
                  <a:pt x="5567191" y="4669338"/>
                  <a:pt x="5581441" y="4656896"/>
                  <a:pt x="5590752" y="4641012"/>
                </a:cubicBezTo>
                <a:cubicBezTo>
                  <a:pt x="5629487" y="4574935"/>
                  <a:pt x="5632815" y="4543842"/>
                  <a:pt x="5659764" y="4472796"/>
                </a:cubicBezTo>
                <a:cubicBezTo>
                  <a:pt x="5664786" y="4459557"/>
                  <a:pt x="5672304" y="4447331"/>
                  <a:pt x="5677017" y="4433978"/>
                </a:cubicBezTo>
                <a:cubicBezTo>
                  <a:pt x="5680963" y="4422798"/>
                  <a:pt x="5681894" y="4410720"/>
                  <a:pt x="5685643" y="4399472"/>
                </a:cubicBezTo>
                <a:cubicBezTo>
                  <a:pt x="5690540" y="4384782"/>
                  <a:pt x="5697999" y="4371030"/>
                  <a:pt x="5702896" y="4356340"/>
                </a:cubicBezTo>
                <a:cubicBezTo>
                  <a:pt x="5706645" y="4345092"/>
                  <a:pt x="5707423" y="4332959"/>
                  <a:pt x="5711522" y="4321834"/>
                </a:cubicBezTo>
                <a:cubicBezTo>
                  <a:pt x="5717528" y="4305533"/>
                  <a:pt x="5726758" y="4290567"/>
                  <a:pt x="5733088" y="4274389"/>
                </a:cubicBezTo>
                <a:cubicBezTo>
                  <a:pt x="5739715" y="4257453"/>
                  <a:pt x="5742955" y="4239249"/>
                  <a:pt x="5750341" y="4222630"/>
                </a:cubicBezTo>
                <a:cubicBezTo>
                  <a:pt x="5760268" y="4200295"/>
                  <a:pt x="5774201" y="4179933"/>
                  <a:pt x="5784847" y="4157932"/>
                </a:cubicBezTo>
                <a:cubicBezTo>
                  <a:pt x="5804801" y="4116693"/>
                  <a:pt x="5825875" y="4063234"/>
                  <a:pt x="5840918" y="4019910"/>
                </a:cubicBezTo>
                <a:cubicBezTo>
                  <a:pt x="5868806" y="3939593"/>
                  <a:pt x="5884846" y="3854415"/>
                  <a:pt x="5922869" y="3778370"/>
                </a:cubicBezTo>
                <a:cubicBezTo>
                  <a:pt x="5977813" y="3668482"/>
                  <a:pt x="5952121" y="3713803"/>
                  <a:pt x="5996194" y="3640347"/>
                </a:cubicBezTo>
                <a:cubicBezTo>
                  <a:pt x="5997632" y="3634596"/>
                  <a:pt x="5997219" y="3628027"/>
                  <a:pt x="6000507" y="3623095"/>
                </a:cubicBezTo>
                <a:cubicBezTo>
                  <a:pt x="6006146" y="3614636"/>
                  <a:pt x="6014263" y="3608037"/>
                  <a:pt x="6022073" y="3601528"/>
                </a:cubicBezTo>
                <a:cubicBezTo>
                  <a:pt x="6083144" y="3550635"/>
                  <a:pt x="6018151" y="3614538"/>
                  <a:pt x="6099711" y="3549770"/>
                </a:cubicBezTo>
                <a:cubicBezTo>
                  <a:pt x="6134028" y="3522518"/>
                  <a:pt x="6170397" y="3496778"/>
                  <a:pt x="6198915" y="3463506"/>
                </a:cubicBezTo>
                <a:cubicBezTo>
                  <a:pt x="6216168" y="3443378"/>
                  <a:pt x="6233886" y="3423639"/>
                  <a:pt x="6250673" y="3403121"/>
                </a:cubicBezTo>
                <a:cubicBezTo>
                  <a:pt x="6259777" y="3391993"/>
                  <a:pt x="6266906" y="3379276"/>
                  <a:pt x="6276552" y="3368615"/>
                </a:cubicBezTo>
                <a:cubicBezTo>
                  <a:pt x="6294286" y="3349015"/>
                  <a:pt x="6314907" y="3332159"/>
                  <a:pt x="6332624" y="3312544"/>
                </a:cubicBezTo>
                <a:cubicBezTo>
                  <a:pt x="6355204" y="3287545"/>
                  <a:pt x="6378807" y="3263049"/>
                  <a:pt x="6397322" y="3234906"/>
                </a:cubicBezTo>
                <a:cubicBezTo>
                  <a:pt x="6412919" y="3211198"/>
                  <a:pt x="6448957" y="3132229"/>
                  <a:pt x="6462020" y="3096883"/>
                </a:cubicBezTo>
                <a:cubicBezTo>
                  <a:pt x="6486349" y="3031053"/>
                  <a:pt x="6500761" y="2966839"/>
                  <a:pt x="6535345" y="2907102"/>
                </a:cubicBezTo>
                <a:cubicBezTo>
                  <a:pt x="6543137" y="2893643"/>
                  <a:pt x="6550036" y="2879085"/>
                  <a:pt x="6561224" y="2868283"/>
                </a:cubicBezTo>
                <a:cubicBezTo>
                  <a:pt x="6646012" y="2786419"/>
                  <a:pt x="6754917" y="2720568"/>
                  <a:pt x="6858835" y="2669876"/>
                </a:cubicBezTo>
                <a:cubicBezTo>
                  <a:pt x="6901109" y="2649254"/>
                  <a:pt x="7091543" y="2552790"/>
                  <a:pt x="7156447" y="2531853"/>
                </a:cubicBezTo>
                <a:cubicBezTo>
                  <a:pt x="7252237" y="2500953"/>
                  <a:pt x="7326622" y="2493986"/>
                  <a:pt x="7423866" y="2480095"/>
                </a:cubicBezTo>
                <a:lnTo>
                  <a:pt x="8510794" y="2493034"/>
                </a:lnTo>
                <a:cubicBezTo>
                  <a:pt x="8522384" y="2493212"/>
                  <a:pt x="8533729" y="2496666"/>
                  <a:pt x="8545300" y="2497347"/>
                </a:cubicBezTo>
                <a:cubicBezTo>
                  <a:pt x="8582644" y="2499544"/>
                  <a:pt x="8620062" y="2500223"/>
                  <a:pt x="8657443" y="2501661"/>
                </a:cubicBezTo>
                <a:cubicBezTo>
                  <a:pt x="8680447" y="2497348"/>
                  <a:pt x="8705245" y="2498618"/>
                  <a:pt x="8726454" y="2488721"/>
                </a:cubicBezTo>
                <a:cubicBezTo>
                  <a:pt x="8808192" y="2450577"/>
                  <a:pt x="8792003" y="2419760"/>
                  <a:pt x="8812718" y="2333445"/>
                </a:cubicBezTo>
                <a:cubicBezTo>
                  <a:pt x="8825018" y="2222758"/>
                  <a:pt x="8829448" y="2214366"/>
                  <a:pt x="8817032" y="2070340"/>
                </a:cubicBezTo>
                <a:cubicBezTo>
                  <a:pt x="8815115" y="2048103"/>
                  <a:pt x="8806278" y="2026995"/>
                  <a:pt x="8799779" y="2005642"/>
                </a:cubicBezTo>
                <a:cubicBezTo>
                  <a:pt x="8786143" y="1960839"/>
                  <a:pt x="8775617" y="1914750"/>
                  <a:pt x="8756647" y="1871932"/>
                </a:cubicBezTo>
                <a:cubicBezTo>
                  <a:pt x="8673177" y="1683527"/>
                  <a:pt x="8594050" y="1574349"/>
                  <a:pt x="8463349" y="1406106"/>
                </a:cubicBezTo>
                <a:cubicBezTo>
                  <a:pt x="8401958" y="1327082"/>
                  <a:pt x="8201492" y="1080439"/>
                  <a:pt x="8096726" y="996351"/>
                </a:cubicBezTo>
                <a:cubicBezTo>
                  <a:pt x="7966343" y="891702"/>
                  <a:pt x="7896790" y="872381"/>
                  <a:pt x="7751669" y="806570"/>
                </a:cubicBezTo>
                <a:lnTo>
                  <a:pt x="7544635" y="711679"/>
                </a:lnTo>
                <a:lnTo>
                  <a:pt x="7350541" y="625415"/>
                </a:lnTo>
                <a:cubicBezTo>
                  <a:pt x="7316260" y="610510"/>
                  <a:pt x="7283679" y="589614"/>
                  <a:pt x="7247024" y="582283"/>
                </a:cubicBezTo>
                <a:lnTo>
                  <a:pt x="7182326" y="569344"/>
                </a:lnTo>
                <a:cubicBezTo>
                  <a:pt x="7094728" y="581858"/>
                  <a:pt x="7198807" y="560828"/>
                  <a:pt x="7134881" y="590910"/>
                </a:cubicBezTo>
                <a:cubicBezTo>
                  <a:pt x="7117187" y="599236"/>
                  <a:pt x="7097259" y="601680"/>
                  <a:pt x="7078809" y="608162"/>
                </a:cubicBezTo>
                <a:cubicBezTo>
                  <a:pt x="7044040" y="620378"/>
                  <a:pt x="7009232" y="632622"/>
                  <a:pt x="6975292" y="646981"/>
                </a:cubicBezTo>
                <a:cubicBezTo>
                  <a:pt x="6934416" y="664275"/>
                  <a:pt x="6895563" y="686154"/>
                  <a:pt x="6854522" y="703053"/>
                </a:cubicBezTo>
                <a:lnTo>
                  <a:pt x="6781198" y="733245"/>
                </a:lnTo>
                <a:cubicBezTo>
                  <a:pt x="6720778" y="793665"/>
                  <a:pt x="6808963" y="707172"/>
                  <a:pt x="6612983" y="849702"/>
                </a:cubicBezTo>
                <a:cubicBezTo>
                  <a:pt x="6597168" y="861204"/>
                  <a:pt x="6581694" y="873192"/>
                  <a:pt x="6565537" y="884208"/>
                </a:cubicBezTo>
                <a:cubicBezTo>
                  <a:pt x="6519897" y="915326"/>
                  <a:pt x="6441452" y="959580"/>
                  <a:pt x="6401635" y="979098"/>
                </a:cubicBezTo>
                <a:cubicBezTo>
                  <a:pt x="6368070" y="995552"/>
                  <a:pt x="6332149" y="1006762"/>
                  <a:pt x="6298118" y="1022230"/>
                </a:cubicBezTo>
                <a:cubicBezTo>
                  <a:pt x="6284643" y="1028355"/>
                  <a:pt x="6272539" y="1037176"/>
                  <a:pt x="6259300" y="1043796"/>
                </a:cubicBezTo>
                <a:cubicBezTo>
                  <a:pt x="6238013" y="1054439"/>
                  <a:pt x="6216535" y="1064754"/>
                  <a:pt x="6194601" y="1073989"/>
                </a:cubicBezTo>
                <a:cubicBezTo>
                  <a:pt x="6096175" y="1115432"/>
                  <a:pt x="6110105" y="1108723"/>
                  <a:pt x="6017760" y="1134374"/>
                </a:cubicBezTo>
                <a:lnTo>
                  <a:pt x="5957375" y="1130061"/>
                </a:lnTo>
                <a:cubicBezTo>
                  <a:pt x="5901545" y="1109125"/>
                  <a:pt x="5852067" y="1080824"/>
                  <a:pt x="5810726" y="1039483"/>
                </a:cubicBezTo>
                <a:cubicBezTo>
                  <a:pt x="5804216" y="1032973"/>
                  <a:pt x="5799224" y="1025106"/>
                  <a:pt x="5793473" y="1017917"/>
                </a:cubicBezTo>
                <a:cubicBezTo>
                  <a:pt x="5775494" y="963979"/>
                  <a:pt x="5760899" y="912798"/>
                  <a:pt x="5720149" y="866955"/>
                </a:cubicBezTo>
                <a:cubicBezTo>
                  <a:pt x="5683296" y="825495"/>
                  <a:pt x="5670650" y="809738"/>
                  <a:pt x="5625258" y="767751"/>
                </a:cubicBezTo>
                <a:cubicBezTo>
                  <a:pt x="5572829" y="719254"/>
                  <a:pt x="5484615" y="643620"/>
                  <a:pt x="5426851" y="595223"/>
                </a:cubicBezTo>
                <a:cubicBezTo>
                  <a:pt x="5402581" y="574888"/>
                  <a:pt x="5376673" y="556442"/>
                  <a:pt x="5353526" y="534838"/>
                </a:cubicBezTo>
                <a:cubicBezTo>
                  <a:pt x="5331960" y="514710"/>
                  <a:pt x="5311393" y="493455"/>
                  <a:pt x="5288828" y="474453"/>
                </a:cubicBezTo>
                <a:cubicBezTo>
                  <a:pt x="5256709" y="447405"/>
                  <a:pt x="5222214" y="423294"/>
                  <a:pt x="5189624" y="396815"/>
                </a:cubicBezTo>
                <a:cubicBezTo>
                  <a:pt x="5176187" y="385898"/>
                  <a:pt x="5164893" y="372373"/>
                  <a:pt x="5150805" y="362310"/>
                </a:cubicBezTo>
                <a:cubicBezTo>
                  <a:pt x="5130677" y="347933"/>
                  <a:pt x="5111085" y="332773"/>
                  <a:pt x="5090420" y="319178"/>
                </a:cubicBezTo>
                <a:cubicBezTo>
                  <a:pt x="5090349" y="319131"/>
                  <a:pt x="4883458" y="189827"/>
                  <a:pt x="4883386" y="189781"/>
                </a:cubicBezTo>
                <a:cubicBezTo>
                  <a:pt x="4848516" y="167503"/>
                  <a:pt x="4828905" y="150755"/>
                  <a:pt x="4792809" y="133710"/>
                </a:cubicBezTo>
                <a:cubicBezTo>
                  <a:pt x="4715881" y="97383"/>
                  <a:pt x="4663530" y="75357"/>
                  <a:pt x="4585775" y="47445"/>
                </a:cubicBezTo>
                <a:cubicBezTo>
                  <a:pt x="4529080" y="27093"/>
                  <a:pt x="4496845" y="16861"/>
                  <a:pt x="4439126" y="4313"/>
                </a:cubicBezTo>
                <a:cubicBezTo>
                  <a:pt x="4429192" y="2153"/>
                  <a:pt x="4418998" y="1438"/>
                  <a:pt x="4408934" y="0"/>
                </a:cubicBezTo>
                <a:lnTo>
                  <a:pt x="4309730" y="4313"/>
                </a:lnTo>
                <a:cubicBezTo>
                  <a:pt x="4282068" y="10385"/>
                  <a:pt x="4257422" y="26154"/>
                  <a:pt x="4232092" y="38819"/>
                </a:cubicBezTo>
                <a:cubicBezTo>
                  <a:pt x="4194202" y="57764"/>
                  <a:pt x="4154408" y="89051"/>
                  <a:pt x="4124262" y="116457"/>
                </a:cubicBezTo>
                <a:cubicBezTo>
                  <a:pt x="4097708" y="140597"/>
                  <a:pt x="4012182" y="217428"/>
                  <a:pt x="3973300" y="267419"/>
                </a:cubicBezTo>
                <a:cubicBezTo>
                  <a:pt x="3960076" y="284421"/>
                  <a:pt x="3925442" y="332805"/>
                  <a:pt x="3912915" y="353683"/>
                </a:cubicBezTo>
                <a:cubicBezTo>
                  <a:pt x="3904288" y="368060"/>
                  <a:pt x="3897095" y="383402"/>
                  <a:pt x="3887035" y="396815"/>
                </a:cubicBezTo>
                <a:cubicBezTo>
                  <a:pt x="3836646" y="464000"/>
                  <a:pt x="3769316" y="520107"/>
                  <a:pt x="3731760" y="595223"/>
                </a:cubicBezTo>
                <a:cubicBezTo>
                  <a:pt x="3728885" y="600974"/>
                  <a:pt x="3726638" y="607085"/>
                  <a:pt x="3723134" y="612476"/>
                </a:cubicBezTo>
                <a:cubicBezTo>
                  <a:pt x="3707920" y="635882"/>
                  <a:pt x="3689940" y="657483"/>
                  <a:pt x="3675688" y="681487"/>
                </a:cubicBezTo>
                <a:cubicBezTo>
                  <a:pt x="3575851" y="849632"/>
                  <a:pt x="3675094" y="684736"/>
                  <a:pt x="3632556" y="785004"/>
                </a:cubicBezTo>
                <a:cubicBezTo>
                  <a:pt x="3616985" y="821707"/>
                  <a:pt x="3591289" y="854369"/>
                  <a:pt x="3580798" y="892834"/>
                </a:cubicBezTo>
                <a:cubicBezTo>
                  <a:pt x="3572171" y="924464"/>
                  <a:pt x="3559781" y="955302"/>
                  <a:pt x="3554918" y="987725"/>
                </a:cubicBezTo>
                <a:cubicBezTo>
                  <a:pt x="3547990" y="1033916"/>
                  <a:pt x="3542675" y="1084608"/>
                  <a:pt x="3529039" y="1130061"/>
                </a:cubicBezTo>
                <a:cubicBezTo>
                  <a:pt x="3521591" y="1154887"/>
                  <a:pt x="3511117" y="1178718"/>
                  <a:pt x="3503160" y="1203385"/>
                </a:cubicBezTo>
                <a:cubicBezTo>
                  <a:pt x="3496733" y="1223308"/>
                  <a:pt x="3491658" y="1243642"/>
                  <a:pt x="3485907" y="1263770"/>
                </a:cubicBezTo>
                <a:cubicBezTo>
                  <a:pt x="3484966" y="1270360"/>
                  <a:pt x="3474487" y="1341189"/>
                  <a:pt x="3472968" y="1358661"/>
                </a:cubicBezTo>
                <a:cubicBezTo>
                  <a:pt x="3471095" y="1380194"/>
                  <a:pt x="3470092" y="1401793"/>
                  <a:pt x="3468654" y="1423359"/>
                </a:cubicBezTo>
                <a:cubicBezTo>
                  <a:pt x="3470092" y="1506748"/>
                  <a:pt x="3467420" y="1590309"/>
                  <a:pt x="3472968" y="1673525"/>
                </a:cubicBezTo>
                <a:cubicBezTo>
                  <a:pt x="3474638" y="1698578"/>
                  <a:pt x="3485671" y="1722156"/>
                  <a:pt x="3490220" y="1746849"/>
                </a:cubicBezTo>
                <a:cubicBezTo>
                  <a:pt x="3495745" y="1776844"/>
                  <a:pt x="3498522" y="1807282"/>
                  <a:pt x="3503160" y="1837427"/>
                </a:cubicBezTo>
                <a:cubicBezTo>
                  <a:pt x="3514461" y="1910883"/>
                  <a:pt x="3519322" y="1925538"/>
                  <a:pt x="3529039" y="2001328"/>
                </a:cubicBezTo>
                <a:cubicBezTo>
                  <a:pt x="3549207" y="2158642"/>
                  <a:pt x="3524812" y="2010436"/>
                  <a:pt x="3550605" y="2156604"/>
                </a:cubicBezTo>
                <a:cubicBezTo>
                  <a:pt x="3568079" y="2453648"/>
                  <a:pt x="3550140" y="2182798"/>
                  <a:pt x="3567858" y="2389517"/>
                </a:cubicBezTo>
                <a:cubicBezTo>
                  <a:pt x="3579511" y="2525473"/>
                  <a:pt x="3565885" y="2397635"/>
                  <a:pt x="3576484" y="2493034"/>
                </a:cubicBezTo>
                <a:cubicBezTo>
                  <a:pt x="3575046" y="2677064"/>
                  <a:pt x="3576981" y="2861152"/>
                  <a:pt x="3572171" y="3045125"/>
                </a:cubicBezTo>
                <a:cubicBezTo>
                  <a:pt x="3569628" y="3142389"/>
                  <a:pt x="3561414" y="3127632"/>
                  <a:pt x="3550605" y="3196087"/>
                </a:cubicBezTo>
                <a:cubicBezTo>
                  <a:pt x="3548574" y="3208947"/>
                  <a:pt x="3549274" y="3222233"/>
                  <a:pt x="3546292" y="3234906"/>
                </a:cubicBezTo>
                <a:cubicBezTo>
                  <a:pt x="3543374" y="3247308"/>
                  <a:pt x="3525831" y="3286961"/>
                  <a:pt x="3520413" y="3299604"/>
                </a:cubicBezTo>
                <a:cubicBezTo>
                  <a:pt x="3518975" y="3309668"/>
                  <a:pt x="3518230" y="3319856"/>
                  <a:pt x="3516100" y="3329796"/>
                </a:cubicBezTo>
                <a:cubicBezTo>
                  <a:pt x="3513907" y="3340031"/>
                  <a:pt x="3510551" y="3349985"/>
                  <a:pt x="3507473" y="3359989"/>
                </a:cubicBezTo>
                <a:cubicBezTo>
                  <a:pt x="3500952" y="3381181"/>
                  <a:pt x="3499987" y="3385363"/>
                  <a:pt x="3490220" y="3403121"/>
                </a:cubicBezTo>
                <a:cubicBezTo>
                  <a:pt x="3477500" y="3426247"/>
                  <a:pt x="3466742" y="3450655"/>
                  <a:pt x="3451401" y="3472132"/>
                </a:cubicBezTo>
                <a:cubicBezTo>
                  <a:pt x="3442791" y="3484186"/>
                  <a:pt x="3420064" y="3517588"/>
                  <a:pt x="3408269" y="3528204"/>
                </a:cubicBezTo>
                <a:cubicBezTo>
                  <a:pt x="3402038" y="3533812"/>
                  <a:pt x="3394429" y="3537891"/>
                  <a:pt x="3386703" y="3541144"/>
                </a:cubicBezTo>
                <a:cubicBezTo>
                  <a:pt x="3304815" y="3575624"/>
                  <a:pt x="3352829" y="3555116"/>
                  <a:pt x="3300439" y="3567023"/>
                </a:cubicBezTo>
                <a:cubicBezTo>
                  <a:pt x="3193883" y="3591240"/>
                  <a:pt x="3265535" y="3578592"/>
                  <a:pt x="3205549" y="3588589"/>
                </a:cubicBezTo>
                <a:cubicBezTo>
                  <a:pt x="3198360" y="3591464"/>
                  <a:pt x="3191399" y="3594990"/>
                  <a:pt x="3183983" y="3597215"/>
                </a:cubicBezTo>
                <a:cubicBezTo>
                  <a:pt x="3176453" y="3599474"/>
                  <a:pt x="3142673" y="3604819"/>
                  <a:pt x="3136537" y="3605842"/>
                </a:cubicBezTo>
                <a:cubicBezTo>
                  <a:pt x="3076152" y="3601529"/>
                  <a:pt x="3014964" y="3603627"/>
                  <a:pt x="2955383" y="3592902"/>
                </a:cubicBezTo>
                <a:cubicBezTo>
                  <a:pt x="2941233" y="3590355"/>
                  <a:pt x="2932971" y="3574798"/>
                  <a:pt x="2920877" y="3567023"/>
                </a:cubicBezTo>
                <a:cubicBezTo>
                  <a:pt x="2912764" y="3561808"/>
                  <a:pt x="2903372" y="3558868"/>
                  <a:pt x="2894998" y="3554083"/>
                </a:cubicBezTo>
                <a:cubicBezTo>
                  <a:pt x="2885409" y="3548604"/>
                  <a:pt x="2858227" y="3529341"/>
                  <a:pt x="2843239" y="3523891"/>
                </a:cubicBezTo>
                <a:cubicBezTo>
                  <a:pt x="2833402" y="3520314"/>
                  <a:pt x="2823111" y="3518140"/>
                  <a:pt x="2813047" y="3515264"/>
                </a:cubicBezTo>
                <a:cubicBezTo>
                  <a:pt x="2805858" y="3509513"/>
                  <a:pt x="2799321" y="3502837"/>
                  <a:pt x="2791481" y="3498012"/>
                </a:cubicBezTo>
                <a:cubicBezTo>
                  <a:pt x="2780529" y="3491272"/>
                  <a:pt x="2756975" y="3480759"/>
                  <a:pt x="2756975" y="3480759"/>
                </a:cubicBezTo>
                <a:cubicBezTo>
                  <a:pt x="2737199" y="3460981"/>
                  <a:pt x="2762428" y="3484393"/>
                  <a:pt x="2731096" y="3463506"/>
                </a:cubicBezTo>
                <a:cubicBezTo>
                  <a:pt x="2654562" y="3412485"/>
                  <a:pt x="2732209" y="3454624"/>
                  <a:pt x="2670711" y="3429000"/>
                </a:cubicBezTo>
                <a:cubicBezTo>
                  <a:pt x="2638462" y="3415563"/>
                  <a:pt x="2615647" y="3395962"/>
                  <a:pt x="2584447" y="3377242"/>
                </a:cubicBezTo>
                <a:cubicBezTo>
                  <a:pt x="2576177" y="3372280"/>
                  <a:pt x="2566593" y="3369652"/>
                  <a:pt x="2558568" y="3364302"/>
                </a:cubicBezTo>
                <a:cubicBezTo>
                  <a:pt x="2553493" y="3360918"/>
                  <a:pt x="2550260" y="3355332"/>
                  <a:pt x="2545628" y="3351362"/>
                </a:cubicBezTo>
                <a:cubicBezTo>
                  <a:pt x="2540170" y="3346684"/>
                  <a:pt x="2533748" y="3343199"/>
                  <a:pt x="2528375" y="3338423"/>
                </a:cubicBezTo>
                <a:cubicBezTo>
                  <a:pt x="2520777" y="3331669"/>
                  <a:pt x="2514834" y="3323099"/>
                  <a:pt x="2506809" y="3316857"/>
                </a:cubicBezTo>
                <a:cubicBezTo>
                  <a:pt x="2443538" y="3267645"/>
                  <a:pt x="2528267" y="3342646"/>
                  <a:pt x="2476617" y="3299604"/>
                </a:cubicBezTo>
                <a:cubicBezTo>
                  <a:pt x="2446805" y="3274760"/>
                  <a:pt x="2481857" y="3300107"/>
                  <a:pt x="2450737" y="3265098"/>
                </a:cubicBezTo>
                <a:cubicBezTo>
                  <a:pt x="2444621" y="3258217"/>
                  <a:pt x="2435118" y="3254873"/>
                  <a:pt x="2429171" y="3247845"/>
                </a:cubicBezTo>
                <a:cubicBezTo>
                  <a:pt x="2419126" y="3235973"/>
                  <a:pt x="2412331" y="3221681"/>
                  <a:pt x="2403292" y="3209027"/>
                </a:cubicBezTo>
                <a:cubicBezTo>
                  <a:pt x="2397941" y="3201536"/>
                  <a:pt x="2390885" y="3195289"/>
                  <a:pt x="2386039" y="3187461"/>
                </a:cubicBezTo>
                <a:cubicBezTo>
                  <a:pt x="2372147" y="3165019"/>
                  <a:pt x="2361860" y="3140410"/>
                  <a:pt x="2347220" y="3118449"/>
                </a:cubicBezTo>
                <a:cubicBezTo>
                  <a:pt x="2341469" y="3109823"/>
                  <a:pt x="2334352" y="3101965"/>
                  <a:pt x="2329968" y="3092570"/>
                </a:cubicBezTo>
                <a:cubicBezTo>
                  <a:pt x="2324200" y="3080210"/>
                  <a:pt x="2321817" y="3066522"/>
                  <a:pt x="2317028" y="3053751"/>
                </a:cubicBezTo>
                <a:cubicBezTo>
                  <a:pt x="2298323" y="3003874"/>
                  <a:pt x="2302351" y="3034936"/>
                  <a:pt x="2286835" y="2963174"/>
                </a:cubicBezTo>
                <a:cubicBezTo>
                  <a:pt x="2270707" y="2888580"/>
                  <a:pt x="2268957" y="2858335"/>
                  <a:pt x="2260956" y="2786332"/>
                </a:cubicBezTo>
                <a:cubicBezTo>
                  <a:pt x="2259518" y="2573547"/>
                  <a:pt x="2255441" y="2360764"/>
                  <a:pt x="2256643" y="2147978"/>
                </a:cubicBezTo>
                <a:cubicBezTo>
                  <a:pt x="2256976" y="2089102"/>
                  <a:pt x="2264842" y="2018555"/>
                  <a:pt x="2273896" y="1958196"/>
                </a:cubicBezTo>
                <a:cubicBezTo>
                  <a:pt x="2279296" y="1922198"/>
                  <a:pt x="2284011" y="1886060"/>
                  <a:pt x="2291149" y="1850366"/>
                </a:cubicBezTo>
                <a:cubicBezTo>
                  <a:pt x="2295462" y="1828800"/>
                  <a:pt x="2300693" y="1807397"/>
                  <a:pt x="2304088" y="1785668"/>
                </a:cubicBezTo>
                <a:cubicBezTo>
                  <a:pt x="2307887" y="1761353"/>
                  <a:pt x="2309235" y="1736707"/>
                  <a:pt x="2312715" y="1712344"/>
                </a:cubicBezTo>
                <a:cubicBezTo>
                  <a:pt x="2316425" y="1686371"/>
                  <a:pt x="2321341" y="1660585"/>
                  <a:pt x="2325654" y="1634706"/>
                </a:cubicBezTo>
                <a:cubicBezTo>
                  <a:pt x="2343623" y="1311317"/>
                  <a:pt x="2343484" y="1347224"/>
                  <a:pt x="2317028" y="750498"/>
                </a:cubicBezTo>
                <a:cubicBezTo>
                  <a:pt x="2315940" y="725954"/>
                  <a:pt x="2302417" y="703319"/>
                  <a:pt x="2291149" y="681487"/>
                </a:cubicBezTo>
                <a:cubicBezTo>
                  <a:pt x="2279261" y="658455"/>
                  <a:pt x="2265085" y="636295"/>
                  <a:pt x="2248017" y="616789"/>
                </a:cubicBezTo>
                <a:cubicBezTo>
                  <a:pt x="2219119" y="583762"/>
                  <a:pt x="2154542" y="549207"/>
                  <a:pt x="2118620" y="534838"/>
                </a:cubicBezTo>
                <a:cubicBezTo>
                  <a:pt x="2053606" y="508832"/>
                  <a:pt x="1987827" y="484031"/>
                  <a:pt x="1920213" y="465827"/>
                </a:cubicBezTo>
                <a:cubicBezTo>
                  <a:pt x="1767593" y="424737"/>
                  <a:pt x="1846576" y="439617"/>
                  <a:pt x="1682986" y="422695"/>
                </a:cubicBezTo>
                <a:cubicBezTo>
                  <a:pt x="1540650" y="429884"/>
                  <a:pt x="1398004" y="432426"/>
                  <a:pt x="1255979" y="444261"/>
                </a:cubicBezTo>
                <a:cubicBezTo>
                  <a:pt x="1241868" y="445437"/>
                  <a:pt x="1229191" y="454046"/>
                  <a:pt x="1217160" y="461513"/>
                </a:cubicBezTo>
                <a:cubicBezTo>
                  <a:pt x="1146300" y="505495"/>
                  <a:pt x="1123707" y="525492"/>
                  <a:pt x="1100703" y="543464"/>
                </a:cubicBezTo>
                <a:close/>
              </a:path>
            </a:pathLst>
          </a:custGeom>
          <a:solidFill>
            <a:srgbClr val="FF33CC">
              <a:alpha val="32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03610464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IC_Stuff" id="{7EB4A1A4-DE80-4AED-B90B-0D4C97F0BFAA}" vid="{AB3974AC-2916-4F91-8C8E-185544D72609}"/>
    </a:ext>
  </a:extLst>
</a:theme>
</file>

<file path=docProps/app.xml><?xml version="1.0" encoding="utf-8"?>
<Properties xmlns="http://schemas.openxmlformats.org/officeDocument/2006/extended-properties" xmlns:vt="http://schemas.openxmlformats.org/officeDocument/2006/docPropsVTypes">
  <TotalTime>0</TotalTime>
  <Words>1415</Words>
  <Application>Microsoft Office PowerPoint</Application>
  <PresentationFormat>Widescreen</PresentationFormat>
  <Paragraphs>271</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Consolas</vt:lpstr>
      <vt:lpstr>1_Office Theme</vt:lpstr>
      <vt:lpstr>Agenda – Let’s try to cover…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multiplicity problem</vt:lpstr>
      <vt:lpstr>II are unique identifiers.</vt:lpstr>
      <vt:lpstr>II represent groups of features</vt:lpstr>
      <vt:lpstr>When interoperabilityIdentifier is an actual identifier then you just list in the S-124 which features you want to join it to. If S-124 has multiplicity &gt; 1, then you can join multiple features in pick report.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pritchard</dc:creator>
  <cp:lastModifiedBy>jonathan pritchard</cp:lastModifiedBy>
  <cp:revision>16</cp:revision>
  <dcterms:created xsi:type="dcterms:W3CDTF">2025-11-05T12:13:27Z</dcterms:created>
  <dcterms:modified xsi:type="dcterms:W3CDTF">2025-11-24T20:55:18Z</dcterms:modified>
</cp:coreProperties>
</file>